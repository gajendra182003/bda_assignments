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467" r:id="rId2"/>
    <p:sldId id="258" r:id="rId3"/>
    <p:sldId id="281" r:id="rId4"/>
    <p:sldId id="466" r:id="rId5"/>
    <p:sldId id="468" r:id="rId6"/>
    <p:sldId id="260" r:id="rId7"/>
    <p:sldId id="469" r:id="rId8"/>
    <p:sldId id="315" r:id="rId9"/>
    <p:sldId id="470" r:id="rId10"/>
    <p:sldId id="471" r:id="rId11"/>
    <p:sldId id="472" r:id="rId12"/>
    <p:sldId id="473" r:id="rId13"/>
    <p:sldId id="259" r:id="rId14"/>
    <p:sldId id="474" r:id="rId15"/>
    <p:sldId id="475" r:id="rId16"/>
    <p:sldId id="476" r:id="rId17"/>
    <p:sldId id="349" r:id="rId18"/>
    <p:sldId id="500" r:id="rId19"/>
    <p:sldId id="465" r:id="rId20"/>
    <p:sldId id="526" r:id="rId21"/>
    <p:sldId id="527" r:id="rId22"/>
    <p:sldId id="481" r:id="rId23"/>
    <p:sldId id="280" r:id="rId24"/>
    <p:sldId id="477" r:id="rId25"/>
    <p:sldId id="261" r:id="rId26"/>
    <p:sldId id="478" r:id="rId27"/>
    <p:sldId id="262" r:id="rId28"/>
    <p:sldId id="501" r:id="rId29"/>
    <p:sldId id="502" r:id="rId30"/>
    <p:sldId id="479" r:id="rId31"/>
    <p:sldId id="263" r:id="rId32"/>
    <p:sldId id="480" r:id="rId33"/>
    <p:sldId id="503" r:id="rId34"/>
    <p:sldId id="504" r:id="rId35"/>
    <p:sldId id="505" r:id="rId36"/>
    <p:sldId id="506" r:id="rId37"/>
    <p:sldId id="507" r:id="rId38"/>
    <p:sldId id="482" r:id="rId39"/>
    <p:sldId id="508" r:id="rId40"/>
    <p:sldId id="494" r:id="rId41"/>
    <p:sldId id="495" r:id="rId42"/>
    <p:sldId id="496" r:id="rId43"/>
    <p:sldId id="497" r:id="rId44"/>
    <p:sldId id="498" r:id="rId45"/>
    <p:sldId id="282" r:id="rId46"/>
    <p:sldId id="348" r:id="rId47"/>
    <p:sldId id="264" r:id="rId48"/>
    <p:sldId id="265"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88308" autoAdjust="0"/>
  </p:normalViewPr>
  <p:slideViewPr>
    <p:cSldViewPr snapToGrid="0">
      <p:cViewPr>
        <p:scale>
          <a:sx n="75" d="100"/>
          <a:sy n="75" d="100"/>
        </p:scale>
        <p:origin x="112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9E3D1C-9682-4DAA-B65D-E7D272A41408}" type="datetimeFigureOut">
              <a:rPr lang="en-IN" smtClean="0"/>
              <a:t>26-06-2026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94866B-57BE-4AF8-A1EE-6D3CFB22D8E1}" type="slidenum">
              <a:rPr lang="en-IN" smtClean="0"/>
              <a:t>‹#›</a:t>
            </a:fld>
            <a:endParaRPr lang="en-IN"/>
          </a:p>
        </p:txBody>
      </p:sp>
    </p:spTree>
    <p:extLst>
      <p:ext uri="{BB962C8B-B14F-4D97-AF65-F5344CB8AC3E}">
        <p14:creationId xmlns:p14="http://schemas.microsoft.com/office/powerpoint/2010/main" val="3746824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94866B-57BE-4AF8-A1EE-6D3CFB22D8E1}" type="slidenum">
              <a:rPr lang="en-IN" smtClean="0"/>
              <a:t>4</a:t>
            </a:fld>
            <a:endParaRPr lang="en-IN"/>
          </a:p>
        </p:txBody>
      </p:sp>
    </p:spTree>
    <p:extLst>
      <p:ext uri="{BB962C8B-B14F-4D97-AF65-F5344CB8AC3E}">
        <p14:creationId xmlns:p14="http://schemas.microsoft.com/office/powerpoint/2010/main" val="25370644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94866B-57BE-4AF8-A1EE-6D3CFB22D8E1}" type="slidenum">
              <a:rPr lang="en-IN" smtClean="0"/>
              <a:t>5</a:t>
            </a:fld>
            <a:endParaRPr lang="en-IN"/>
          </a:p>
        </p:txBody>
      </p:sp>
    </p:spTree>
    <p:extLst>
      <p:ext uri="{BB962C8B-B14F-4D97-AF65-F5344CB8AC3E}">
        <p14:creationId xmlns:p14="http://schemas.microsoft.com/office/powerpoint/2010/main" val="1002224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To tell the difference between a single sentence and a pair of sentences, a special [SEP] token is added to differentiate them.</a:t>
            </a:r>
          </a:p>
          <a:p>
            <a:r>
              <a:rPr lang="en-IN" sz="1200" b="0" i="0" kern="1200" dirty="0">
                <a:solidFill>
                  <a:schemeClr val="tx1"/>
                </a:solidFill>
                <a:effectLst/>
                <a:latin typeface="+mn-lt"/>
                <a:ea typeface="+mn-ea"/>
                <a:cs typeface="+mn-cs"/>
              </a:rPr>
              <a:t> A special [CLS] token is added to the beginning of every sequence of text. </a:t>
            </a:r>
          </a:p>
          <a:p>
            <a:r>
              <a:rPr lang="en-IN" sz="1200" b="0" i="0" kern="1200" dirty="0">
                <a:solidFill>
                  <a:schemeClr val="tx1"/>
                </a:solidFill>
                <a:effectLst/>
                <a:latin typeface="+mn-lt"/>
                <a:ea typeface="+mn-ea"/>
                <a:cs typeface="+mn-cs"/>
              </a:rPr>
              <a:t>The final output with the [CLS] token is used as the input to the classification head for classification tasks. </a:t>
            </a:r>
          </a:p>
          <a:p>
            <a:r>
              <a:rPr lang="en-IN" sz="1200" b="0" i="0" kern="1200" dirty="0">
                <a:solidFill>
                  <a:schemeClr val="tx1"/>
                </a:solidFill>
                <a:effectLst/>
                <a:latin typeface="+mn-lt"/>
                <a:ea typeface="+mn-ea"/>
                <a:cs typeface="+mn-cs"/>
              </a:rPr>
              <a:t>BERT also adds a segment embedding to denote whether a token belongs to the first or second sentence in a pair of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14457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94866B-57BE-4AF8-A1EE-6D3CFB22D8E1}" type="slidenum">
              <a:rPr lang="en-IN" smtClean="0"/>
              <a:t>16</a:t>
            </a:fld>
            <a:endParaRPr lang="en-IN"/>
          </a:p>
        </p:txBody>
      </p:sp>
    </p:spTree>
    <p:extLst>
      <p:ext uri="{BB962C8B-B14F-4D97-AF65-F5344CB8AC3E}">
        <p14:creationId xmlns:p14="http://schemas.microsoft.com/office/powerpoint/2010/main" val="2980923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Why </a:t>
            </a:r>
            <a:r>
              <a:rPr lang="en-IN" dirty="0" err="1"/>
              <a:t>bERT</a:t>
            </a:r>
            <a:r>
              <a:rPr lang="en-IN" dirty="0"/>
              <a:t> needs pre-training?</a:t>
            </a:r>
          </a:p>
          <a:p>
            <a:r>
              <a:rPr lang="en-IN" dirty="0"/>
              <a:t>Imagine you have a student who has never learned English.</a:t>
            </a:r>
          </a:p>
          <a:p>
            <a:r>
              <a:rPr lang="en-IN" dirty="0"/>
              <a:t>You don't directly ask the student to answer questions or classify reviews.</a:t>
            </a:r>
          </a:p>
          <a:p>
            <a:r>
              <a:rPr lang="en-IN" dirty="0"/>
              <a:t>Instead, you first make the student read millions of books.</a:t>
            </a:r>
          </a:p>
          <a:p>
            <a:r>
              <a:rPr lang="en-IN" dirty="0"/>
              <a:t>During reading, you give exercises like</a:t>
            </a:r>
          </a:p>
          <a:p>
            <a:r>
              <a:rPr lang="en-IN" dirty="0"/>
              <a:t>Fill in the missing word. </a:t>
            </a:r>
          </a:p>
          <a:p>
            <a:r>
              <a:rPr lang="en-IN" dirty="0"/>
              <a:t>Tell whether one sentence logically follows another. </a:t>
            </a:r>
          </a:p>
          <a:p>
            <a:r>
              <a:rPr lang="en-IN" dirty="0"/>
              <a:t>After years of practice, the student understands English.</a:t>
            </a:r>
          </a:p>
          <a:p>
            <a:r>
              <a:rPr lang="en-IN" dirty="0"/>
              <a:t>Only then do you ask him to solve real tasks.</a:t>
            </a:r>
          </a:p>
          <a:p>
            <a:r>
              <a:rPr lang="en-IN" dirty="0"/>
              <a:t>BERT does exactly this.</a:t>
            </a:r>
          </a:p>
          <a:p>
            <a:endParaRPr lang="en-IN" dirty="0"/>
          </a:p>
          <a:p>
            <a:r>
              <a:rPr lang="en-IN" dirty="0"/>
              <a:t>It first </a:t>
            </a:r>
            <a:r>
              <a:rPr lang="en-IN" b="1" dirty="0"/>
              <a:t>pre-trains</a:t>
            </a:r>
            <a:r>
              <a:rPr lang="en-IN" dirty="0"/>
              <a:t> itself using two self-supervised tasks:</a:t>
            </a:r>
          </a:p>
          <a:p>
            <a:r>
              <a:rPr lang="en-IN" dirty="0"/>
              <a:t>Masked Language </a:t>
            </a:r>
            <a:r>
              <a:rPr lang="en-IN" dirty="0" err="1"/>
              <a:t>Modeling</a:t>
            </a:r>
            <a:r>
              <a:rPr lang="en-IN" dirty="0"/>
              <a:t> (MLM) </a:t>
            </a:r>
          </a:p>
          <a:p>
            <a:r>
              <a:rPr lang="en-IN" dirty="0"/>
              <a:t>Next Sentence Prediction (NSP) </a:t>
            </a:r>
          </a:p>
          <a:p>
            <a:r>
              <a:rPr lang="en-IN" dirty="0"/>
              <a:t>These tasks teach BERT language before fine-tuning it for specific NLP applications.</a:t>
            </a:r>
          </a:p>
          <a:p>
            <a:endParaRPr lang="en-IN" dirty="0"/>
          </a:p>
        </p:txBody>
      </p:sp>
      <p:sp>
        <p:nvSpPr>
          <p:cNvPr id="4" name="Slide Number Placeholder 3"/>
          <p:cNvSpPr>
            <a:spLocks noGrp="1"/>
          </p:cNvSpPr>
          <p:nvPr>
            <p:ph type="sldNum" sz="quarter" idx="5"/>
          </p:nvPr>
        </p:nvSpPr>
        <p:spPr/>
        <p:txBody>
          <a:bodyPr/>
          <a:lstStyle/>
          <a:p>
            <a:fld id="{A194866B-57BE-4AF8-A1EE-6D3CFB22D8E1}" type="slidenum">
              <a:rPr lang="en-IN" smtClean="0"/>
              <a:t>18</a:t>
            </a:fld>
            <a:endParaRPr lang="en-IN"/>
          </a:p>
        </p:txBody>
      </p:sp>
    </p:spTree>
    <p:extLst>
      <p:ext uri="{BB962C8B-B14F-4D97-AF65-F5344CB8AC3E}">
        <p14:creationId xmlns:p14="http://schemas.microsoft.com/office/powerpoint/2010/main" val="1510624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94866B-57BE-4AF8-A1EE-6D3CFB22D8E1}" type="slidenum">
              <a:rPr lang="en-IN" smtClean="0"/>
              <a:t>22</a:t>
            </a:fld>
            <a:endParaRPr lang="en-IN"/>
          </a:p>
        </p:txBody>
      </p:sp>
    </p:spTree>
    <p:extLst>
      <p:ext uri="{BB962C8B-B14F-4D97-AF65-F5344CB8AC3E}">
        <p14:creationId xmlns:p14="http://schemas.microsoft.com/office/powerpoint/2010/main" val="3318942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What does MLM teaches BERT</a:t>
            </a:r>
          </a:p>
          <a:p>
            <a:r>
              <a:rPr lang="en-IN" dirty="0"/>
              <a:t>It teaches</a:t>
            </a:r>
          </a:p>
          <a:p>
            <a:r>
              <a:rPr lang="en-IN" dirty="0"/>
              <a:t>grammar </a:t>
            </a:r>
          </a:p>
          <a:p>
            <a:r>
              <a:rPr lang="en-IN" dirty="0"/>
              <a:t>syntax </a:t>
            </a:r>
          </a:p>
          <a:p>
            <a:r>
              <a:rPr lang="en-IN" dirty="0"/>
              <a:t>semantics </a:t>
            </a:r>
          </a:p>
          <a:p>
            <a:r>
              <a:rPr lang="en-IN" dirty="0"/>
              <a:t>context </a:t>
            </a:r>
          </a:p>
          <a:p>
            <a:r>
              <a:rPr lang="en-IN" dirty="0"/>
              <a:t>word relationships </a:t>
            </a:r>
          </a:p>
          <a:p>
            <a:r>
              <a:rPr lang="en-IN" dirty="0"/>
              <a:t>polysemy (multiple meanings)</a:t>
            </a:r>
          </a:p>
          <a:p>
            <a:endParaRPr lang="en-IN" dirty="0"/>
          </a:p>
        </p:txBody>
      </p:sp>
      <p:sp>
        <p:nvSpPr>
          <p:cNvPr id="4" name="Slide Number Placeholder 3"/>
          <p:cNvSpPr>
            <a:spLocks noGrp="1"/>
          </p:cNvSpPr>
          <p:nvPr>
            <p:ph type="sldNum" sz="quarter" idx="5"/>
          </p:nvPr>
        </p:nvSpPr>
        <p:spPr/>
        <p:txBody>
          <a:bodyPr/>
          <a:lstStyle/>
          <a:p>
            <a:fld id="{A194866B-57BE-4AF8-A1EE-6D3CFB22D8E1}" type="slidenum">
              <a:rPr lang="en-IN" smtClean="0"/>
              <a:t>24</a:t>
            </a:fld>
            <a:endParaRPr lang="en-IN"/>
          </a:p>
        </p:txBody>
      </p:sp>
    </p:spTree>
    <p:extLst>
      <p:ext uri="{BB962C8B-B14F-4D97-AF65-F5344CB8AC3E}">
        <p14:creationId xmlns:p14="http://schemas.microsoft.com/office/powerpoint/2010/main" val="1726554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Many NLP tasks require understanding relationships between sentences.</a:t>
            </a:r>
          </a:p>
          <a:p>
            <a:r>
              <a:rPr lang="en-IN" dirty="0"/>
              <a:t>Examples:</a:t>
            </a:r>
          </a:p>
          <a:p>
            <a:r>
              <a:rPr lang="en-IN" dirty="0"/>
              <a:t>Question answering </a:t>
            </a:r>
          </a:p>
          <a:p>
            <a:r>
              <a:rPr lang="en-IN" dirty="0"/>
              <a:t>Natural language inference </a:t>
            </a:r>
          </a:p>
          <a:p>
            <a:r>
              <a:rPr lang="en-IN" dirty="0"/>
              <a:t>Dialogue systems </a:t>
            </a:r>
          </a:p>
          <a:p>
            <a:r>
              <a:rPr lang="en-IN" dirty="0"/>
              <a:t>Paragraph understanding </a:t>
            </a:r>
          </a:p>
          <a:p>
            <a:r>
              <a:rPr lang="en-IN"/>
              <a:t>MLM alone cannot explicitly teach sentence-level coherence.</a:t>
            </a:r>
          </a:p>
          <a:p>
            <a:endParaRPr lang="en-IN" dirty="0"/>
          </a:p>
        </p:txBody>
      </p:sp>
      <p:sp>
        <p:nvSpPr>
          <p:cNvPr id="4" name="Slide Number Placeholder 3"/>
          <p:cNvSpPr>
            <a:spLocks noGrp="1"/>
          </p:cNvSpPr>
          <p:nvPr>
            <p:ph type="sldNum" sz="quarter" idx="5"/>
          </p:nvPr>
        </p:nvSpPr>
        <p:spPr/>
        <p:txBody>
          <a:bodyPr/>
          <a:lstStyle/>
          <a:p>
            <a:fld id="{A194866B-57BE-4AF8-A1EE-6D3CFB22D8E1}" type="slidenum">
              <a:rPr lang="en-IN" smtClean="0"/>
              <a:t>26</a:t>
            </a:fld>
            <a:endParaRPr lang="en-IN"/>
          </a:p>
        </p:txBody>
      </p:sp>
    </p:spTree>
    <p:extLst>
      <p:ext uri="{BB962C8B-B14F-4D97-AF65-F5344CB8AC3E}">
        <p14:creationId xmlns:p14="http://schemas.microsoft.com/office/powerpoint/2010/main" val="3034025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94866B-57BE-4AF8-A1EE-6D3CFB22D8E1}" type="slidenum">
              <a:rPr lang="en-IN" smtClean="0"/>
              <a:t>30</a:t>
            </a:fld>
            <a:endParaRPr lang="en-IN"/>
          </a:p>
        </p:txBody>
      </p:sp>
    </p:spTree>
    <p:extLst>
      <p:ext uri="{BB962C8B-B14F-4D97-AF65-F5344CB8AC3E}">
        <p14:creationId xmlns:p14="http://schemas.microsoft.com/office/powerpoint/2010/main" val="25777982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CB1CA-3F62-6E1B-E28E-AD5DE3FCFA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469C80-4EC6-4EDF-FE27-D11F9E15C0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05EFA74-EB18-6C7B-CD1C-0F3C0DDC9C0B}"/>
              </a:ext>
            </a:extLst>
          </p:cNvPr>
          <p:cNvSpPr>
            <a:spLocks noGrp="1"/>
          </p:cNvSpPr>
          <p:nvPr>
            <p:ph type="dt" sz="half" idx="10"/>
          </p:nvPr>
        </p:nvSpPr>
        <p:spPr/>
        <p:txBody>
          <a:bodyPr/>
          <a:lstStyle/>
          <a:p>
            <a:fld id="{7DDAA637-A403-49A5-BA15-14988F2B191B}" type="datetimeFigureOut">
              <a:rPr lang="en-IN" smtClean="0"/>
              <a:t>26-06-2026</a:t>
            </a:fld>
            <a:endParaRPr lang="en-IN"/>
          </a:p>
        </p:txBody>
      </p:sp>
      <p:sp>
        <p:nvSpPr>
          <p:cNvPr id="5" name="Footer Placeholder 4">
            <a:extLst>
              <a:ext uri="{FF2B5EF4-FFF2-40B4-BE49-F238E27FC236}">
                <a16:creationId xmlns:a16="http://schemas.microsoft.com/office/drawing/2014/main" id="{DD8C258C-DAF6-11E1-82FE-BEC0403FA2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D3551A-26F0-2DDA-9291-DF702450A60B}"/>
              </a:ext>
            </a:extLst>
          </p:cNvPr>
          <p:cNvSpPr>
            <a:spLocks noGrp="1"/>
          </p:cNvSpPr>
          <p:nvPr>
            <p:ph type="sldNum" sz="quarter" idx="12"/>
          </p:nvPr>
        </p:nvSpPr>
        <p:spPr/>
        <p:txBody>
          <a:bodyPr/>
          <a:lstStyle/>
          <a:p>
            <a:fld id="{2DF61E86-B677-424B-8B6E-75423D623E55}" type="slidenum">
              <a:rPr lang="en-IN" smtClean="0"/>
              <a:t>‹#›</a:t>
            </a:fld>
            <a:endParaRPr lang="en-IN"/>
          </a:p>
        </p:txBody>
      </p:sp>
    </p:spTree>
    <p:extLst>
      <p:ext uri="{BB962C8B-B14F-4D97-AF65-F5344CB8AC3E}">
        <p14:creationId xmlns:p14="http://schemas.microsoft.com/office/powerpoint/2010/main" val="2007185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763E0-EC47-E1D7-C607-C77FBF84B3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57B965-DB6E-2013-D488-28628DB9FB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6C4C28-2B03-F4CC-1F6B-D6BB7B49EA90}"/>
              </a:ext>
            </a:extLst>
          </p:cNvPr>
          <p:cNvSpPr>
            <a:spLocks noGrp="1"/>
          </p:cNvSpPr>
          <p:nvPr>
            <p:ph type="dt" sz="half" idx="10"/>
          </p:nvPr>
        </p:nvSpPr>
        <p:spPr/>
        <p:txBody>
          <a:bodyPr/>
          <a:lstStyle/>
          <a:p>
            <a:fld id="{7DDAA637-A403-49A5-BA15-14988F2B191B}" type="datetimeFigureOut">
              <a:rPr lang="en-IN" smtClean="0"/>
              <a:t>26-06-2026</a:t>
            </a:fld>
            <a:endParaRPr lang="en-IN"/>
          </a:p>
        </p:txBody>
      </p:sp>
      <p:sp>
        <p:nvSpPr>
          <p:cNvPr id="5" name="Footer Placeholder 4">
            <a:extLst>
              <a:ext uri="{FF2B5EF4-FFF2-40B4-BE49-F238E27FC236}">
                <a16:creationId xmlns:a16="http://schemas.microsoft.com/office/drawing/2014/main" id="{3BF451EE-2EC7-A99A-BA25-702C7A98E0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889CD9-5CA0-3387-CCCE-50FE2E6EC99D}"/>
              </a:ext>
            </a:extLst>
          </p:cNvPr>
          <p:cNvSpPr>
            <a:spLocks noGrp="1"/>
          </p:cNvSpPr>
          <p:nvPr>
            <p:ph type="sldNum" sz="quarter" idx="12"/>
          </p:nvPr>
        </p:nvSpPr>
        <p:spPr/>
        <p:txBody>
          <a:bodyPr/>
          <a:lstStyle/>
          <a:p>
            <a:fld id="{2DF61E86-B677-424B-8B6E-75423D623E55}" type="slidenum">
              <a:rPr lang="en-IN" smtClean="0"/>
              <a:t>‹#›</a:t>
            </a:fld>
            <a:endParaRPr lang="en-IN"/>
          </a:p>
        </p:txBody>
      </p:sp>
    </p:spTree>
    <p:extLst>
      <p:ext uri="{BB962C8B-B14F-4D97-AF65-F5344CB8AC3E}">
        <p14:creationId xmlns:p14="http://schemas.microsoft.com/office/powerpoint/2010/main" val="1822433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8C54D-3B65-99EE-DBFC-E1992D55E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71202C-FDED-074E-FCD8-67932B5944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B3DBE8-4545-D67D-7A16-80ABE6426AD4}"/>
              </a:ext>
            </a:extLst>
          </p:cNvPr>
          <p:cNvSpPr>
            <a:spLocks noGrp="1"/>
          </p:cNvSpPr>
          <p:nvPr>
            <p:ph type="dt" sz="half" idx="10"/>
          </p:nvPr>
        </p:nvSpPr>
        <p:spPr/>
        <p:txBody>
          <a:bodyPr/>
          <a:lstStyle/>
          <a:p>
            <a:fld id="{7DDAA637-A403-49A5-BA15-14988F2B191B}" type="datetimeFigureOut">
              <a:rPr lang="en-IN" smtClean="0"/>
              <a:t>26-06-2026</a:t>
            </a:fld>
            <a:endParaRPr lang="en-IN"/>
          </a:p>
        </p:txBody>
      </p:sp>
      <p:sp>
        <p:nvSpPr>
          <p:cNvPr id="5" name="Footer Placeholder 4">
            <a:extLst>
              <a:ext uri="{FF2B5EF4-FFF2-40B4-BE49-F238E27FC236}">
                <a16:creationId xmlns:a16="http://schemas.microsoft.com/office/drawing/2014/main" id="{CA1DCB8A-723F-BA6A-7792-7D02A55DFE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7BF955-511D-0D1C-780A-43073B09CD65}"/>
              </a:ext>
            </a:extLst>
          </p:cNvPr>
          <p:cNvSpPr>
            <a:spLocks noGrp="1"/>
          </p:cNvSpPr>
          <p:nvPr>
            <p:ph type="sldNum" sz="quarter" idx="12"/>
          </p:nvPr>
        </p:nvSpPr>
        <p:spPr/>
        <p:txBody>
          <a:bodyPr/>
          <a:lstStyle/>
          <a:p>
            <a:fld id="{2DF61E86-B677-424B-8B6E-75423D623E55}" type="slidenum">
              <a:rPr lang="en-IN" smtClean="0"/>
              <a:t>‹#›</a:t>
            </a:fld>
            <a:endParaRPr lang="en-IN"/>
          </a:p>
        </p:txBody>
      </p:sp>
    </p:spTree>
    <p:extLst>
      <p:ext uri="{BB962C8B-B14F-4D97-AF65-F5344CB8AC3E}">
        <p14:creationId xmlns:p14="http://schemas.microsoft.com/office/powerpoint/2010/main" val="3502477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0CFFE-8C14-3862-97F7-558758D82F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A202F9-9FB6-911A-F0A6-7395CA1FD4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CA029F-E53A-12AD-4985-0A43C1CA5B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908040-8E0C-24E3-CCB6-F97F618738AA}"/>
              </a:ext>
            </a:extLst>
          </p:cNvPr>
          <p:cNvSpPr>
            <a:spLocks noGrp="1"/>
          </p:cNvSpPr>
          <p:nvPr>
            <p:ph type="dt" sz="half" idx="10"/>
          </p:nvPr>
        </p:nvSpPr>
        <p:spPr/>
        <p:txBody>
          <a:bodyPr/>
          <a:lstStyle/>
          <a:p>
            <a:fld id="{7DDAA637-A403-49A5-BA15-14988F2B191B}" type="datetimeFigureOut">
              <a:rPr lang="en-IN" smtClean="0"/>
              <a:t>26-06-2026</a:t>
            </a:fld>
            <a:endParaRPr lang="en-IN"/>
          </a:p>
        </p:txBody>
      </p:sp>
      <p:sp>
        <p:nvSpPr>
          <p:cNvPr id="6" name="Footer Placeholder 5">
            <a:extLst>
              <a:ext uri="{FF2B5EF4-FFF2-40B4-BE49-F238E27FC236}">
                <a16:creationId xmlns:a16="http://schemas.microsoft.com/office/drawing/2014/main" id="{8404A471-E48C-4CAE-F5B2-DDA524B159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A226D8-2434-3B5E-508F-5E20D175CD83}"/>
              </a:ext>
            </a:extLst>
          </p:cNvPr>
          <p:cNvSpPr>
            <a:spLocks noGrp="1"/>
          </p:cNvSpPr>
          <p:nvPr>
            <p:ph type="sldNum" sz="quarter" idx="12"/>
          </p:nvPr>
        </p:nvSpPr>
        <p:spPr/>
        <p:txBody>
          <a:bodyPr/>
          <a:lstStyle/>
          <a:p>
            <a:fld id="{2DF61E86-B677-424B-8B6E-75423D623E55}" type="slidenum">
              <a:rPr lang="en-IN" smtClean="0"/>
              <a:t>‹#›</a:t>
            </a:fld>
            <a:endParaRPr lang="en-IN"/>
          </a:p>
        </p:txBody>
      </p:sp>
    </p:spTree>
    <p:extLst>
      <p:ext uri="{BB962C8B-B14F-4D97-AF65-F5344CB8AC3E}">
        <p14:creationId xmlns:p14="http://schemas.microsoft.com/office/powerpoint/2010/main" val="2443872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3518A-C394-A2E9-142A-8A85B77CBC9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8ED672-7B01-46E5-F2FE-256DC1F9D6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9499EE-EADE-EBF6-8532-E23593E71D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54F8DB-494A-FB45-9726-749D001DB3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F2A434-9587-E923-3872-FAC46449F1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58554B1-349D-4E05-610F-29253C0CF8D1}"/>
              </a:ext>
            </a:extLst>
          </p:cNvPr>
          <p:cNvSpPr>
            <a:spLocks noGrp="1"/>
          </p:cNvSpPr>
          <p:nvPr>
            <p:ph type="dt" sz="half" idx="10"/>
          </p:nvPr>
        </p:nvSpPr>
        <p:spPr/>
        <p:txBody>
          <a:bodyPr/>
          <a:lstStyle/>
          <a:p>
            <a:fld id="{7DDAA637-A403-49A5-BA15-14988F2B191B}" type="datetimeFigureOut">
              <a:rPr lang="en-IN" smtClean="0"/>
              <a:t>26-06-2026</a:t>
            </a:fld>
            <a:endParaRPr lang="en-IN"/>
          </a:p>
        </p:txBody>
      </p:sp>
      <p:sp>
        <p:nvSpPr>
          <p:cNvPr id="8" name="Footer Placeholder 7">
            <a:extLst>
              <a:ext uri="{FF2B5EF4-FFF2-40B4-BE49-F238E27FC236}">
                <a16:creationId xmlns:a16="http://schemas.microsoft.com/office/drawing/2014/main" id="{5C395259-1C8B-20EB-1A2D-28BEE845322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45955C-E1CE-A7B7-FE38-1A62CB539771}"/>
              </a:ext>
            </a:extLst>
          </p:cNvPr>
          <p:cNvSpPr>
            <a:spLocks noGrp="1"/>
          </p:cNvSpPr>
          <p:nvPr>
            <p:ph type="sldNum" sz="quarter" idx="12"/>
          </p:nvPr>
        </p:nvSpPr>
        <p:spPr/>
        <p:txBody>
          <a:bodyPr/>
          <a:lstStyle/>
          <a:p>
            <a:fld id="{2DF61E86-B677-424B-8B6E-75423D623E55}" type="slidenum">
              <a:rPr lang="en-IN" smtClean="0"/>
              <a:t>‹#›</a:t>
            </a:fld>
            <a:endParaRPr lang="en-IN"/>
          </a:p>
        </p:txBody>
      </p:sp>
    </p:spTree>
    <p:extLst>
      <p:ext uri="{BB962C8B-B14F-4D97-AF65-F5344CB8AC3E}">
        <p14:creationId xmlns:p14="http://schemas.microsoft.com/office/powerpoint/2010/main" val="1335971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8A254-33E9-9614-2490-7EB464C744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941E503-B2A7-D5B2-7428-D51C85A1B164}"/>
              </a:ext>
            </a:extLst>
          </p:cNvPr>
          <p:cNvSpPr>
            <a:spLocks noGrp="1"/>
          </p:cNvSpPr>
          <p:nvPr>
            <p:ph type="dt" sz="half" idx="10"/>
          </p:nvPr>
        </p:nvSpPr>
        <p:spPr/>
        <p:txBody>
          <a:bodyPr/>
          <a:lstStyle/>
          <a:p>
            <a:fld id="{7DDAA637-A403-49A5-BA15-14988F2B191B}" type="datetimeFigureOut">
              <a:rPr lang="en-IN" smtClean="0"/>
              <a:t>26-06-2026</a:t>
            </a:fld>
            <a:endParaRPr lang="en-IN"/>
          </a:p>
        </p:txBody>
      </p:sp>
      <p:sp>
        <p:nvSpPr>
          <p:cNvPr id="4" name="Footer Placeholder 3">
            <a:extLst>
              <a:ext uri="{FF2B5EF4-FFF2-40B4-BE49-F238E27FC236}">
                <a16:creationId xmlns:a16="http://schemas.microsoft.com/office/drawing/2014/main" id="{3B56334A-DB72-9757-49E2-C6EC981E6D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D4D11AC-CDCE-1C72-6C59-79E93433BE85}"/>
              </a:ext>
            </a:extLst>
          </p:cNvPr>
          <p:cNvSpPr>
            <a:spLocks noGrp="1"/>
          </p:cNvSpPr>
          <p:nvPr>
            <p:ph type="sldNum" sz="quarter" idx="12"/>
          </p:nvPr>
        </p:nvSpPr>
        <p:spPr/>
        <p:txBody>
          <a:bodyPr/>
          <a:lstStyle/>
          <a:p>
            <a:fld id="{2DF61E86-B677-424B-8B6E-75423D623E55}" type="slidenum">
              <a:rPr lang="en-IN" smtClean="0"/>
              <a:t>‹#›</a:t>
            </a:fld>
            <a:endParaRPr lang="en-IN"/>
          </a:p>
        </p:txBody>
      </p:sp>
    </p:spTree>
    <p:extLst>
      <p:ext uri="{BB962C8B-B14F-4D97-AF65-F5344CB8AC3E}">
        <p14:creationId xmlns:p14="http://schemas.microsoft.com/office/powerpoint/2010/main" val="3291220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0FE45A-1910-8877-147D-B8CFDB06A4B4}"/>
              </a:ext>
            </a:extLst>
          </p:cNvPr>
          <p:cNvSpPr>
            <a:spLocks noGrp="1"/>
          </p:cNvSpPr>
          <p:nvPr>
            <p:ph type="dt" sz="half" idx="10"/>
          </p:nvPr>
        </p:nvSpPr>
        <p:spPr/>
        <p:txBody>
          <a:bodyPr/>
          <a:lstStyle/>
          <a:p>
            <a:fld id="{7DDAA637-A403-49A5-BA15-14988F2B191B}" type="datetimeFigureOut">
              <a:rPr lang="en-IN" smtClean="0"/>
              <a:t>26-06-2026</a:t>
            </a:fld>
            <a:endParaRPr lang="en-IN"/>
          </a:p>
        </p:txBody>
      </p:sp>
      <p:sp>
        <p:nvSpPr>
          <p:cNvPr id="3" name="Footer Placeholder 2">
            <a:extLst>
              <a:ext uri="{FF2B5EF4-FFF2-40B4-BE49-F238E27FC236}">
                <a16:creationId xmlns:a16="http://schemas.microsoft.com/office/drawing/2014/main" id="{AAC7EF52-F0DD-4AC7-A3B2-DE8ADAF760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1C15AB8-382A-9B05-7F6C-E1EACACA77BB}"/>
              </a:ext>
            </a:extLst>
          </p:cNvPr>
          <p:cNvSpPr>
            <a:spLocks noGrp="1"/>
          </p:cNvSpPr>
          <p:nvPr>
            <p:ph type="sldNum" sz="quarter" idx="12"/>
          </p:nvPr>
        </p:nvSpPr>
        <p:spPr/>
        <p:txBody>
          <a:bodyPr/>
          <a:lstStyle/>
          <a:p>
            <a:fld id="{2DF61E86-B677-424B-8B6E-75423D623E55}" type="slidenum">
              <a:rPr lang="en-IN" smtClean="0"/>
              <a:t>‹#›</a:t>
            </a:fld>
            <a:endParaRPr lang="en-IN"/>
          </a:p>
        </p:txBody>
      </p:sp>
    </p:spTree>
    <p:extLst>
      <p:ext uri="{BB962C8B-B14F-4D97-AF65-F5344CB8AC3E}">
        <p14:creationId xmlns:p14="http://schemas.microsoft.com/office/powerpoint/2010/main" val="904571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1B2AA-38B3-BE7B-29A4-45B7A44502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4E8492-7CA7-70AA-43C1-08F5EE833C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63D988-B42B-C70A-1CE3-5DD10CEC4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803CBA-75BD-4E21-6F8B-3815F892C146}"/>
              </a:ext>
            </a:extLst>
          </p:cNvPr>
          <p:cNvSpPr>
            <a:spLocks noGrp="1"/>
          </p:cNvSpPr>
          <p:nvPr>
            <p:ph type="dt" sz="half" idx="10"/>
          </p:nvPr>
        </p:nvSpPr>
        <p:spPr/>
        <p:txBody>
          <a:bodyPr/>
          <a:lstStyle/>
          <a:p>
            <a:fld id="{7DDAA637-A403-49A5-BA15-14988F2B191B}" type="datetimeFigureOut">
              <a:rPr lang="en-IN" smtClean="0"/>
              <a:t>26-06-2026</a:t>
            </a:fld>
            <a:endParaRPr lang="en-IN"/>
          </a:p>
        </p:txBody>
      </p:sp>
      <p:sp>
        <p:nvSpPr>
          <p:cNvPr id="6" name="Footer Placeholder 5">
            <a:extLst>
              <a:ext uri="{FF2B5EF4-FFF2-40B4-BE49-F238E27FC236}">
                <a16:creationId xmlns:a16="http://schemas.microsoft.com/office/drawing/2014/main" id="{926ED616-EFF0-098C-F1A4-3BD8C1001E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30E7A2-2685-DCE4-8400-113FFF8B16A8}"/>
              </a:ext>
            </a:extLst>
          </p:cNvPr>
          <p:cNvSpPr>
            <a:spLocks noGrp="1"/>
          </p:cNvSpPr>
          <p:nvPr>
            <p:ph type="sldNum" sz="quarter" idx="12"/>
          </p:nvPr>
        </p:nvSpPr>
        <p:spPr/>
        <p:txBody>
          <a:bodyPr/>
          <a:lstStyle/>
          <a:p>
            <a:fld id="{2DF61E86-B677-424B-8B6E-75423D623E55}" type="slidenum">
              <a:rPr lang="en-IN" smtClean="0"/>
              <a:t>‹#›</a:t>
            </a:fld>
            <a:endParaRPr lang="en-IN"/>
          </a:p>
        </p:txBody>
      </p:sp>
    </p:spTree>
    <p:extLst>
      <p:ext uri="{BB962C8B-B14F-4D97-AF65-F5344CB8AC3E}">
        <p14:creationId xmlns:p14="http://schemas.microsoft.com/office/powerpoint/2010/main" val="1846196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5E2F8-A288-5469-939C-1993888471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51CA5C5-4E60-886D-EA83-C9D03A9A81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8C0059-D1EC-0E0F-6359-B155A26FF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63FD0-C0A1-3E1D-C57A-A8A992FB4EC9}"/>
              </a:ext>
            </a:extLst>
          </p:cNvPr>
          <p:cNvSpPr>
            <a:spLocks noGrp="1"/>
          </p:cNvSpPr>
          <p:nvPr>
            <p:ph type="dt" sz="half" idx="10"/>
          </p:nvPr>
        </p:nvSpPr>
        <p:spPr/>
        <p:txBody>
          <a:bodyPr/>
          <a:lstStyle/>
          <a:p>
            <a:fld id="{7DDAA637-A403-49A5-BA15-14988F2B191B}" type="datetimeFigureOut">
              <a:rPr lang="en-IN" smtClean="0"/>
              <a:t>26-06-2026</a:t>
            </a:fld>
            <a:endParaRPr lang="en-IN"/>
          </a:p>
        </p:txBody>
      </p:sp>
      <p:sp>
        <p:nvSpPr>
          <p:cNvPr id="6" name="Footer Placeholder 5">
            <a:extLst>
              <a:ext uri="{FF2B5EF4-FFF2-40B4-BE49-F238E27FC236}">
                <a16:creationId xmlns:a16="http://schemas.microsoft.com/office/drawing/2014/main" id="{0BCA3642-10CE-3E1D-299F-678A915DA5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EFDF2C-EA9E-F80B-2B9B-2483B19A55AB}"/>
              </a:ext>
            </a:extLst>
          </p:cNvPr>
          <p:cNvSpPr>
            <a:spLocks noGrp="1"/>
          </p:cNvSpPr>
          <p:nvPr>
            <p:ph type="sldNum" sz="quarter" idx="12"/>
          </p:nvPr>
        </p:nvSpPr>
        <p:spPr/>
        <p:txBody>
          <a:bodyPr/>
          <a:lstStyle/>
          <a:p>
            <a:fld id="{2DF61E86-B677-424B-8B6E-75423D623E55}" type="slidenum">
              <a:rPr lang="en-IN" smtClean="0"/>
              <a:t>‹#›</a:t>
            </a:fld>
            <a:endParaRPr lang="en-IN"/>
          </a:p>
        </p:txBody>
      </p:sp>
    </p:spTree>
    <p:extLst>
      <p:ext uri="{BB962C8B-B14F-4D97-AF65-F5344CB8AC3E}">
        <p14:creationId xmlns:p14="http://schemas.microsoft.com/office/powerpoint/2010/main" val="417269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BD6E8-C691-CA6C-A70A-3B16172E1C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23BFA4-8695-EC14-1569-40B336CB17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352A76-6C2D-1932-DC54-3320821B5AEB}"/>
              </a:ext>
            </a:extLst>
          </p:cNvPr>
          <p:cNvSpPr>
            <a:spLocks noGrp="1"/>
          </p:cNvSpPr>
          <p:nvPr>
            <p:ph type="dt" sz="half" idx="10"/>
          </p:nvPr>
        </p:nvSpPr>
        <p:spPr/>
        <p:txBody>
          <a:bodyPr/>
          <a:lstStyle/>
          <a:p>
            <a:fld id="{7DDAA637-A403-49A5-BA15-14988F2B191B}" type="datetimeFigureOut">
              <a:rPr lang="en-IN" smtClean="0"/>
              <a:t>26-06-2026</a:t>
            </a:fld>
            <a:endParaRPr lang="en-IN"/>
          </a:p>
        </p:txBody>
      </p:sp>
      <p:sp>
        <p:nvSpPr>
          <p:cNvPr id="5" name="Footer Placeholder 4">
            <a:extLst>
              <a:ext uri="{FF2B5EF4-FFF2-40B4-BE49-F238E27FC236}">
                <a16:creationId xmlns:a16="http://schemas.microsoft.com/office/drawing/2014/main" id="{DF109367-9A8E-DA76-38C7-AF3D25C704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7DD1A6-B198-C031-5346-FAD6250E1FB9}"/>
              </a:ext>
            </a:extLst>
          </p:cNvPr>
          <p:cNvSpPr>
            <a:spLocks noGrp="1"/>
          </p:cNvSpPr>
          <p:nvPr>
            <p:ph type="sldNum" sz="quarter" idx="12"/>
          </p:nvPr>
        </p:nvSpPr>
        <p:spPr/>
        <p:txBody>
          <a:bodyPr/>
          <a:lstStyle/>
          <a:p>
            <a:fld id="{2DF61E86-B677-424B-8B6E-75423D623E55}" type="slidenum">
              <a:rPr lang="en-IN" smtClean="0"/>
              <a:t>‹#›</a:t>
            </a:fld>
            <a:endParaRPr lang="en-IN"/>
          </a:p>
        </p:txBody>
      </p:sp>
    </p:spTree>
    <p:extLst>
      <p:ext uri="{BB962C8B-B14F-4D97-AF65-F5344CB8AC3E}">
        <p14:creationId xmlns:p14="http://schemas.microsoft.com/office/powerpoint/2010/main" val="2980762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14A1D4-05D0-8D74-D91A-4EC5725703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2051F1-206C-867C-5DF1-D8573BB2B1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6637CC-BAF2-6402-C7EF-D0D639904685}"/>
              </a:ext>
            </a:extLst>
          </p:cNvPr>
          <p:cNvSpPr>
            <a:spLocks noGrp="1"/>
          </p:cNvSpPr>
          <p:nvPr>
            <p:ph type="dt" sz="half" idx="10"/>
          </p:nvPr>
        </p:nvSpPr>
        <p:spPr/>
        <p:txBody>
          <a:bodyPr/>
          <a:lstStyle/>
          <a:p>
            <a:fld id="{7DDAA637-A403-49A5-BA15-14988F2B191B}" type="datetimeFigureOut">
              <a:rPr lang="en-IN" smtClean="0"/>
              <a:t>26-06-2026</a:t>
            </a:fld>
            <a:endParaRPr lang="en-IN"/>
          </a:p>
        </p:txBody>
      </p:sp>
      <p:sp>
        <p:nvSpPr>
          <p:cNvPr id="5" name="Footer Placeholder 4">
            <a:extLst>
              <a:ext uri="{FF2B5EF4-FFF2-40B4-BE49-F238E27FC236}">
                <a16:creationId xmlns:a16="http://schemas.microsoft.com/office/drawing/2014/main" id="{8F467674-CA23-E05D-5FA2-95DAC49B36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C1939C-F1B0-E7C0-CEAC-17A4A10A4F5C}"/>
              </a:ext>
            </a:extLst>
          </p:cNvPr>
          <p:cNvSpPr>
            <a:spLocks noGrp="1"/>
          </p:cNvSpPr>
          <p:nvPr>
            <p:ph type="sldNum" sz="quarter" idx="12"/>
          </p:nvPr>
        </p:nvSpPr>
        <p:spPr/>
        <p:txBody>
          <a:bodyPr/>
          <a:lstStyle/>
          <a:p>
            <a:fld id="{2DF61E86-B677-424B-8B6E-75423D623E55}" type="slidenum">
              <a:rPr lang="en-IN" smtClean="0"/>
              <a:t>‹#›</a:t>
            </a:fld>
            <a:endParaRPr lang="en-IN"/>
          </a:p>
        </p:txBody>
      </p:sp>
    </p:spTree>
    <p:extLst>
      <p:ext uri="{BB962C8B-B14F-4D97-AF65-F5344CB8AC3E}">
        <p14:creationId xmlns:p14="http://schemas.microsoft.com/office/powerpoint/2010/main" val="1892274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6406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F0DBA2-E091-6669-9D5F-64782B0B35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E095D3-18D0-EC4A-0761-E7B1D4F4C9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B28347-C767-3BF3-61CC-54A09EC04B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DAA637-A403-49A5-BA15-14988F2B191B}" type="datetimeFigureOut">
              <a:rPr lang="en-IN" smtClean="0"/>
              <a:t>26-06-2026</a:t>
            </a:fld>
            <a:endParaRPr lang="en-IN"/>
          </a:p>
        </p:txBody>
      </p:sp>
      <p:sp>
        <p:nvSpPr>
          <p:cNvPr id="5" name="Footer Placeholder 4">
            <a:extLst>
              <a:ext uri="{FF2B5EF4-FFF2-40B4-BE49-F238E27FC236}">
                <a16:creationId xmlns:a16="http://schemas.microsoft.com/office/drawing/2014/main" id="{C835391D-5C1F-C5EE-8F5C-E35D596400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1A068CB-7305-FD0C-AD49-F18ED2C468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F61E86-B677-424B-8B6E-75423D623E55}" type="slidenum">
              <a:rPr lang="en-IN" smtClean="0"/>
              <a:t>‹#›</a:t>
            </a:fld>
            <a:endParaRPr lang="en-IN"/>
          </a:p>
        </p:txBody>
      </p:sp>
    </p:spTree>
    <p:extLst>
      <p:ext uri="{BB962C8B-B14F-4D97-AF65-F5344CB8AC3E}">
        <p14:creationId xmlns:p14="http://schemas.microsoft.com/office/powerpoint/2010/main" val="3326420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D79EB-3134-2E4D-5445-0279214F7735}"/>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9293E0D-65E6-1AB4-D39C-2998302E52A9}"/>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8B8D034C-567D-39A1-ACAD-49A8D083E127}"/>
              </a:ext>
            </a:extLst>
          </p:cNvPr>
          <p:cNvPicPr>
            <a:picLocks noChangeAspect="1"/>
          </p:cNvPicPr>
          <p:nvPr/>
        </p:nvPicPr>
        <p:blipFill>
          <a:blip r:embed="rId2"/>
          <a:stretch>
            <a:fillRect/>
          </a:stretch>
        </p:blipFill>
        <p:spPr>
          <a:xfrm>
            <a:off x="3573561" y="2148729"/>
            <a:ext cx="5044877" cy="2560542"/>
          </a:xfrm>
          <a:prstGeom prst="rect">
            <a:avLst/>
          </a:prstGeom>
        </p:spPr>
      </p:pic>
    </p:spTree>
    <p:extLst>
      <p:ext uri="{BB962C8B-B14F-4D97-AF65-F5344CB8AC3E}">
        <p14:creationId xmlns:p14="http://schemas.microsoft.com/office/powerpoint/2010/main" val="2839072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D9488"/>
          </a:solidFill>
          <a:ln w="12700">
            <a:solidFill>
              <a:srgbClr val="0D9488"/>
            </a:solidFill>
            <a:prstDash val="solid"/>
          </a:ln>
        </p:spPr>
      </p:sp>
      <p:sp>
        <p:nvSpPr>
          <p:cNvPr id="3" name="Text 1"/>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Why BERT Exists: The Embedding Problem</a:t>
            </a:r>
            <a:endParaRPr lang="en-US" sz="3467" dirty="0"/>
          </a:p>
        </p:txBody>
      </p:sp>
      <p:sp>
        <p:nvSpPr>
          <p:cNvPr id="4" name="Shape 2"/>
          <p:cNvSpPr/>
          <p:nvPr/>
        </p:nvSpPr>
        <p:spPr>
          <a:xfrm>
            <a:off x="609600" y="999744"/>
            <a:ext cx="10972800" cy="30480"/>
          </a:xfrm>
          <a:prstGeom prst="rect">
            <a:avLst/>
          </a:prstGeom>
          <a:solidFill>
            <a:srgbClr val="CBD5E1"/>
          </a:solidFill>
          <a:ln w="12700">
            <a:solidFill>
              <a:srgbClr val="CBD5E1"/>
            </a:solidFill>
            <a:prstDash val="solid"/>
          </a:ln>
        </p:spPr>
      </p:sp>
      <p:sp>
        <p:nvSpPr>
          <p:cNvPr id="6" name="Shape 3"/>
          <p:cNvSpPr/>
          <p:nvPr/>
        </p:nvSpPr>
        <p:spPr>
          <a:xfrm>
            <a:off x="487680" y="1158240"/>
            <a:ext cx="5120640" cy="4511040"/>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7" name="Shape 4"/>
          <p:cNvSpPr/>
          <p:nvPr/>
        </p:nvSpPr>
        <p:spPr>
          <a:xfrm>
            <a:off x="487680" y="1158240"/>
            <a:ext cx="5120640" cy="512064"/>
          </a:xfrm>
          <a:prstGeom prst="rect">
            <a:avLst/>
          </a:prstGeom>
          <a:solidFill>
            <a:srgbClr val="DC2626"/>
          </a:solidFill>
          <a:ln w="12700">
            <a:solidFill>
              <a:srgbClr val="DC2626"/>
            </a:solidFill>
            <a:prstDash val="solid"/>
          </a:ln>
        </p:spPr>
      </p:sp>
      <p:sp>
        <p:nvSpPr>
          <p:cNvPr id="8" name="Text 5"/>
          <p:cNvSpPr/>
          <p:nvPr/>
        </p:nvSpPr>
        <p:spPr>
          <a:xfrm>
            <a:off x="609600" y="1158240"/>
            <a:ext cx="4876800" cy="512064"/>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word2vec — Static Embedding</a:t>
            </a:r>
            <a:endParaRPr lang="en-US" sz="1733" dirty="0"/>
          </a:p>
        </p:txBody>
      </p:sp>
      <p:sp>
        <p:nvSpPr>
          <p:cNvPr id="9" name="Shape 6"/>
          <p:cNvSpPr/>
          <p:nvPr/>
        </p:nvSpPr>
        <p:spPr>
          <a:xfrm>
            <a:off x="731520" y="1889760"/>
            <a:ext cx="4632960" cy="585216"/>
          </a:xfrm>
          <a:prstGeom prst="rect">
            <a:avLst/>
          </a:prstGeom>
          <a:solidFill>
            <a:srgbClr val="FFF1F1"/>
          </a:solidFill>
          <a:ln w="6350">
            <a:solidFill>
              <a:srgbClr val="DC2626"/>
            </a:solidFill>
            <a:prstDash val="solid"/>
          </a:ln>
        </p:spPr>
      </p:sp>
      <p:sp>
        <p:nvSpPr>
          <p:cNvPr id="10" name="Text 7"/>
          <p:cNvSpPr/>
          <p:nvPr/>
        </p:nvSpPr>
        <p:spPr>
          <a:xfrm>
            <a:off x="792480" y="1889760"/>
            <a:ext cx="4511040" cy="585216"/>
          </a:xfrm>
          <a:prstGeom prst="rect">
            <a:avLst/>
          </a:prstGeom>
          <a:noFill/>
          <a:ln/>
        </p:spPr>
        <p:txBody>
          <a:bodyPr wrap="square" lIns="0" tIns="0" rIns="0" bIns="0" rtlCol="0" anchor="ctr"/>
          <a:lstStyle/>
          <a:p>
            <a:r>
              <a:rPr lang="en-US" sz="1333" dirty="0">
                <a:solidFill>
                  <a:srgbClr val="0F1E45"/>
                </a:solidFill>
                <a:latin typeface="Calibri" pitchFamily="34" charset="0"/>
                <a:ea typeface="Calibri" pitchFamily="34" charset="-122"/>
                <a:cs typeface="Calibri" pitchFamily="34" charset="-120"/>
              </a:rPr>
              <a:t>"I deposited money at the bank"</a:t>
            </a:r>
            <a:endParaRPr lang="en-US" sz="1333" dirty="0"/>
          </a:p>
        </p:txBody>
      </p:sp>
      <p:sp>
        <p:nvSpPr>
          <p:cNvPr id="11" name="Shape 8"/>
          <p:cNvSpPr/>
          <p:nvPr/>
        </p:nvSpPr>
        <p:spPr>
          <a:xfrm>
            <a:off x="731520" y="2682240"/>
            <a:ext cx="4632960" cy="585216"/>
          </a:xfrm>
          <a:prstGeom prst="rect">
            <a:avLst/>
          </a:prstGeom>
          <a:solidFill>
            <a:srgbClr val="FFF1F1"/>
          </a:solidFill>
          <a:ln w="6350">
            <a:solidFill>
              <a:srgbClr val="DC2626"/>
            </a:solidFill>
            <a:prstDash val="solid"/>
          </a:ln>
        </p:spPr>
      </p:sp>
      <p:sp>
        <p:nvSpPr>
          <p:cNvPr id="12" name="Text 9"/>
          <p:cNvSpPr/>
          <p:nvPr/>
        </p:nvSpPr>
        <p:spPr>
          <a:xfrm>
            <a:off x="792480" y="2682240"/>
            <a:ext cx="4511040" cy="585216"/>
          </a:xfrm>
          <a:prstGeom prst="rect">
            <a:avLst/>
          </a:prstGeom>
          <a:noFill/>
          <a:ln/>
        </p:spPr>
        <p:txBody>
          <a:bodyPr wrap="square" lIns="0" tIns="0" rIns="0" bIns="0" rtlCol="0" anchor="ctr"/>
          <a:lstStyle/>
          <a:p>
            <a:r>
              <a:rPr lang="en-US" sz="1333" dirty="0">
                <a:solidFill>
                  <a:srgbClr val="0F1E45"/>
                </a:solidFill>
                <a:latin typeface="Calibri" pitchFamily="34" charset="0"/>
                <a:ea typeface="Calibri" pitchFamily="34" charset="-122"/>
                <a:cs typeface="Calibri" pitchFamily="34" charset="-120"/>
              </a:rPr>
              <a:t>"We sat on the river bank"</a:t>
            </a:r>
            <a:endParaRPr lang="en-US" sz="1333" dirty="0"/>
          </a:p>
        </p:txBody>
      </p:sp>
      <p:sp>
        <p:nvSpPr>
          <p:cNvPr id="13" name="Text 10"/>
          <p:cNvSpPr/>
          <p:nvPr/>
        </p:nvSpPr>
        <p:spPr>
          <a:xfrm>
            <a:off x="731520" y="3535680"/>
            <a:ext cx="4632960" cy="365760"/>
          </a:xfrm>
          <a:prstGeom prst="rect">
            <a:avLst/>
          </a:prstGeom>
          <a:noFill/>
          <a:ln/>
        </p:spPr>
        <p:txBody>
          <a:bodyPr wrap="square" lIns="0" tIns="0" rIns="0" bIns="0" rtlCol="0" anchor="ctr"/>
          <a:lstStyle/>
          <a:p>
            <a:pPr algn="ctr"/>
            <a:r>
              <a:rPr lang="en-US" sz="1467" i="1" dirty="0">
                <a:solidFill>
                  <a:srgbClr val="64748B"/>
                </a:solidFill>
                <a:latin typeface="Calibri" pitchFamily="34" charset="0"/>
                <a:ea typeface="Calibri" pitchFamily="34" charset="-122"/>
                <a:cs typeface="Calibri" pitchFamily="34" charset="-120"/>
              </a:rPr>
              <a:t>↓ same vector for both</a:t>
            </a:r>
            <a:endParaRPr lang="en-US" sz="1467" dirty="0"/>
          </a:p>
        </p:txBody>
      </p:sp>
      <p:sp>
        <p:nvSpPr>
          <p:cNvPr id="14" name="Shape 11"/>
          <p:cNvSpPr/>
          <p:nvPr/>
        </p:nvSpPr>
        <p:spPr>
          <a:xfrm>
            <a:off x="1219200" y="3925824"/>
            <a:ext cx="3413760" cy="512064"/>
          </a:xfrm>
          <a:prstGeom prst="rect">
            <a:avLst/>
          </a:prstGeom>
          <a:solidFill>
            <a:srgbClr val="DC2626">
              <a:alpha val="20000"/>
            </a:srgbClr>
          </a:solidFill>
          <a:ln w="6350">
            <a:solidFill>
              <a:srgbClr val="DC2626"/>
            </a:solidFill>
            <a:prstDash val="solid"/>
          </a:ln>
        </p:spPr>
      </p:sp>
      <p:sp>
        <p:nvSpPr>
          <p:cNvPr id="15" name="Text 12"/>
          <p:cNvSpPr/>
          <p:nvPr/>
        </p:nvSpPr>
        <p:spPr>
          <a:xfrm>
            <a:off x="1219200" y="3925824"/>
            <a:ext cx="3413760" cy="512064"/>
          </a:xfrm>
          <a:prstGeom prst="rect">
            <a:avLst/>
          </a:prstGeom>
          <a:noFill/>
          <a:ln/>
        </p:spPr>
        <p:txBody>
          <a:bodyPr wrap="square" lIns="0" tIns="0" rIns="0" bIns="0" rtlCol="0" anchor="ctr"/>
          <a:lstStyle/>
          <a:p>
            <a:pPr algn="ctr"/>
            <a:r>
              <a:rPr lang="en-US" sz="1333" b="1" dirty="0">
                <a:solidFill>
                  <a:srgbClr val="DC2626"/>
                </a:solidFill>
                <a:latin typeface="Calibri" pitchFamily="34" charset="0"/>
                <a:ea typeface="Calibri" pitchFamily="34" charset="-122"/>
                <a:cs typeface="Calibri" pitchFamily="34" charset="-120"/>
              </a:rPr>
              <a:t>bank → [0.3, 0.7, ...]  ← fixed forever</a:t>
            </a:r>
            <a:endParaRPr lang="en-US" sz="1333" dirty="0"/>
          </a:p>
        </p:txBody>
      </p:sp>
      <p:sp>
        <p:nvSpPr>
          <p:cNvPr id="16" name="Text 13"/>
          <p:cNvSpPr/>
          <p:nvPr/>
        </p:nvSpPr>
        <p:spPr>
          <a:xfrm>
            <a:off x="731520" y="4632960"/>
            <a:ext cx="4632960" cy="426720"/>
          </a:xfrm>
          <a:prstGeom prst="rect">
            <a:avLst/>
          </a:prstGeom>
          <a:noFill/>
          <a:ln/>
        </p:spPr>
        <p:txBody>
          <a:bodyPr wrap="square" lIns="0" tIns="0" rIns="0" bIns="0" rtlCol="0" anchor="ctr"/>
          <a:lstStyle/>
          <a:p>
            <a:pPr algn="ctr"/>
            <a:r>
              <a:rPr lang="en-US" sz="1467" b="1" dirty="0">
                <a:solidFill>
                  <a:srgbClr val="DC2626"/>
                </a:solidFill>
                <a:latin typeface="Calibri" pitchFamily="34" charset="0"/>
                <a:ea typeface="Calibri" pitchFamily="34" charset="-122"/>
                <a:cs typeface="Calibri" pitchFamily="34" charset="-120"/>
              </a:rPr>
              <a:t>❌  Context completely ignored</a:t>
            </a:r>
            <a:endParaRPr lang="en-US" sz="1467" dirty="0"/>
          </a:p>
        </p:txBody>
      </p:sp>
      <p:sp>
        <p:nvSpPr>
          <p:cNvPr id="17" name="Shape 14"/>
          <p:cNvSpPr/>
          <p:nvPr/>
        </p:nvSpPr>
        <p:spPr>
          <a:xfrm>
            <a:off x="6583680" y="1158240"/>
            <a:ext cx="5120640" cy="4511040"/>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18" name="Shape 15"/>
          <p:cNvSpPr/>
          <p:nvPr/>
        </p:nvSpPr>
        <p:spPr>
          <a:xfrm>
            <a:off x="6583680" y="1158240"/>
            <a:ext cx="5120640" cy="512064"/>
          </a:xfrm>
          <a:prstGeom prst="rect">
            <a:avLst/>
          </a:prstGeom>
          <a:solidFill>
            <a:srgbClr val="0D9488"/>
          </a:solidFill>
          <a:ln w="12700">
            <a:solidFill>
              <a:srgbClr val="0D9488"/>
            </a:solidFill>
            <a:prstDash val="solid"/>
          </a:ln>
        </p:spPr>
      </p:sp>
      <p:sp>
        <p:nvSpPr>
          <p:cNvPr id="19" name="Text 16"/>
          <p:cNvSpPr/>
          <p:nvPr/>
        </p:nvSpPr>
        <p:spPr>
          <a:xfrm>
            <a:off x="6705600" y="1158240"/>
            <a:ext cx="4876800" cy="512064"/>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BERT — Contextual Embedding</a:t>
            </a:r>
            <a:endParaRPr lang="en-US" sz="1733" dirty="0"/>
          </a:p>
        </p:txBody>
      </p:sp>
      <p:sp>
        <p:nvSpPr>
          <p:cNvPr id="20" name="Shape 17"/>
          <p:cNvSpPr/>
          <p:nvPr/>
        </p:nvSpPr>
        <p:spPr>
          <a:xfrm>
            <a:off x="6827520" y="1889760"/>
            <a:ext cx="4632960" cy="585216"/>
          </a:xfrm>
          <a:prstGeom prst="rect">
            <a:avLst/>
          </a:prstGeom>
          <a:solidFill>
            <a:srgbClr val="F0FDF4"/>
          </a:solidFill>
          <a:ln w="6350">
            <a:solidFill>
              <a:srgbClr val="0D9488"/>
            </a:solidFill>
            <a:prstDash val="solid"/>
          </a:ln>
        </p:spPr>
      </p:sp>
      <p:sp>
        <p:nvSpPr>
          <p:cNvPr id="21" name="Text 18"/>
          <p:cNvSpPr/>
          <p:nvPr/>
        </p:nvSpPr>
        <p:spPr>
          <a:xfrm>
            <a:off x="6888480" y="1889760"/>
            <a:ext cx="4511040" cy="585216"/>
          </a:xfrm>
          <a:prstGeom prst="rect">
            <a:avLst/>
          </a:prstGeom>
          <a:noFill/>
          <a:ln/>
        </p:spPr>
        <p:txBody>
          <a:bodyPr wrap="square" lIns="0" tIns="0" rIns="0" bIns="0" rtlCol="0" anchor="ctr"/>
          <a:lstStyle/>
          <a:p>
            <a:r>
              <a:rPr lang="en-US" sz="1333" dirty="0">
                <a:solidFill>
                  <a:srgbClr val="0F1E45"/>
                </a:solidFill>
                <a:latin typeface="Calibri" pitchFamily="34" charset="0"/>
                <a:ea typeface="Calibri" pitchFamily="34" charset="-122"/>
                <a:cs typeface="Calibri" pitchFamily="34" charset="-120"/>
              </a:rPr>
              <a:t>"I deposited money at the bank"</a:t>
            </a:r>
            <a:endParaRPr lang="en-US" sz="1333" dirty="0"/>
          </a:p>
        </p:txBody>
      </p:sp>
      <p:sp>
        <p:nvSpPr>
          <p:cNvPr id="22" name="Shape 19"/>
          <p:cNvSpPr/>
          <p:nvPr/>
        </p:nvSpPr>
        <p:spPr>
          <a:xfrm>
            <a:off x="6827520" y="2682240"/>
            <a:ext cx="4632960" cy="585216"/>
          </a:xfrm>
          <a:prstGeom prst="rect">
            <a:avLst/>
          </a:prstGeom>
          <a:solidFill>
            <a:srgbClr val="F0FDF4"/>
          </a:solidFill>
          <a:ln w="6350">
            <a:solidFill>
              <a:srgbClr val="0D9488"/>
            </a:solidFill>
            <a:prstDash val="solid"/>
          </a:ln>
        </p:spPr>
      </p:sp>
      <p:sp>
        <p:nvSpPr>
          <p:cNvPr id="23" name="Text 20"/>
          <p:cNvSpPr/>
          <p:nvPr/>
        </p:nvSpPr>
        <p:spPr>
          <a:xfrm>
            <a:off x="6888480" y="2682240"/>
            <a:ext cx="4511040" cy="585216"/>
          </a:xfrm>
          <a:prstGeom prst="rect">
            <a:avLst/>
          </a:prstGeom>
          <a:noFill/>
          <a:ln/>
        </p:spPr>
        <p:txBody>
          <a:bodyPr wrap="square" lIns="0" tIns="0" rIns="0" bIns="0" rtlCol="0" anchor="ctr"/>
          <a:lstStyle/>
          <a:p>
            <a:r>
              <a:rPr lang="en-US" sz="1333" dirty="0">
                <a:solidFill>
                  <a:srgbClr val="0F1E45"/>
                </a:solidFill>
                <a:latin typeface="Calibri" pitchFamily="34" charset="0"/>
                <a:ea typeface="Calibri" pitchFamily="34" charset="-122"/>
                <a:cs typeface="Calibri" pitchFamily="34" charset="-120"/>
              </a:rPr>
              <a:t>"We sat on the river bank"</a:t>
            </a:r>
            <a:endParaRPr lang="en-US" sz="1333" dirty="0"/>
          </a:p>
        </p:txBody>
      </p:sp>
      <p:sp>
        <p:nvSpPr>
          <p:cNvPr id="24" name="Text 21"/>
          <p:cNvSpPr/>
          <p:nvPr/>
        </p:nvSpPr>
        <p:spPr>
          <a:xfrm>
            <a:off x="6827520" y="3535680"/>
            <a:ext cx="4632960" cy="365760"/>
          </a:xfrm>
          <a:prstGeom prst="rect">
            <a:avLst/>
          </a:prstGeom>
          <a:noFill/>
          <a:ln/>
        </p:spPr>
        <p:txBody>
          <a:bodyPr wrap="square" lIns="0" tIns="0" rIns="0" bIns="0" rtlCol="0" anchor="ctr"/>
          <a:lstStyle/>
          <a:p>
            <a:pPr algn="ctr"/>
            <a:r>
              <a:rPr lang="en-US" sz="1467" i="1" dirty="0">
                <a:solidFill>
                  <a:srgbClr val="64748B"/>
                </a:solidFill>
                <a:latin typeface="Calibri" pitchFamily="34" charset="0"/>
                <a:ea typeface="Calibri" pitchFamily="34" charset="-122"/>
                <a:cs typeface="Calibri" pitchFamily="34" charset="-120"/>
              </a:rPr>
              <a:t>↓ different vector per context</a:t>
            </a:r>
            <a:endParaRPr lang="en-US" sz="1467" dirty="0"/>
          </a:p>
        </p:txBody>
      </p:sp>
      <p:sp>
        <p:nvSpPr>
          <p:cNvPr id="25" name="Shape 22"/>
          <p:cNvSpPr/>
          <p:nvPr/>
        </p:nvSpPr>
        <p:spPr>
          <a:xfrm>
            <a:off x="6827520" y="3925824"/>
            <a:ext cx="4632960" cy="487680"/>
          </a:xfrm>
          <a:prstGeom prst="rect">
            <a:avLst/>
          </a:prstGeom>
          <a:solidFill>
            <a:srgbClr val="EEF2FF"/>
          </a:solidFill>
          <a:ln w="6350">
            <a:solidFill>
              <a:srgbClr val="6D28D9"/>
            </a:solidFill>
            <a:prstDash val="solid"/>
          </a:ln>
        </p:spPr>
      </p:sp>
      <p:sp>
        <p:nvSpPr>
          <p:cNvPr id="26" name="Text 23"/>
          <p:cNvSpPr/>
          <p:nvPr/>
        </p:nvSpPr>
        <p:spPr>
          <a:xfrm>
            <a:off x="6827520" y="3925824"/>
            <a:ext cx="4632960" cy="487680"/>
          </a:xfrm>
          <a:prstGeom prst="rect">
            <a:avLst/>
          </a:prstGeom>
          <a:noFill/>
          <a:ln/>
        </p:spPr>
        <p:txBody>
          <a:bodyPr wrap="square" lIns="0" tIns="0" rIns="0" bIns="0" rtlCol="0" anchor="ctr"/>
          <a:lstStyle/>
          <a:p>
            <a:pPr algn="ctr"/>
            <a:r>
              <a:rPr lang="en-US" sz="1333" b="1" dirty="0">
                <a:solidFill>
                  <a:srgbClr val="6D28D9"/>
                </a:solidFill>
                <a:latin typeface="Calibri" pitchFamily="34" charset="0"/>
                <a:ea typeface="Calibri" pitchFamily="34" charset="-122"/>
                <a:cs typeface="Calibri" pitchFamily="34" charset="-120"/>
              </a:rPr>
              <a:t>bank → [0.9, 0.1, ...]  financial</a:t>
            </a:r>
            <a:endParaRPr lang="en-US" sz="1333" dirty="0"/>
          </a:p>
        </p:txBody>
      </p:sp>
      <p:sp>
        <p:nvSpPr>
          <p:cNvPr id="27" name="Shape 24"/>
          <p:cNvSpPr/>
          <p:nvPr/>
        </p:nvSpPr>
        <p:spPr>
          <a:xfrm>
            <a:off x="6827520" y="4511040"/>
            <a:ext cx="4632960" cy="487680"/>
          </a:xfrm>
          <a:prstGeom prst="rect">
            <a:avLst/>
          </a:prstGeom>
          <a:solidFill>
            <a:srgbClr val="F0FDF4"/>
          </a:solidFill>
          <a:ln w="6350">
            <a:solidFill>
              <a:srgbClr val="0D9488"/>
            </a:solidFill>
            <a:prstDash val="solid"/>
          </a:ln>
        </p:spPr>
      </p:sp>
      <p:sp>
        <p:nvSpPr>
          <p:cNvPr id="28" name="Text 25"/>
          <p:cNvSpPr/>
          <p:nvPr/>
        </p:nvSpPr>
        <p:spPr>
          <a:xfrm>
            <a:off x="6827520" y="4511040"/>
            <a:ext cx="4632960" cy="487680"/>
          </a:xfrm>
          <a:prstGeom prst="rect">
            <a:avLst/>
          </a:prstGeom>
          <a:noFill/>
          <a:ln/>
        </p:spPr>
        <p:txBody>
          <a:bodyPr wrap="square" lIns="0" tIns="0" rIns="0" bIns="0" rtlCol="0" anchor="ctr"/>
          <a:lstStyle/>
          <a:p>
            <a:pPr algn="ctr"/>
            <a:r>
              <a:rPr lang="en-US" sz="1333" b="1" dirty="0">
                <a:solidFill>
                  <a:srgbClr val="0D9488"/>
                </a:solidFill>
                <a:latin typeface="Calibri" pitchFamily="34" charset="0"/>
                <a:ea typeface="Calibri" pitchFamily="34" charset="-122"/>
                <a:cs typeface="Calibri" pitchFamily="34" charset="-120"/>
              </a:rPr>
              <a:t>bank → [0.1, 0.8, ...]  geography</a:t>
            </a:r>
            <a:endParaRPr lang="en-US" sz="1333" dirty="0"/>
          </a:p>
        </p:txBody>
      </p:sp>
      <p:sp>
        <p:nvSpPr>
          <p:cNvPr id="29" name="Text 26"/>
          <p:cNvSpPr/>
          <p:nvPr/>
        </p:nvSpPr>
        <p:spPr>
          <a:xfrm>
            <a:off x="6827520" y="4657344"/>
            <a:ext cx="4632960" cy="426720"/>
          </a:xfrm>
          <a:prstGeom prst="rect">
            <a:avLst/>
          </a:prstGeom>
          <a:noFill/>
          <a:ln/>
        </p:spPr>
        <p:txBody>
          <a:bodyPr wrap="square" lIns="0" tIns="0" rIns="0" bIns="0" rtlCol="0" anchor="ctr"/>
          <a:lstStyle/>
          <a:p>
            <a:pPr algn="ctr"/>
            <a:r>
              <a:rPr lang="en-US" sz="1467" b="1" dirty="0">
                <a:solidFill>
                  <a:srgbClr val="059669"/>
                </a:solidFill>
                <a:latin typeface="Calibri" pitchFamily="34" charset="0"/>
                <a:ea typeface="Calibri" pitchFamily="34" charset="-122"/>
                <a:cs typeface="Calibri" pitchFamily="34" charset="-120"/>
              </a:rPr>
              <a:t>✅  Full sentence context used</a:t>
            </a:r>
            <a:endParaRPr lang="en-US" sz="1467" dirty="0"/>
          </a:p>
        </p:txBody>
      </p:sp>
      <p:sp>
        <p:nvSpPr>
          <p:cNvPr id="30" name="Shape 27"/>
          <p:cNvSpPr/>
          <p:nvPr/>
        </p:nvSpPr>
        <p:spPr>
          <a:xfrm>
            <a:off x="487680" y="5913120"/>
            <a:ext cx="11216640" cy="548640"/>
          </a:xfrm>
          <a:prstGeom prst="rect">
            <a:avLst/>
          </a:prstGeom>
          <a:solidFill>
            <a:srgbClr val="0F1E45"/>
          </a:solidFill>
          <a:ln w="12700">
            <a:solidFill>
              <a:srgbClr val="0F1E45"/>
            </a:solidFill>
            <a:prstDash val="solid"/>
          </a:ln>
        </p:spPr>
      </p:sp>
      <p:sp>
        <p:nvSpPr>
          <p:cNvPr id="31" name="Text 28"/>
          <p:cNvSpPr/>
          <p:nvPr/>
        </p:nvSpPr>
        <p:spPr>
          <a:xfrm>
            <a:off x="609600" y="5913120"/>
            <a:ext cx="10972800" cy="548640"/>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Key Insight: Same word + Different sentence = Different vector. BERT reads the entire sentence bidirectionally.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DB985E-0582-B443-DA8F-7CD0CA5149B9}"/>
              </a:ext>
            </a:extLst>
          </p:cNvPr>
          <p:cNvSpPr txBox="1"/>
          <p:nvPr/>
        </p:nvSpPr>
        <p:spPr>
          <a:xfrm>
            <a:off x="421977" y="262274"/>
            <a:ext cx="6094378" cy="6832640"/>
          </a:xfrm>
          <a:prstGeom prst="rect">
            <a:avLst/>
          </a:prstGeom>
          <a:noFill/>
        </p:spPr>
        <p:txBody>
          <a:bodyPr wrap="square">
            <a:spAutoFit/>
          </a:bodyPr>
          <a:lstStyle/>
          <a:p>
            <a:r>
              <a:rPr lang="en-US" b="1" dirty="0"/>
              <a:t>		Introduction to BERT</a:t>
            </a:r>
          </a:p>
          <a:p>
            <a:pPr>
              <a:buFont typeface="Arial" panose="020B0604020202020204" pitchFamily="34" charset="0"/>
              <a:buChar char="•"/>
            </a:pPr>
            <a:r>
              <a:rPr lang="en-US" b="1" dirty="0"/>
              <a:t>What is BERT?(</a:t>
            </a:r>
            <a:r>
              <a:rPr lang="en-US" i="1" dirty="0"/>
              <a:t>Bidirectional Encoder Representations from Transformers)</a:t>
            </a:r>
            <a:endParaRPr lang="en-US" b="1" dirty="0"/>
          </a:p>
          <a:p>
            <a:pPr marL="742950" lvl="1" indent="-285750">
              <a:buFont typeface="Arial" panose="020B0604020202020204" pitchFamily="34" charset="0"/>
              <a:buChar char="•"/>
            </a:pPr>
            <a:r>
              <a:rPr lang="en-US" sz="2400" i="1" dirty="0"/>
              <a:t>Powerful language model that understands context of words better than previous model</a:t>
            </a:r>
            <a:endParaRPr lang="en-US" sz="2400" dirty="0"/>
          </a:p>
          <a:p>
            <a:pPr marL="742950" lvl="1" indent="-285750">
              <a:buFont typeface="Arial" panose="020B0604020202020204" pitchFamily="34" charset="0"/>
              <a:buChar char="•"/>
            </a:pPr>
            <a:r>
              <a:rPr lang="en-US" sz="2400" dirty="0"/>
              <a:t>BERT’s has bidirectional approach: it reads the entire sequence of words at once, using both the left and right context of each word.</a:t>
            </a:r>
          </a:p>
          <a:p>
            <a:pPr marL="742950" lvl="1" indent="-285750">
              <a:buFont typeface="Arial" panose="020B0604020202020204" pitchFamily="34" charset="0"/>
              <a:buChar char="•"/>
            </a:pPr>
            <a:r>
              <a:rPr lang="en-US" sz="2400" dirty="0"/>
              <a:t>BERT uses a transformer encoder (not the decoder like GPT), which processes input sequences in parallel.</a:t>
            </a:r>
          </a:p>
          <a:p>
            <a:pPr marL="742950" lvl="1" indent="-285750">
              <a:buFont typeface="Arial" panose="020B0604020202020204" pitchFamily="34" charset="0"/>
              <a:buChar char="•"/>
            </a:pPr>
            <a:r>
              <a:rPr lang="en-US" sz="2400" b="1" dirty="0"/>
              <a:t>B</a:t>
            </a:r>
            <a:r>
              <a:rPr lang="en-US" sz="2400" dirty="0"/>
              <a:t>etter understanding of context compared to previous models.</a:t>
            </a:r>
          </a:p>
          <a:p>
            <a:pPr marL="742950" lvl="1" indent="-285750">
              <a:buFont typeface="Arial" panose="020B0604020202020204" pitchFamily="34" charset="0"/>
              <a:buChar char="•"/>
            </a:pPr>
            <a:r>
              <a:rPr lang="en-US" sz="2400" dirty="0"/>
              <a:t>Pre-training on large datasets and fine-tuning for specific tasks, which significantly improves performance across various NLP tasks.</a:t>
            </a:r>
          </a:p>
        </p:txBody>
      </p:sp>
      <p:sp>
        <p:nvSpPr>
          <p:cNvPr id="4" name="TextBox 3">
            <a:extLst>
              <a:ext uri="{FF2B5EF4-FFF2-40B4-BE49-F238E27FC236}">
                <a16:creationId xmlns:a16="http://schemas.microsoft.com/office/drawing/2014/main" id="{98406164-29DE-FC01-C3EC-EE505FFCA04B}"/>
              </a:ext>
            </a:extLst>
          </p:cNvPr>
          <p:cNvSpPr txBox="1"/>
          <p:nvPr/>
        </p:nvSpPr>
        <p:spPr>
          <a:xfrm>
            <a:off x="6324633" y="2106249"/>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Gives BERT </a:t>
            </a:r>
            <a:r>
              <a:rPr kumimoji="0" lang="en-US" altLang="en-US" sz="1800" b="1" i="0" u="none" strike="noStrike" cap="none" normalizeH="0" baseline="0" dirty="0">
                <a:ln>
                  <a:noFill/>
                </a:ln>
                <a:solidFill>
                  <a:schemeClr val="tx1"/>
                </a:solidFill>
                <a:effectLst/>
                <a:latin typeface="Arial" panose="020B0604020202020204" pitchFamily="34" charset="0"/>
              </a:rPr>
              <a:t>rich world knowledge</a:t>
            </a:r>
            <a:r>
              <a:rPr kumimoji="0" lang="en-US" altLang="en-US" sz="1800" b="0" i="0" u="none" strike="noStrike" cap="none" normalizeH="0" baseline="0" dirty="0">
                <a:ln>
                  <a:noFill/>
                </a:ln>
                <a:solidFill>
                  <a:schemeClr val="tx1"/>
                </a:solidFill>
                <a:effectLst/>
                <a:latin typeface="Arial" panose="020B0604020202020204" pitchFamily="34" charset="0"/>
              </a:rPr>
              <a:t> out of the box.</a:t>
            </a:r>
          </a:p>
        </p:txBody>
      </p:sp>
      <p:sp>
        <p:nvSpPr>
          <p:cNvPr id="5" name="Rectangle 4">
            <a:extLst>
              <a:ext uri="{FF2B5EF4-FFF2-40B4-BE49-F238E27FC236}">
                <a16:creationId xmlns:a16="http://schemas.microsoft.com/office/drawing/2014/main" id="{FCE63DE7-A4C7-60EB-D132-4D40D36D2A5B}"/>
              </a:ext>
            </a:extLst>
          </p:cNvPr>
          <p:cNvSpPr>
            <a:spLocks noChangeArrowheads="1"/>
          </p:cNvSpPr>
          <p:nvPr/>
        </p:nvSpPr>
        <p:spPr bwMode="auto">
          <a:xfrm>
            <a:off x="6017342" y="2912495"/>
            <a:ext cx="64032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Trained on </a:t>
            </a:r>
            <a:r>
              <a:rPr kumimoji="0" lang="en-US" altLang="en-US" sz="1800" b="1" i="0" u="none" strike="noStrike" cap="none" normalizeH="0" baseline="0" dirty="0" err="1">
                <a:ln>
                  <a:noFill/>
                </a:ln>
                <a:solidFill>
                  <a:schemeClr val="tx1"/>
                </a:solidFill>
                <a:effectLst/>
                <a:latin typeface="Arial" panose="020B0604020202020204" pitchFamily="34" charset="0"/>
              </a:rPr>
              <a:t>BooksCorpus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Wikipedia</a:t>
            </a:r>
            <a:r>
              <a:rPr kumimoji="0" lang="en-US" altLang="en-US" sz="1800" b="0" i="0" u="none" strike="noStrike" cap="none" normalizeH="0" baseline="0" dirty="0">
                <a:ln>
                  <a:noFill/>
                </a:ln>
                <a:solidFill>
                  <a:schemeClr val="tx1"/>
                </a:solidFill>
                <a:effectLst/>
                <a:latin typeface="Arial" panose="020B0604020202020204" pitchFamily="34" charset="0"/>
              </a:rPr>
              <a:t> (3+ billion words).</a:t>
            </a:r>
          </a:p>
        </p:txBody>
      </p:sp>
    </p:spTree>
    <p:extLst>
      <p:ext uri="{BB962C8B-B14F-4D97-AF65-F5344CB8AC3E}">
        <p14:creationId xmlns:p14="http://schemas.microsoft.com/office/powerpoint/2010/main" val="198605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C05B61D1-72D0-D379-9E0E-BA744C269B60}"/>
              </a:ext>
            </a:extLst>
          </p:cNvPr>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Why BERT Exists</a:t>
            </a:r>
            <a:endParaRPr lang="en-US" sz="3467" dirty="0"/>
          </a:p>
        </p:txBody>
      </p:sp>
      <p:pic>
        <p:nvPicPr>
          <p:cNvPr id="4" name="Picture 3">
            <a:extLst>
              <a:ext uri="{FF2B5EF4-FFF2-40B4-BE49-F238E27FC236}">
                <a16:creationId xmlns:a16="http://schemas.microsoft.com/office/drawing/2014/main" id="{24789A17-CD17-F0BC-FAE6-ECEB13DAB748}"/>
              </a:ext>
            </a:extLst>
          </p:cNvPr>
          <p:cNvPicPr>
            <a:picLocks noChangeAspect="1"/>
          </p:cNvPicPr>
          <p:nvPr/>
        </p:nvPicPr>
        <p:blipFill>
          <a:blip r:embed="rId3"/>
          <a:stretch>
            <a:fillRect/>
          </a:stretch>
        </p:blipFill>
        <p:spPr>
          <a:xfrm>
            <a:off x="1336430" y="1191647"/>
            <a:ext cx="8737299" cy="4107184"/>
          </a:xfrm>
          <a:prstGeom prst="rect">
            <a:avLst/>
          </a:prstGeom>
        </p:spPr>
      </p:pic>
      <p:sp>
        <p:nvSpPr>
          <p:cNvPr id="6" name="TextBox 5">
            <a:extLst>
              <a:ext uri="{FF2B5EF4-FFF2-40B4-BE49-F238E27FC236}">
                <a16:creationId xmlns:a16="http://schemas.microsoft.com/office/drawing/2014/main" id="{8435F5C5-ED3D-3CDD-AB82-C63E578D18C2}"/>
              </a:ext>
            </a:extLst>
          </p:cNvPr>
          <p:cNvSpPr txBox="1"/>
          <p:nvPr/>
        </p:nvSpPr>
        <p:spPr>
          <a:xfrm>
            <a:off x="1899138" y="5666353"/>
            <a:ext cx="6096000" cy="646331"/>
          </a:xfrm>
          <a:prstGeom prst="rect">
            <a:avLst/>
          </a:prstGeom>
          <a:noFill/>
        </p:spPr>
        <p:txBody>
          <a:bodyPr wrap="square">
            <a:spAutoFit/>
          </a:bodyPr>
          <a:lstStyle/>
          <a:p>
            <a:r>
              <a:rPr lang="en-IN" dirty="0"/>
              <a:t>Language has context that flows in both directions simultaneously. Earlier models couldn't model this properly.</a:t>
            </a:r>
          </a:p>
        </p:txBody>
      </p:sp>
    </p:spTree>
    <p:extLst>
      <p:ext uri="{BB962C8B-B14F-4D97-AF65-F5344CB8AC3E}">
        <p14:creationId xmlns:p14="http://schemas.microsoft.com/office/powerpoint/2010/main" val="3911835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279606-39B9-EA35-F10C-C4B3075D1487}"/>
              </a:ext>
            </a:extLst>
          </p:cNvPr>
          <p:cNvSpPr txBox="1"/>
          <p:nvPr/>
        </p:nvSpPr>
        <p:spPr>
          <a:xfrm>
            <a:off x="633046" y="196334"/>
            <a:ext cx="6096000" cy="625877"/>
          </a:xfrm>
          <a:prstGeom prst="rect">
            <a:avLst/>
          </a:prstGeom>
          <a:noFill/>
        </p:spPr>
        <p:txBody>
          <a:bodyPr wrap="square">
            <a:spAutoFit/>
          </a:bodyPr>
          <a:lstStyle/>
          <a:p>
            <a:r>
              <a:rPr lang="en-IN" sz="3467" b="1" dirty="0">
                <a:solidFill>
                  <a:srgbClr val="0F1E45"/>
                </a:solidFill>
                <a:latin typeface="Calibri" pitchFamily="34" charset="0"/>
                <a:ea typeface="Calibri" pitchFamily="34" charset="-122"/>
                <a:cs typeface="Calibri" pitchFamily="34" charset="-120"/>
              </a:rPr>
              <a:t>BERT's place in NLP</a:t>
            </a:r>
          </a:p>
        </p:txBody>
      </p:sp>
      <p:sp>
        <p:nvSpPr>
          <p:cNvPr id="5" name="TextBox 4">
            <a:extLst>
              <a:ext uri="{FF2B5EF4-FFF2-40B4-BE49-F238E27FC236}">
                <a16:creationId xmlns:a16="http://schemas.microsoft.com/office/drawing/2014/main" id="{056E9BF4-7FAF-6537-E13C-F950AF826547}"/>
              </a:ext>
            </a:extLst>
          </p:cNvPr>
          <p:cNvSpPr txBox="1"/>
          <p:nvPr/>
        </p:nvSpPr>
        <p:spPr>
          <a:xfrm>
            <a:off x="902677" y="1040395"/>
            <a:ext cx="6096000" cy="369332"/>
          </a:xfrm>
          <a:prstGeom prst="rect">
            <a:avLst/>
          </a:prstGeom>
          <a:noFill/>
        </p:spPr>
        <p:txBody>
          <a:bodyPr wrap="square">
            <a:spAutoFit/>
          </a:bodyPr>
          <a:lstStyle/>
          <a:p>
            <a:r>
              <a:rPr lang="en-IN" b="1" dirty="0"/>
              <a:t>Bidirectional Encoder Representations from Transformers</a:t>
            </a:r>
            <a:r>
              <a:rPr lang="en-IN" dirty="0"/>
              <a:t>. </a:t>
            </a:r>
          </a:p>
        </p:txBody>
      </p:sp>
      <p:sp>
        <p:nvSpPr>
          <p:cNvPr id="7" name="TextBox 6">
            <a:extLst>
              <a:ext uri="{FF2B5EF4-FFF2-40B4-BE49-F238E27FC236}">
                <a16:creationId xmlns:a16="http://schemas.microsoft.com/office/drawing/2014/main" id="{34A9C82D-0521-9D64-1672-444D227239C9}"/>
              </a:ext>
            </a:extLst>
          </p:cNvPr>
          <p:cNvSpPr txBox="1"/>
          <p:nvPr/>
        </p:nvSpPr>
        <p:spPr>
          <a:xfrm>
            <a:off x="1488830" y="1443245"/>
            <a:ext cx="6096000" cy="369332"/>
          </a:xfrm>
          <a:prstGeom prst="rect">
            <a:avLst/>
          </a:prstGeom>
          <a:noFill/>
        </p:spPr>
        <p:txBody>
          <a:bodyPr wrap="square">
            <a:spAutoFit/>
          </a:bodyPr>
          <a:lstStyle/>
          <a:p>
            <a:r>
              <a:rPr lang="en-IN" i="1" dirty="0"/>
              <a:t>pretrain-then-finetune</a:t>
            </a:r>
            <a:r>
              <a:rPr lang="en-IN" dirty="0"/>
              <a:t> model </a:t>
            </a:r>
          </a:p>
        </p:txBody>
      </p:sp>
      <p:pic>
        <p:nvPicPr>
          <p:cNvPr id="9" name="Picture 8">
            <a:extLst>
              <a:ext uri="{FF2B5EF4-FFF2-40B4-BE49-F238E27FC236}">
                <a16:creationId xmlns:a16="http://schemas.microsoft.com/office/drawing/2014/main" id="{2CC8DCD7-57D6-7623-03F1-CCE92939ED42}"/>
              </a:ext>
            </a:extLst>
          </p:cNvPr>
          <p:cNvPicPr>
            <a:picLocks noChangeAspect="1"/>
          </p:cNvPicPr>
          <p:nvPr/>
        </p:nvPicPr>
        <p:blipFill>
          <a:blip r:embed="rId3"/>
          <a:stretch>
            <a:fillRect/>
          </a:stretch>
        </p:blipFill>
        <p:spPr>
          <a:xfrm>
            <a:off x="1171152" y="2085067"/>
            <a:ext cx="9086539" cy="3604929"/>
          </a:xfrm>
          <a:prstGeom prst="rect">
            <a:avLst/>
          </a:prstGeom>
        </p:spPr>
      </p:pic>
      <p:sp>
        <p:nvSpPr>
          <p:cNvPr id="11" name="TextBox 10">
            <a:extLst>
              <a:ext uri="{FF2B5EF4-FFF2-40B4-BE49-F238E27FC236}">
                <a16:creationId xmlns:a16="http://schemas.microsoft.com/office/drawing/2014/main" id="{9ABE2EAC-6C53-D9BD-FB49-89CCD9A9B3B8}"/>
              </a:ext>
            </a:extLst>
          </p:cNvPr>
          <p:cNvSpPr txBox="1"/>
          <p:nvPr/>
        </p:nvSpPr>
        <p:spPr>
          <a:xfrm>
            <a:off x="1488830" y="5689996"/>
            <a:ext cx="6096000" cy="923330"/>
          </a:xfrm>
          <a:prstGeom prst="rect">
            <a:avLst/>
          </a:prstGeom>
          <a:noFill/>
        </p:spPr>
        <p:txBody>
          <a:bodyPr wrap="square">
            <a:spAutoFit/>
          </a:bodyPr>
          <a:lstStyle/>
          <a:p>
            <a:r>
              <a:rPr lang="en-IN" dirty="0"/>
              <a:t>Tasks like question answering, sentiment analysis, and named entity recognition all suddenly got state-of-the-art results with minimal task-specific engineering.</a:t>
            </a:r>
          </a:p>
        </p:txBody>
      </p:sp>
    </p:spTree>
    <p:extLst>
      <p:ext uri="{BB962C8B-B14F-4D97-AF65-F5344CB8AC3E}">
        <p14:creationId xmlns:p14="http://schemas.microsoft.com/office/powerpoint/2010/main" val="752741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D9488"/>
          </a:solidFill>
          <a:ln w="12700">
            <a:solidFill>
              <a:srgbClr val="0D9488"/>
            </a:solidFill>
            <a:prstDash val="solid"/>
          </a:ln>
        </p:spPr>
      </p:sp>
      <p:sp>
        <p:nvSpPr>
          <p:cNvPr id="3" name="Text 1"/>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BERT Model Architecture</a:t>
            </a:r>
            <a:endParaRPr lang="en-US" sz="3467" dirty="0"/>
          </a:p>
        </p:txBody>
      </p:sp>
      <p:sp>
        <p:nvSpPr>
          <p:cNvPr id="4" name="Shape 2"/>
          <p:cNvSpPr/>
          <p:nvPr/>
        </p:nvSpPr>
        <p:spPr>
          <a:xfrm>
            <a:off x="609600" y="999744"/>
            <a:ext cx="10972800" cy="30480"/>
          </a:xfrm>
          <a:prstGeom prst="rect">
            <a:avLst/>
          </a:prstGeom>
          <a:solidFill>
            <a:srgbClr val="CBD5E1"/>
          </a:solidFill>
          <a:ln w="12700">
            <a:solidFill>
              <a:srgbClr val="CBD5E1"/>
            </a:solidFill>
            <a:prstDash val="solid"/>
          </a:ln>
        </p:spPr>
      </p:sp>
      <p:sp>
        <p:nvSpPr>
          <p:cNvPr id="6" name="Text 3"/>
          <p:cNvSpPr/>
          <p:nvPr/>
        </p:nvSpPr>
        <p:spPr>
          <a:xfrm>
            <a:off x="487680" y="1121664"/>
            <a:ext cx="3413760" cy="341376"/>
          </a:xfrm>
          <a:prstGeom prst="rect">
            <a:avLst/>
          </a:prstGeom>
          <a:noFill/>
          <a:ln/>
        </p:spPr>
        <p:txBody>
          <a:bodyPr wrap="square" lIns="0" tIns="0" rIns="0" bIns="0" rtlCol="0" anchor="ctr"/>
          <a:lstStyle/>
          <a:p>
            <a:pPr algn="ctr"/>
            <a:r>
              <a:rPr lang="en-US" sz="1467" b="1" dirty="0">
                <a:solidFill>
                  <a:srgbClr val="0D9488"/>
                </a:solidFill>
                <a:latin typeface="Calibri" pitchFamily="34" charset="0"/>
                <a:ea typeface="Calibri" pitchFamily="34" charset="-122"/>
                <a:cs typeface="Calibri" pitchFamily="34" charset="-120"/>
              </a:rPr>
              <a:t>Stage 1: Input</a:t>
            </a:r>
            <a:endParaRPr lang="en-US" sz="1467" dirty="0"/>
          </a:p>
        </p:txBody>
      </p:sp>
      <p:sp>
        <p:nvSpPr>
          <p:cNvPr id="7" name="Text 4"/>
          <p:cNvSpPr/>
          <p:nvPr/>
        </p:nvSpPr>
        <p:spPr>
          <a:xfrm>
            <a:off x="4389120" y="1121664"/>
            <a:ext cx="3413760" cy="341376"/>
          </a:xfrm>
          <a:prstGeom prst="rect">
            <a:avLst/>
          </a:prstGeom>
          <a:noFill/>
          <a:ln/>
        </p:spPr>
        <p:txBody>
          <a:bodyPr wrap="square" lIns="0" tIns="0" rIns="0" bIns="0" rtlCol="0" anchor="ctr"/>
          <a:lstStyle/>
          <a:p>
            <a:pPr algn="ctr"/>
            <a:r>
              <a:rPr lang="en-US" sz="1467" b="1" dirty="0">
                <a:solidFill>
                  <a:srgbClr val="0D9488"/>
                </a:solidFill>
                <a:latin typeface="Calibri" pitchFamily="34" charset="0"/>
                <a:ea typeface="Calibri" pitchFamily="34" charset="-122"/>
                <a:cs typeface="Calibri" pitchFamily="34" charset="-120"/>
              </a:rPr>
              <a:t>Stage 2: Encoder ×12</a:t>
            </a:r>
            <a:endParaRPr lang="en-US" sz="1467" dirty="0"/>
          </a:p>
        </p:txBody>
      </p:sp>
      <p:sp>
        <p:nvSpPr>
          <p:cNvPr id="8" name="Text 5"/>
          <p:cNvSpPr/>
          <p:nvPr/>
        </p:nvSpPr>
        <p:spPr>
          <a:xfrm>
            <a:off x="8290560" y="1121664"/>
            <a:ext cx="3413760" cy="341376"/>
          </a:xfrm>
          <a:prstGeom prst="rect">
            <a:avLst/>
          </a:prstGeom>
          <a:noFill/>
          <a:ln/>
        </p:spPr>
        <p:txBody>
          <a:bodyPr wrap="square" lIns="0" tIns="0" rIns="0" bIns="0" rtlCol="0" anchor="ctr"/>
          <a:lstStyle/>
          <a:p>
            <a:pPr algn="ctr"/>
            <a:r>
              <a:rPr lang="en-US" sz="1467" b="1" dirty="0">
                <a:solidFill>
                  <a:srgbClr val="0D9488"/>
                </a:solidFill>
                <a:latin typeface="Calibri" pitchFamily="34" charset="0"/>
                <a:ea typeface="Calibri" pitchFamily="34" charset="-122"/>
                <a:cs typeface="Calibri" pitchFamily="34" charset="-120"/>
              </a:rPr>
              <a:t>Stage 3: Output</a:t>
            </a:r>
            <a:endParaRPr lang="en-US" sz="1467" dirty="0"/>
          </a:p>
        </p:txBody>
      </p:sp>
      <p:sp>
        <p:nvSpPr>
          <p:cNvPr id="9" name="Shape 6"/>
          <p:cNvSpPr/>
          <p:nvPr/>
        </p:nvSpPr>
        <p:spPr>
          <a:xfrm>
            <a:off x="487680" y="1524000"/>
            <a:ext cx="560832" cy="426720"/>
          </a:xfrm>
          <a:prstGeom prst="rect">
            <a:avLst/>
          </a:prstGeom>
          <a:solidFill>
            <a:srgbClr val="EEF2FF"/>
          </a:solidFill>
          <a:ln w="12700">
            <a:solidFill>
              <a:srgbClr val="6D28D9"/>
            </a:solidFill>
            <a:prstDash val="solid"/>
          </a:ln>
        </p:spPr>
      </p:sp>
      <p:sp>
        <p:nvSpPr>
          <p:cNvPr id="10" name="Text 7"/>
          <p:cNvSpPr/>
          <p:nvPr/>
        </p:nvSpPr>
        <p:spPr>
          <a:xfrm>
            <a:off x="487680" y="1524000"/>
            <a:ext cx="560832" cy="426720"/>
          </a:xfrm>
          <a:prstGeom prst="rect">
            <a:avLst/>
          </a:prstGeom>
          <a:noFill/>
          <a:ln/>
        </p:spPr>
        <p:txBody>
          <a:bodyPr wrap="square" lIns="0" tIns="0" rIns="0" bIns="0" rtlCol="0" anchor="ctr"/>
          <a:lstStyle/>
          <a:p>
            <a:pPr algn="ctr"/>
            <a:r>
              <a:rPr lang="en-US" sz="1200" b="1" dirty="0">
                <a:solidFill>
                  <a:srgbClr val="6D28D9"/>
                </a:solidFill>
                <a:latin typeface="Calibri" pitchFamily="34" charset="0"/>
                <a:ea typeface="Calibri" pitchFamily="34" charset="-122"/>
                <a:cs typeface="Calibri" pitchFamily="34" charset="-120"/>
              </a:rPr>
              <a:t>[CLS]</a:t>
            </a:r>
            <a:endParaRPr lang="en-US" sz="1200" dirty="0"/>
          </a:p>
        </p:txBody>
      </p:sp>
      <p:sp>
        <p:nvSpPr>
          <p:cNvPr id="11" name="Shape 8"/>
          <p:cNvSpPr/>
          <p:nvPr/>
        </p:nvSpPr>
        <p:spPr>
          <a:xfrm>
            <a:off x="1121664" y="1524000"/>
            <a:ext cx="560832" cy="426720"/>
          </a:xfrm>
          <a:prstGeom prst="rect">
            <a:avLst/>
          </a:prstGeom>
          <a:solidFill>
            <a:srgbClr val="F8FAFC"/>
          </a:solidFill>
          <a:ln w="6350">
            <a:solidFill>
              <a:srgbClr val="CBD5E1"/>
            </a:solidFill>
            <a:prstDash val="solid"/>
          </a:ln>
        </p:spPr>
      </p:sp>
      <p:sp>
        <p:nvSpPr>
          <p:cNvPr id="12" name="Text 9"/>
          <p:cNvSpPr/>
          <p:nvPr/>
        </p:nvSpPr>
        <p:spPr>
          <a:xfrm>
            <a:off x="1121664" y="1524000"/>
            <a:ext cx="560832" cy="426720"/>
          </a:xfrm>
          <a:prstGeom prst="rect">
            <a:avLst/>
          </a:prstGeom>
          <a:noFill/>
          <a:ln/>
        </p:spPr>
        <p:txBody>
          <a:bodyPr wrap="square" lIns="0" tIns="0" rIns="0" bIns="0" rtlCol="0" anchor="ctr"/>
          <a:lstStyle/>
          <a:p>
            <a:pPr algn="ctr"/>
            <a:r>
              <a:rPr lang="en-US" sz="1200" dirty="0">
                <a:solidFill>
                  <a:srgbClr val="0F1E45"/>
                </a:solidFill>
                <a:latin typeface="Calibri" pitchFamily="34" charset="0"/>
                <a:ea typeface="Calibri" pitchFamily="34" charset="-122"/>
                <a:cs typeface="Calibri" pitchFamily="34" charset="-120"/>
              </a:rPr>
              <a:t>The</a:t>
            </a:r>
            <a:endParaRPr lang="en-US" sz="1200" dirty="0"/>
          </a:p>
        </p:txBody>
      </p:sp>
      <p:sp>
        <p:nvSpPr>
          <p:cNvPr id="13" name="Shape 10"/>
          <p:cNvSpPr/>
          <p:nvPr/>
        </p:nvSpPr>
        <p:spPr>
          <a:xfrm>
            <a:off x="1755648" y="1524000"/>
            <a:ext cx="560832" cy="426720"/>
          </a:xfrm>
          <a:prstGeom prst="rect">
            <a:avLst/>
          </a:prstGeom>
          <a:solidFill>
            <a:srgbClr val="F8FAFC"/>
          </a:solidFill>
          <a:ln w="6350">
            <a:solidFill>
              <a:srgbClr val="CBD5E1"/>
            </a:solidFill>
            <a:prstDash val="solid"/>
          </a:ln>
        </p:spPr>
      </p:sp>
      <p:sp>
        <p:nvSpPr>
          <p:cNvPr id="14" name="Text 11"/>
          <p:cNvSpPr/>
          <p:nvPr/>
        </p:nvSpPr>
        <p:spPr>
          <a:xfrm>
            <a:off x="1755648" y="1524000"/>
            <a:ext cx="560832" cy="426720"/>
          </a:xfrm>
          <a:prstGeom prst="rect">
            <a:avLst/>
          </a:prstGeom>
          <a:noFill/>
          <a:ln/>
        </p:spPr>
        <p:txBody>
          <a:bodyPr wrap="square" lIns="0" tIns="0" rIns="0" bIns="0" rtlCol="0" anchor="ctr"/>
          <a:lstStyle/>
          <a:p>
            <a:pPr algn="ctr"/>
            <a:r>
              <a:rPr lang="en-US" sz="1200" dirty="0">
                <a:solidFill>
                  <a:srgbClr val="0F1E45"/>
                </a:solidFill>
                <a:latin typeface="Calibri" pitchFamily="34" charset="0"/>
                <a:ea typeface="Calibri" pitchFamily="34" charset="-122"/>
                <a:cs typeface="Calibri" pitchFamily="34" charset="-120"/>
              </a:rPr>
              <a:t>cat</a:t>
            </a:r>
            <a:endParaRPr lang="en-US" sz="1200" dirty="0"/>
          </a:p>
        </p:txBody>
      </p:sp>
      <p:sp>
        <p:nvSpPr>
          <p:cNvPr id="15" name="Shape 12"/>
          <p:cNvSpPr/>
          <p:nvPr/>
        </p:nvSpPr>
        <p:spPr>
          <a:xfrm>
            <a:off x="2389632" y="1524000"/>
            <a:ext cx="560832" cy="426720"/>
          </a:xfrm>
          <a:prstGeom prst="rect">
            <a:avLst/>
          </a:prstGeom>
          <a:solidFill>
            <a:srgbClr val="F8FAFC"/>
          </a:solidFill>
          <a:ln w="6350">
            <a:solidFill>
              <a:srgbClr val="CBD5E1"/>
            </a:solidFill>
            <a:prstDash val="solid"/>
          </a:ln>
        </p:spPr>
      </p:sp>
      <p:sp>
        <p:nvSpPr>
          <p:cNvPr id="16" name="Text 13"/>
          <p:cNvSpPr/>
          <p:nvPr/>
        </p:nvSpPr>
        <p:spPr>
          <a:xfrm>
            <a:off x="2389632" y="1524000"/>
            <a:ext cx="560832" cy="426720"/>
          </a:xfrm>
          <a:prstGeom prst="rect">
            <a:avLst/>
          </a:prstGeom>
          <a:noFill/>
          <a:ln/>
        </p:spPr>
        <p:txBody>
          <a:bodyPr wrap="square" lIns="0" tIns="0" rIns="0" bIns="0" rtlCol="0" anchor="ctr"/>
          <a:lstStyle/>
          <a:p>
            <a:pPr algn="ctr"/>
            <a:r>
              <a:rPr lang="en-US" sz="1200" dirty="0">
                <a:solidFill>
                  <a:srgbClr val="0F1E45"/>
                </a:solidFill>
                <a:latin typeface="Calibri" pitchFamily="34" charset="0"/>
                <a:ea typeface="Calibri" pitchFamily="34" charset="-122"/>
                <a:cs typeface="Calibri" pitchFamily="34" charset="-120"/>
              </a:rPr>
              <a:t>sat</a:t>
            </a:r>
            <a:endParaRPr lang="en-US" sz="1200" dirty="0"/>
          </a:p>
        </p:txBody>
      </p:sp>
      <p:sp>
        <p:nvSpPr>
          <p:cNvPr id="17" name="Shape 14"/>
          <p:cNvSpPr/>
          <p:nvPr/>
        </p:nvSpPr>
        <p:spPr>
          <a:xfrm>
            <a:off x="3023616" y="1524000"/>
            <a:ext cx="560832" cy="426720"/>
          </a:xfrm>
          <a:prstGeom prst="rect">
            <a:avLst/>
          </a:prstGeom>
          <a:solidFill>
            <a:srgbClr val="EEF2FF"/>
          </a:solidFill>
          <a:ln w="12700">
            <a:solidFill>
              <a:srgbClr val="6D28D9"/>
            </a:solidFill>
            <a:prstDash val="solid"/>
          </a:ln>
        </p:spPr>
      </p:sp>
      <p:sp>
        <p:nvSpPr>
          <p:cNvPr id="18" name="Text 15"/>
          <p:cNvSpPr/>
          <p:nvPr/>
        </p:nvSpPr>
        <p:spPr>
          <a:xfrm>
            <a:off x="3023616" y="1524000"/>
            <a:ext cx="560832" cy="426720"/>
          </a:xfrm>
          <a:prstGeom prst="rect">
            <a:avLst/>
          </a:prstGeom>
          <a:noFill/>
          <a:ln/>
        </p:spPr>
        <p:txBody>
          <a:bodyPr wrap="square" lIns="0" tIns="0" rIns="0" bIns="0" rtlCol="0" anchor="ctr"/>
          <a:lstStyle/>
          <a:p>
            <a:pPr algn="ctr"/>
            <a:r>
              <a:rPr lang="en-US" sz="1200" b="1" dirty="0">
                <a:solidFill>
                  <a:srgbClr val="6D28D9"/>
                </a:solidFill>
                <a:latin typeface="Calibri" pitchFamily="34" charset="0"/>
                <a:ea typeface="Calibri" pitchFamily="34" charset="-122"/>
                <a:cs typeface="Calibri" pitchFamily="34" charset="-120"/>
              </a:rPr>
              <a:t>[SEP]</a:t>
            </a:r>
            <a:endParaRPr lang="en-US" sz="1200" dirty="0"/>
          </a:p>
        </p:txBody>
      </p:sp>
      <p:sp>
        <p:nvSpPr>
          <p:cNvPr id="19" name="Shape 16"/>
          <p:cNvSpPr/>
          <p:nvPr/>
        </p:nvSpPr>
        <p:spPr>
          <a:xfrm>
            <a:off x="487680" y="2170176"/>
            <a:ext cx="3413760" cy="914400"/>
          </a:xfrm>
          <a:prstGeom prst="rect">
            <a:avLst/>
          </a:prstGeom>
          <a:solidFill>
            <a:srgbClr val="EEF2FF"/>
          </a:solidFill>
          <a:ln w="6350">
            <a:solidFill>
              <a:srgbClr val="6D28D9"/>
            </a:solidFill>
            <a:prstDash val="solid"/>
          </a:ln>
          <a:effectLst>
            <a:outerShdw blurRad="101600" dist="38100" dir="8100000" algn="bl" rotWithShape="0">
              <a:srgbClr val="000000">
                <a:alpha val="10000"/>
              </a:srgbClr>
            </a:outerShdw>
          </a:effectLst>
        </p:spPr>
      </p:sp>
      <p:sp>
        <p:nvSpPr>
          <p:cNvPr id="20" name="Text 17"/>
          <p:cNvSpPr/>
          <p:nvPr/>
        </p:nvSpPr>
        <p:spPr>
          <a:xfrm>
            <a:off x="548640" y="2218944"/>
            <a:ext cx="3291840" cy="341376"/>
          </a:xfrm>
          <a:prstGeom prst="rect">
            <a:avLst/>
          </a:prstGeom>
          <a:noFill/>
          <a:ln/>
        </p:spPr>
        <p:txBody>
          <a:bodyPr wrap="square" lIns="0" tIns="0" rIns="0" bIns="0" rtlCol="0" anchor="ctr"/>
          <a:lstStyle/>
          <a:p>
            <a:pPr algn="ctr"/>
            <a:r>
              <a:rPr lang="en-US" sz="1600" b="1" dirty="0">
                <a:solidFill>
                  <a:srgbClr val="6D28D9"/>
                </a:solidFill>
                <a:latin typeface="Calibri" pitchFamily="34" charset="0"/>
                <a:ea typeface="Calibri" pitchFamily="34" charset="-122"/>
                <a:cs typeface="Calibri" pitchFamily="34" charset="-120"/>
              </a:rPr>
              <a:t>Embedding Layer</a:t>
            </a:r>
            <a:endParaRPr lang="en-US" sz="1600" dirty="0"/>
          </a:p>
        </p:txBody>
      </p:sp>
      <p:sp>
        <p:nvSpPr>
          <p:cNvPr id="21" name="Text 18"/>
          <p:cNvSpPr/>
          <p:nvPr/>
        </p:nvSpPr>
        <p:spPr>
          <a:xfrm>
            <a:off x="548640" y="2560320"/>
            <a:ext cx="3291840" cy="426720"/>
          </a:xfrm>
          <a:prstGeom prst="rect">
            <a:avLst/>
          </a:prstGeom>
          <a:noFill/>
          <a:ln/>
        </p:spPr>
        <p:txBody>
          <a:bodyPr wrap="square" lIns="0" tIns="0" rIns="0" bIns="0" rtlCol="0" anchor="ctr"/>
          <a:lstStyle/>
          <a:p>
            <a:pPr algn="ctr"/>
            <a:r>
              <a:rPr lang="en-US" sz="1333" dirty="0">
                <a:solidFill>
                  <a:srgbClr val="64748B"/>
                </a:solidFill>
                <a:latin typeface="Calibri" pitchFamily="34" charset="0"/>
                <a:ea typeface="Calibri" pitchFamily="34" charset="-122"/>
                <a:cs typeface="Calibri" pitchFamily="34" charset="-120"/>
              </a:rPr>
              <a:t>Token + Segment + Positional → summed</a:t>
            </a:r>
            <a:endParaRPr lang="en-US" sz="1333" dirty="0"/>
          </a:p>
        </p:txBody>
      </p:sp>
      <p:sp>
        <p:nvSpPr>
          <p:cNvPr id="22" name="Shape 19"/>
          <p:cNvSpPr/>
          <p:nvPr/>
        </p:nvSpPr>
        <p:spPr>
          <a:xfrm>
            <a:off x="4023360" y="2572512"/>
            <a:ext cx="365760" cy="48768"/>
          </a:xfrm>
          <a:prstGeom prst="rect">
            <a:avLst/>
          </a:prstGeom>
          <a:solidFill>
            <a:srgbClr val="0D9488"/>
          </a:solidFill>
          <a:ln w="12700">
            <a:solidFill>
              <a:srgbClr val="0D9488"/>
            </a:solidFill>
            <a:prstDash val="solid"/>
          </a:ln>
        </p:spPr>
      </p:sp>
      <p:sp>
        <p:nvSpPr>
          <p:cNvPr id="23" name="Shape 20"/>
          <p:cNvSpPr/>
          <p:nvPr/>
        </p:nvSpPr>
        <p:spPr>
          <a:xfrm>
            <a:off x="4511040" y="1524000"/>
            <a:ext cx="3413760" cy="2804160"/>
          </a:xfrm>
          <a:prstGeom prst="rect">
            <a:avLst/>
          </a:prstGeom>
          <a:solidFill>
            <a:srgbClr val="F5F3FF"/>
          </a:solidFill>
          <a:ln w="10160">
            <a:solidFill>
              <a:srgbClr val="6D28D9"/>
            </a:solidFill>
            <a:prstDash val="solid"/>
          </a:ln>
          <a:effectLst>
            <a:outerShdw blurRad="101600" dist="38100" dir="8100000" algn="bl" rotWithShape="0">
              <a:srgbClr val="000000">
                <a:alpha val="10000"/>
              </a:srgbClr>
            </a:outerShdw>
          </a:effectLst>
        </p:spPr>
      </p:sp>
      <p:sp>
        <p:nvSpPr>
          <p:cNvPr id="24" name="Shape 21"/>
          <p:cNvSpPr/>
          <p:nvPr/>
        </p:nvSpPr>
        <p:spPr>
          <a:xfrm>
            <a:off x="4511040" y="1524000"/>
            <a:ext cx="3413760" cy="463296"/>
          </a:xfrm>
          <a:prstGeom prst="rect">
            <a:avLst/>
          </a:prstGeom>
          <a:solidFill>
            <a:srgbClr val="6D28D9"/>
          </a:solidFill>
          <a:ln w="12700">
            <a:solidFill>
              <a:srgbClr val="6D28D9"/>
            </a:solidFill>
            <a:prstDash val="solid"/>
          </a:ln>
        </p:spPr>
      </p:sp>
      <p:sp>
        <p:nvSpPr>
          <p:cNvPr id="25" name="Text 22"/>
          <p:cNvSpPr/>
          <p:nvPr/>
        </p:nvSpPr>
        <p:spPr>
          <a:xfrm>
            <a:off x="4572000" y="1524000"/>
            <a:ext cx="329184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Transformer Encoder Block × 12</a:t>
            </a:r>
            <a:endParaRPr lang="en-US" sz="1467" dirty="0"/>
          </a:p>
        </p:txBody>
      </p:sp>
      <p:sp>
        <p:nvSpPr>
          <p:cNvPr id="26" name="Shape 23"/>
          <p:cNvSpPr/>
          <p:nvPr/>
        </p:nvSpPr>
        <p:spPr>
          <a:xfrm>
            <a:off x="4693920" y="2109216"/>
            <a:ext cx="3048000" cy="560832"/>
          </a:xfrm>
          <a:prstGeom prst="rect">
            <a:avLst/>
          </a:prstGeom>
          <a:solidFill>
            <a:srgbClr val="FFFFFF"/>
          </a:solidFill>
          <a:ln w="6350">
            <a:solidFill>
              <a:srgbClr val="0D9488"/>
            </a:solidFill>
            <a:prstDash val="solid"/>
          </a:ln>
        </p:spPr>
      </p:sp>
      <p:sp>
        <p:nvSpPr>
          <p:cNvPr id="27" name="Text 24"/>
          <p:cNvSpPr/>
          <p:nvPr/>
        </p:nvSpPr>
        <p:spPr>
          <a:xfrm>
            <a:off x="4754880" y="2145792"/>
            <a:ext cx="2926080" cy="268224"/>
          </a:xfrm>
          <a:prstGeom prst="rect">
            <a:avLst/>
          </a:prstGeom>
          <a:noFill/>
          <a:ln/>
        </p:spPr>
        <p:txBody>
          <a:bodyPr wrap="square" lIns="0" tIns="0" rIns="0" bIns="0" rtlCol="0" anchor="ctr"/>
          <a:lstStyle/>
          <a:p>
            <a:r>
              <a:rPr lang="en-US" sz="1333" b="1" dirty="0">
                <a:solidFill>
                  <a:srgbClr val="0F1E45"/>
                </a:solidFill>
                <a:latin typeface="Calibri" pitchFamily="34" charset="0"/>
                <a:ea typeface="Calibri" pitchFamily="34" charset="-122"/>
                <a:cs typeface="Calibri" pitchFamily="34" charset="-120"/>
              </a:rPr>
              <a:t>Multi-Head Self-Attention</a:t>
            </a:r>
            <a:endParaRPr lang="en-US" sz="1333" dirty="0"/>
          </a:p>
        </p:txBody>
      </p:sp>
      <p:sp>
        <p:nvSpPr>
          <p:cNvPr id="28" name="Text 25"/>
          <p:cNvSpPr/>
          <p:nvPr/>
        </p:nvSpPr>
        <p:spPr>
          <a:xfrm>
            <a:off x="4754880" y="2414016"/>
            <a:ext cx="2926080" cy="219456"/>
          </a:xfrm>
          <a:prstGeom prst="rect">
            <a:avLst/>
          </a:prstGeom>
          <a:noFill/>
          <a:ln/>
        </p:spPr>
        <p:txBody>
          <a:bodyPr wrap="square" lIns="0" tIns="0" rIns="0" bIns="0" rtlCol="0" anchor="ctr"/>
          <a:lstStyle/>
          <a:p>
            <a:r>
              <a:rPr lang="en-US" sz="1200" dirty="0">
                <a:solidFill>
                  <a:srgbClr val="64748B"/>
                </a:solidFill>
                <a:latin typeface="Calibri" pitchFamily="34" charset="0"/>
                <a:ea typeface="Calibri" pitchFamily="34" charset="-122"/>
                <a:cs typeface="Calibri" pitchFamily="34" charset="-120"/>
              </a:rPr>
              <a:t>12 heads · 768-dim</a:t>
            </a:r>
            <a:endParaRPr lang="en-US" sz="1200" dirty="0"/>
          </a:p>
        </p:txBody>
      </p:sp>
      <p:sp>
        <p:nvSpPr>
          <p:cNvPr id="29" name="Shape 26"/>
          <p:cNvSpPr/>
          <p:nvPr/>
        </p:nvSpPr>
        <p:spPr>
          <a:xfrm>
            <a:off x="4693920" y="2816352"/>
            <a:ext cx="3048000" cy="560832"/>
          </a:xfrm>
          <a:prstGeom prst="rect">
            <a:avLst/>
          </a:prstGeom>
          <a:solidFill>
            <a:srgbClr val="FFFFFF"/>
          </a:solidFill>
          <a:ln w="6350">
            <a:solidFill>
              <a:srgbClr val="D97706"/>
            </a:solidFill>
            <a:prstDash val="solid"/>
          </a:ln>
        </p:spPr>
      </p:sp>
      <p:sp>
        <p:nvSpPr>
          <p:cNvPr id="30" name="Text 27"/>
          <p:cNvSpPr/>
          <p:nvPr/>
        </p:nvSpPr>
        <p:spPr>
          <a:xfrm>
            <a:off x="4754880" y="2852928"/>
            <a:ext cx="2926080" cy="268224"/>
          </a:xfrm>
          <a:prstGeom prst="rect">
            <a:avLst/>
          </a:prstGeom>
          <a:noFill/>
          <a:ln/>
        </p:spPr>
        <p:txBody>
          <a:bodyPr wrap="square" lIns="0" tIns="0" rIns="0" bIns="0" rtlCol="0" anchor="ctr"/>
          <a:lstStyle/>
          <a:p>
            <a:r>
              <a:rPr lang="en-US" sz="1333" b="1" dirty="0">
                <a:solidFill>
                  <a:srgbClr val="0F1E45"/>
                </a:solidFill>
                <a:latin typeface="Calibri" pitchFamily="34" charset="0"/>
                <a:ea typeface="Calibri" pitchFamily="34" charset="-122"/>
                <a:cs typeface="Calibri" pitchFamily="34" charset="-120"/>
              </a:rPr>
              <a:t>Feed-Forward Network</a:t>
            </a:r>
            <a:endParaRPr lang="en-US" sz="1333" dirty="0"/>
          </a:p>
        </p:txBody>
      </p:sp>
      <p:sp>
        <p:nvSpPr>
          <p:cNvPr id="31" name="Text 28"/>
          <p:cNvSpPr/>
          <p:nvPr/>
        </p:nvSpPr>
        <p:spPr>
          <a:xfrm>
            <a:off x="4754880" y="3121152"/>
            <a:ext cx="2926080" cy="219456"/>
          </a:xfrm>
          <a:prstGeom prst="rect">
            <a:avLst/>
          </a:prstGeom>
          <a:noFill/>
          <a:ln/>
        </p:spPr>
        <p:txBody>
          <a:bodyPr wrap="square" lIns="0" tIns="0" rIns="0" bIns="0" rtlCol="0" anchor="ctr"/>
          <a:lstStyle/>
          <a:p>
            <a:r>
              <a:rPr lang="en-US" sz="1200" dirty="0">
                <a:solidFill>
                  <a:srgbClr val="64748B"/>
                </a:solidFill>
                <a:latin typeface="Calibri" pitchFamily="34" charset="0"/>
                <a:ea typeface="Calibri" pitchFamily="34" charset="-122"/>
                <a:cs typeface="Calibri" pitchFamily="34" charset="-120"/>
              </a:rPr>
              <a:t>2 linear layers · GELU</a:t>
            </a:r>
            <a:endParaRPr lang="en-US" sz="1200" dirty="0"/>
          </a:p>
        </p:txBody>
      </p:sp>
      <p:sp>
        <p:nvSpPr>
          <p:cNvPr id="32" name="Shape 29"/>
          <p:cNvSpPr/>
          <p:nvPr/>
        </p:nvSpPr>
        <p:spPr>
          <a:xfrm>
            <a:off x="4693920" y="3523488"/>
            <a:ext cx="3048000" cy="560832"/>
          </a:xfrm>
          <a:prstGeom prst="rect">
            <a:avLst/>
          </a:prstGeom>
          <a:solidFill>
            <a:srgbClr val="FFFFFF"/>
          </a:solidFill>
          <a:ln w="6350">
            <a:solidFill>
              <a:srgbClr val="0EA5E9"/>
            </a:solidFill>
            <a:prstDash val="solid"/>
          </a:ln>
        </p:spPr>
      </p:sp>
      <p:sp>
        <p:nvSpPr>
          <p:cNvPr id="33" name="Text 30"/>
          <p:cNvSpPr/>
          <p:nvPr/>
        </p:nvSpPr>
        <p:spPr>
          <a:xfrm>
            <a:off x="4754880" y="3560064"/>
            <a:ext cx="2926080" cy="268224"/>
          </a:xfrm>
          <a:prstGeom prst="rect">
            <a:avLst/>
          </a:prstGeom>
          <a:noFill/>
          <a:ln/>
        </p:spPr>
        <p:txBody>
          <a:bodyPr wrap="square" lIns="0" tIns="0" rIns="0" bIns="0" rtlCol="0" anchor="ctr"/>
          <a:lstStyle/>
          <a:p>
            <a:r>
              <a:rPr lang="en-US" sz="1333" b="1" dirty="0">
                <a:solidFill>
                  <a:srgbClr val="0F1E45"/>
                </a:solidFill>
                <a:latin typeface="Calibri" pitchFamily="34" charset="0"/>
                <a:ea typeface="Calibri" pitchFamily="34" charset="-122"/>
                <a:cs typeface="Calibri" pitchFamily="34" charset="-120"/>
              </a:rPr>
              <a:t>Add &amp; LayerNorm ×2</a:t>
            </a:r>
            <a:endParaRPr lang="en-US" sz="1333" dirty="0"/>
          </a:p>
        </p:txBody>
      </p:sp>
      <p:sp>
        <p:nvSpPr>
          <p:cNvPr id="34" name="Text 31"/>
          <p:cNvSpPr/>
          <p:nvPr/>
        </p:nvSpPr>
        <p:spPr>
          <a:xfrm>
            <a:off x="4754880" y="3828288"/>
            <a:ext cx="2926080" cy="219456"/>
          </a:xfrm>
          <a:prstGeom prst="rect">
            <a:avLst/>
          </a:prstGeom>
          <a:noFill/>
          <a:ln/>
        </p:spPr>
        <p:txBody>
          <a:bodyPr wrap="square" lIns="0" tIns="0" rIns="0" bIns="0" rtlCol="0" anchor="ctr"/>
          <a:lstStyle/>
          <a:p>
            <a:r>
              <a:rPr lang="en-US" sz="1200" dirty="0">
                <a:solidFill>
                  <a:srgbClr val="64748B"/>
                </a:solidFill>
                <a:latin typeface="Calibri" pitchFamily="34" charset="0"/>
                <a:ea typeface="Calibri" pitchFamily="34" charset="-122"/>
                <a:cs typeface="Calibri" pitchFamily="34" charset="-120"/>
              </a:rPr>
              <a:t>residual connections</a:t>
            </a:r>
            <a:endParaRPr lang="en-US" sz="1200" dirty="0"/>
          </a:p>
        </p:txBody>
      </p:sp>
      <p:sp>
        <p:nvSpPr>
          <p:cNvPr id="35" name="Shape 32"/>
          <p:cNvSpPr/>
          <p:nvPr/>
        </p:nvSpPr>
        <p:spPr>
          <a:xfrm>
            <a:off x="8046720" y="2572512"/>
            <a:ext cx="365760" cy="48768"/>
          </a:xfrm>
          <a:prstGeom prst="rect">
            <a:avLst/>
          </a:prstGeom>
          <a:solidFill>
            <a:srgbClr val="0D9488"/>
          </a:solidFill>
          <a:ln w="12700">
            <a:solidFill>
              <a:srgbClr val="0D9488"/>
            </a:solidFill>
            <a:prstDash val="solid"/>
          </a:ln>
        </p:spPr>
      </p:sp>
      <p:sp>
        <p:nvSpPr>
          <p:cNvPr id="36" name="Shape 33"/>
          <p:cNvSpPr/>
          <p:nvPr/>
        </p:nvSpPr>
        <p:spPr>
          <a:xfrm>
            <a:off x="8534400" y="1524000"/>
            <a:ext cx="3169920" cy="2804160"/>
          </a:xfrm>
          <a:prstGeom prst="rect">
            <a:avLst/>
          </a:prstGeom>
          <a:solidFill>
            <a:srgbClr val="FFFBEB"/>
          </a:solidFill>
          <a:ln w="6350">
            <a:solidFill>
              <a:srgbClr val="D97706"/>
            </a:solidFill>
            <a:prstDash val="solid"/>
          </a:ln>
          <a:effectLst>
            <a:outerShdw blurRad="101600" dist="38100" dir="8100000" algn="bl" rotWithShape="0">
              <a:srgbClr val="000000">
                <a:alpha val="10000"/>
              </a:srgbClr>
            </a:outerShdw>
          </a:effectLst>
        </p:spPr>
      </p:sp>
      <p:sp>
        <p:nvSpPr>
          <p:cNvPr id="37" name="Shape 34"/>
          <p:cNvSpPr/>
          <p:nvPr/>
        </p:nvSpPr>
        <p:spPr>
          <a:xfrm>
            <a:off x="8534400" y="1524000"/>
            <a:ext cx="3169920" cy="463296"/>
          </a:xfrm>
          <a:prstGeom prst="rect">
            <a:avLst/>
          </a:prstGeom>
          <a:solidFill>
            <a:srgbClr val="D97706"/>
          </a:solidFill>
          <a:ln w="12700">
            <a:solidFill>
              <a:srgbClr val="D97706"/>
            </a:solidFill>
            <a:prstDash val="solid"/>
          </a:ln>
        </p:spPr>
      </p:sp>
      <p:sp>
        <p:nvSpPr>
          <p:cNvPr id="38" name="Text 35"/>
          <p:cNvSpPr/>
          <p:nvPr/>
        </p:nvSpPr>
        <p:spPr>
          <a:xfrm>
            <a:off x="8595360" y="1524000"/>
            <a:ext cx="3048000" cy="463296"/>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Contextual Output</a:t>
            </a:r>
            <a:endParaRPr lang="en-US" sz="1600" dirty="0"/>
          </a:p>
        </p:txBody>
      </p:sp>
      <p:sp>
        <p:nvSpPr>
          <p:cNvPr id="39" name="Shape 36"/>
          <p:cNvSpPr/>
          <p:nvPr/>
        </p:nvSpPr>
        <p:spPr>
          <a:xfrm>
            <a:off x="8717280" y="2133600"/>
            <a:ext cx="2804160" cy="792480"/>
          </a:xfrm>
          <a:prstGeom prst="rect">
            <a:avLst/>
          </a:prstGeom>
          <a:solidFill>
            <a:srgbClr val="FFFFFF"/>
          </a:solidFill>
          <a:ln w="6350">
            <a:solidFill>
              <a:srgbClr val="D97706"/>
            </a:solidFill>
            <a:prstDash val="solid"/>
          </a:ln>
        </p:spPr>
      </p:sp>
      <p:sp>
        <p:nvSpPr>
          <p:cNvPr id="40" name="Text 37"/>
          <p:cNvSpPr/>
          <p:nvPr/>
        </p:nvSpPr>
        <p:spPr>
          <a:xfrm>
            <a:off x="8778240" y="2170176"/>
            <a:ext cx="2682240" cy="341376"/>
          </a:xfrm>
          <a:prstGeom prst="rect">
            <a:avLst/>
          </a:prstGeom>
          <a:noFill/>
          <a:ln/>
        </p:spPr>
        <p:txBody>
          <a:bodyPr wrap="square" lIns="0" tIns="0" rIns="0" bIns="0" rtlCol="0" anchor="ctr"/>
          <a:lstStyle/>
          <a:p>
            <a:r>
              <a:rPr lang="en-US" sz="1333" b="1" dirty="0">
                <a:solidFill>
                  <a:srgbClr val="D97706"/>
                </a:solidFill>
                <a:latin typeface="Calibri" pitchFamily="34" charset="0"/>
                <a:ea typeface="Calibri" pitchFamily="34" charset="-122"/>
                <a:cs typeface="Calibri" pitchFamily="34" charset="-120"/>
              </a:rPr>
              <a:t>[CLS] vector C</a:t>
            </a:r>
            <a:endParaRPr lang="en-US" sz="1333" dirty="0"/>
          </a:p>
        </p:txBody>
      </p:sp>
      <p:sp>
        <p:nvSpPr>
          <p:cNvPr id="41" name="Text 38"/>
          <p:cNvSpPr/>
          <p:nvPr/>
        </p:nvSpPr>
        <p:spPr>
          <a:xfrm>
            <a:off x="8778240" y="2511552"/>
            <a:ext cx="2682240" cy="304800"/>
          </a:xfrm>
          <a:prstGeom prst="rect">
            <a:avLst/>
          </a:prstGeom>
          <a:noFill/>
          <a:ln/>
        </p:spPr>
        <p:txBody>
          <a:bodyPr wrap="square" lIns="0" tIns="0" rIns="0" bIns="0" rtlCol="0" anchor="ctr"/>
          <a:lstStyle/>
          <a:p>
            <a:r>
              <a:rPr lang="en-US" sz="1200" dirty="0">
                <a:solidFill>
                  <a:srgbClr val="64748B"/>
                </a:solidFill>
                <a:latin typeface="Calibri" pitchFamily="34" charset="0"/>
                <a:ea typeface="Calibri" pitchFamily="34" charset="-122"/>
                <a:cs typeface="Calibri" pitchFamily="34" charset="-120"/>
              </a:rPr>
              <a:t>Sentence tasks</a:t>
            </a:r>
            <a:endParaRPr lang="en-US" sz="1200" dirty="0"/>
          </a:p>
        </p:txBody>
      </p:sp>
      <p:sp>
        <p:nvSpPr>
          <p:cNvPr id="42" name="Shape 39"/>
          <p:cNvSpPr/>
          <p:nvPr/>
        </p:nvSpPr>
        <p:spPr>
          <a:xfrm>
            <a:off x="8717280" y="3108960"/>
            <a:ext cx="2804160" cy="792480"/>
          </a:xfrm>
          <a:prstGeom prst="rect">
            <a:avLst/>
          </a:prstGeom>
          <a:solidFill>
            <a:srgbClr val="FFFFFF"/>
          </a:solidFill>
          <a:ln w="6350">
            <a:solidFill>
              <a:srgbClr val="0D9488"/>
            </a:solidFill>
            <a:prstDash val="solid"/>
          </a:ln>
        </p:spPr>
      </p:sp>
      <p:sp>
        <p:nvSpPr>
          <p:cNvPr id="43" name="Text 40"/>
          <p:cNvSpPr/>
          <p:nvPr/>
        </p:nvSpPr>
        <p:spPr>
          <a:xfrm>
            <a:off x="8778240" y="3145536"/>
            <a:ext cx="2682240" cy="341376"/>
          </a:xfrm>
          <a:prstGeom prst="rect">
            <a:avLst/>
          </a:prstGeom>
          <a:noFill/>
          <a:ln/>
        </p:spPr>
        <p:txBody>
          <a:bodyPr wrap="square" lIns="0" tIns="0" rIns="0" bIns="0" rtlCol="0" anchor="ctr"/>
          <a:lstStyle/>
          <a:p>
            <a:r>
              <a:rPr lang="en-US" sz="1333" b="1" dirty="0">
                <a:solidFill>
                  <a:srgbClr val="0D9488"/>
                </a:solidFill>
                <a:latin typeface="Calibri" pitchFamily="34" charset="0"/>
                <a:ea typeface="Calibri" pitchFamily="34" charset="-122"/>
                <a:cs typeface="Calibri" pitchFamily="34" charset="-120"/>
              </a:rPr>
              <a:t>Token vectors T₁…Tₙ</a:t>
            </a:r>
            <a:endParaRPr lang="en-US" sz="1333" dirty="0"/>
          </a:p>
        </p:txBody>
      </p:sp>
      <p:sp>
        <p:nvSpPr>
          <p:cNvPr id="44" name="Text 41"/>
          <p:cNvSpPr/>
          <p:nvPr/>
        </p:nvSpPr>
        <p:spPr>
          <a:xfrm>
            <a:off x="8778240" y="3486912"/>
            <a:ext cx="2682240" cy="304800"/>
          </a:xfrm>
          <a:prstGeom prst="rect">
            <a:avLst/>
          </a:prstGeom>
          <a:noFill/>
          <a:ln/>
        </p:spPr>
        <p:txBody>
          <a:bodyPr wrap="square" lIns="0" tIns="0" rIns="0" bIns="0" rtlCol="0" anchor="ctr"/>
          <a:lstStyle/>
          <a:p>
            <a:r>
              <a:rPr lang="en-US" sz="1200" dirty="0">
                <a:solidFill>
                  <a:srgbClr val="64748B"/>
                </a:solidFill>
                <a:latin typeface="Calibri" pitchFamily="34" charset="0"/>
                <a:ea typeface="Calibri" pitchFamily="34" charset="-122"/>
                <a:cs typeface="Calibri" pitchFamily="34" charset="-120"/>
              </a:rPr>
              <a:t>Token tasks (NER)</a:t>
            </a:r>
            <a:endParaRPr lang="en-US" sz="1200" dirty="0"/>
          </a:p>
        </p:txBody>
      </p:sp>
      <p:graphicFrame>
        <p:nvGraphicFramePr>
          <p:cNvPr id="5" name="Table 0"/>
          <p:cNvGraphicFramePr>
            <a:graphicFrameLocks noGrp="1"/>
          </p:cNvGraphicFramePr>
          <p:nvPr/>
        </p:nvGraphicFramePr>
        <p:xfrm>
          <a:off x="487680" y="4572000"/>
          <a:ext cx="4876800" cy="1950720"/>
        </p:xfrm>
        <a:graphic>
          <a:graphicData uri="http://schemas.openxmlformats.org/drawingml/2006/table">
            <a:tbl>
              <a:tblPr/>
              <a:tblGrid>
                <a:gridCol w="219456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gridCol w="1341120">
                  <a:extLst>
                    <a:ext uri="{9D8B030D-6E8A-4147-A177-3AD203B41FA5}">
                      <a16:colId xmlns:a16="http://schemas.microsoft.com/office/drawing/2014/main" val="20002"/>
                    </a:ext>
                  </a:extLst>
                </a:gridCol>
              </a:tblGrid>
              <a:tr h="390144">
                <a:tc>
                  <a:txBody>
                    <a:bodyPr/>
                    <a:lstStyle/>
                    <a:p>
                      <a:pPr marL="0" indent="0" algn="ctr">
                        <a:buNone/>
                      </a:pP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E45"/>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BERT-base</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E45"/>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BERT-large</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E45"/>
                    </a:solidFill>
                  </a:tcPr>
                </a:tc>
                <a:extLst>
                  <a:ext uri="{0D108BD9-81ED-4DB2-BD59-A6C34878D82A}">
                    <a16:rowId xmlns:a16="http://schemas.microsoft.com/office/drawing/2014/main" val="10000"/>
                  </a:ext>
                </a:extLst>
              </a:tr>
              <a:tr h="390144">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Encoder Layers</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24</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0144">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Attention Heads</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0144">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Hidden Size</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768</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1024</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0144">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Parameters</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110M</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F1E45"/>
                          </a:solidFill>
                          <a:latin typeface="Calibri" pitchFamily="34" charset="0"/>
                          <a:ea typeface="Calibri" pitchFamily="34" charset="-122"/>
                          <a:cs typeface="Calibri" pitchFamily="34" charset="-120"/>
                        </a:rPr>
                        <a:t>340M</a:t>
                      </a:r>
                      <a:endParaRPr lang="en-US" sz="1500" dirty="0">
                        <a:latin typeface="Calibri" charset="0"/>
                        <a:ea typeface="Calibri" charset="0"/>
                        <a:cs typeface="Calibri" charset="0"/>
                      </a:endParaRPr>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365886B8-DD8D-7A94-CDCB-5179574A9815}"/>
              </a:ext>
            </a:extLst>
          </p:cNvPr>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BERT Model Architecture</a:t>
            </a:r>
            <a:endParaRPr lang="en-US" sz="3467" dirty="0"/>
          </a:p>
        </p:txBody>
      </p:sp>
      <p:sp>
        <p:nvSpPr>
          <p:cNvPr id="4" name="Content Placeholder 3">
            <a:extLst>
              <a:ext uri="{FF2B5EF4-FFF2-40B4-BE49-F238E27FC236}">
                <a16:creationId xmlns:a16="http://schemas.microsoft.com/office/drawing/2014/main" id="{15FF0B15-9F30-A10C-A0EC-0CBD208A0A66}"/>
              </a:ext>
            </a:extLst>
          </p:cNvPr>
          <p:cNvSpPr>
            <a:spLocks noGrp="1"/>
          </p:cNvSpPr>
          <p:nvPr>
            <p:ph idx="1"/>
          </p:nvPr>
        </p:nvSpPr>
        <p:spPr/>
        <p:txBody>
          <a:bodyPr/>
          <a:lstStyle/>
          <a:p>
            <a:r>
              <a:rPr lang="en-IN" dirty="0"/>
              <a:t>BERT is built on the </a:t>
            </a:r>
            <a:r>
              <a:rPr lang="en-IN" b="1" dirty="0"/>
              <a:t>Transformer encoder</a:t>
            </a:r>
            <a:r>
              <a:rPr lang="en-IN" dirty="0"/>
              <a:t> — specifically, it stacks multiple encoder blocks.</a:t>
            </a:r>
          </a:p>
          <a:p>
            <a:endParaRPr lang="en-IN" dirty="0"/>
          </a:p>
          <a:p>
            <a:r>
              <a:rPr lang="en-IN" dirty="0"/>
              <a:t>There are two standard sizes:</a:t>
            </a:r>
          </a:p>
          <a:p>
            <a:r>
              <a:rPr lang="en-IN" b="1" dirty="0"/>
              <a:t>BERT-Base</a:t>
            </a:r>
            <a:r>
              <a:rPr lang="en-IN" dirty="0"/>
              <a:t>: 12 encoder layers, 12 attention heads, 768 hidden dimensions → 110M parameters</a:t>
            </a:r>
          </a:p>
          <a:p>
            <a:r>
              <a:rPr lang="en-IN" b="1" dirty="0"/>
              <a:t>BERT-Large</a:t>
            </a:r>
            <a:r>
              <a:rPr lang="en-IN" dirty="0"/>
              <a:t>: 24 layers, 16 heads, 1024 hidden dimensions → 340M parameters</a:t>
            </a:r>
          </a:p>
          <a:p>
            <a:endParaRPr lang="en-IN" dirty="0"/>
          </a:p>
        </p:txBody>
      </p:sp>
    </p:spTree>
    <p:extLst>
      <p:ext uri="{BB962C8B-B14F-4D97-AF65-F5344CB8AC3E}">
        <p14:creationId xmlns:p14="http://schemas.microsoft.com/office/powerpoint/2010/main" val="3850136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11B35C-20E3-4BDE-0667-DFBDFCDA4B4E}"/>
              </a:ext>
            </a:extLst>
          </p:cNvPr>
          <p:cNvSpPr txBox="1"/>
          <p:nvPr/>
        </p:nvSpPr>
        <p:spPr>
          <a:xfrm>
            <a:off x="4699819" y="346276"/>
            <a:ext cx="6096000" cy="369332"/>
          </a:xfrm>
          <a:prstGeom prst="rect">
            <a:avLst/>
          </a:prstGeom>
          <a:noFill/>
        </p:spPr>
        <p:txBody>
          <a:bodyPr wrap="square">
            <a:spAutoFit/>
          </a:bodyPr>
          <a:lstStyle/>
          <a:p>
            <a:pPr algn="l" fontAlgn="base">
              <a:spcAft>
                <a:spcPts val="1125"/>
              </a:spcAft>
            </a:pPr>
            <a:r>
              <a:rPr lang="en-IN" b="1" i="0" dirty="0">
                <a:solidFill>
                  <a:srgbClr val="222222"/>
                </a:solidFill>
                <a:effectLst/>
                <a:latin typeface="Helvetica Neue"/>
              </a:rPr>
              <a:t>Model Architecture</a:t>
            </a:r>
          </a:p>
        </p:txBody>
      </p:sp>
      <p:pic>
        <p:nvPicPr>
          <p:cNvPr id="5" name="Picture 4">
            <a:extLst>
              <a:ext uri="{FF2B5EF4-FFF2-40B4-BE49-F238E27FC236}">
                <a16:creationId xmlns:a16="http://schemas.microsoft.com/office/drawing/2014/main" id="{60E1D6F3-85A9-F24B-479F-612B2DD3E628}"/>
              </a:ext>
            </a:extLst>
          </p:cNvPr>
          <p:cNvPicPr>
            <a:picLocks noChangeAspect="1"/>
          </p:cNvPicPr>
          <p:nvPr/>
        </p:nvPicPr>
        <p:blipFill>
          <a:blip r:embed="rId2"/>
          <a:stretch>
            <a:fillRect/>
          </a:stretch>
        </p:blipFill>
        <p:spPr>
          <a:xfrm>
            <a:off x="1759950" y="715608"/>
            <a:ext cx="6233700" cy="4130398"/>
          </a:xfrm>
          <a:prstGeom prst="rect">
            <a:avLst/>
          </a:prstGeom>
        </p:spPr>
      </p:pic>
      <p:sp>
        <p:nvSpPr>
          <p:cNvPr id="7" name="TextBox 6">
            <a:extLst>
              <a:ext uri="{FF2B5EF4-FFF2-40B4-BE49-F238E27FC236}">
                <a16:creationId xmlns:a16="http://schemas.microsoft.com/office/drawing/2014/main" id="{F9D21DAD-CF66-C919-3890-2D8809DA0CF8}"/>
              </a:ext>
            </a:extLst>
          </p:cNvPr>
          <p:cNvSpPr txBox="1"/>
          <p:nvPr/>
        </p:nvSpPr>
        <p:spPr>
          <a:xfrm>
            <a:off x="422787" y="5496061"/>
            <a:ext cx="6096000" cy="646331"/>
          </a:xfrm>
          <a:prstGeom prst="rect">
            <a:avLst/>
          </a:prstGeom>
          <a:noFill/>
        </p:spPr>
        <p:txBody>
          <a:bodyPr wrap="square">
            <a:spAutoFit/>
          </a:bodyPr>
          <a:lstStyle/>
          <a:p>
            <a:pPr algn="l" fontAlgn="base">
              <a:spcBef>
                <a:spcPts val="1125"/>
              </a:spcBef>
              <a:spcAft>
                <a:spcPts val="1125"/>
              </a:spcAft>
              <a:buFont typeface="Arial" panose="020B0604020202020204" pitchFamily="34" charset="0"/>
              <a:buChar char="•"/>
            </a:pPr>
            <a:r>
              <a:rPr lang="en-US" b="0" i="0" dirty="0">
                <a:solidFill>
                  <a:srgbClr val="222222"/>
                </a:solidFill>
                <a:effectLst/>
                <a:latin typeface="Helvetica" panose="020B0604020202020204" pitchFamily="34" charset="0"/>
              </a:rPr>
              <a:t>BERT BASE – Comparable in size to the OpenAI Transformer in order to compare performance</a:t>
            </a:r>
          </a:p>
        </p:txBody>
      </p:sp>
      <p:sp>
        <p:nvSpPr>
          <p:cNvPr id="9" name="TextBox 8">
            <a:extLst>
              <a:ext uri="{FF2B5EF4-FFF2-40B4-BE49-F238E27FC236}">
                <a16:creationId xmlns:a16="http://schemas.microsoft.com/office/drawing/2014/main" id="{DAB57887-2F44-0D77-6FCE-F669650D413E}"/>
              </a:ext>
            </a:extLst>
          </p:cNvPr>
          <p:cNvSpPr txBox="1"/>
          <p:nvPr/>
        </p:nvSpPr>
        <p:spPr>
          <a:xfrm>
            <a:off x="6204155" y="5496060"/>
            <a:ext cx="5987845" cy="646331"/>
          </a:xfrm>
          <a:prstGeom prst="rect">
            <a:avLst/>
          </a:prstGeom>
          <a:noFill/>
        </p:spPr>
        <p:txBody>
          <a:bodyPr wrap="square">
            <a:spAutoFit/>
          </a:bodyPr>
          <a:lstStyle/>
          <a:p>
            <a:pPr algn="l" fontAlgn="base">
              <a:spcBef>
                <a:spcPts val="1125"/>
              </a:spcBef>
              <a:spcAft>
                <a:spcPts val="1125"/>
              </a:spcAft>
              <a:buFont typeface="Arial" panose="020B0604020202020204" pitchFamily="34" charset="0"/>
              <a:buChar char="•"/>
            </a:pPr>
            <a:r>
              <a:rPr lang="en-US" b="0" i="0" dirty="0">
                <a:solidFill>
                  <a:srgbClr val="222222"/>
                </a:solidFill>
                <a:effectLst/>
                <a:latin typeface="Helvetica" panose="020B0604020202020204" pitchFamily="34" charset="0"/>
              </a:rPr>
              <a:t>BERT LARGE – A ridiculously huge model which achieved the state of the art results reported in the paper</a:t>
            </a:r>
          </a:p>
        </p:txBody>
      </p:sp>
    </p:spTree>
    <p:extLst>
      <p:ext uri="{BB962C8B-B14F-4D97-AF65-F5344CB8AC3E}">
        <p14:creationId xmlns:p14="http://schemas.microsoft.com/office/powerpoint/2010/main" val="1974380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67D76-0D46-581B-83CF-F75A66216856}"/>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6C56080F-EA1B-7D93-0E3C-D689DC2A375C}"/>
              </a:ext>
            </a:extLst>
          </p:cNvPr>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BERT Model Architecture</a:t>
            </a:r>
            <a:endParaRPr lang="en-US" sz="3467" dirty="0"/>
          </a:p>
        </p:txBody>
      </p:sp>
      <p:sp>
        <p:nvSpPr>
          <p:cNvPr id="5" name="Content Placeholder 4">
            <a:extLst>
              <a:ext uri="{FF2B5EF4-FFF2-40B4-BE49-F238E27FC236}">
                <a16:creationId xmlns:a16="http://schemas.microsoft.com/office/drawing/2014/main" id="{F5E05007-C166-587C-9F6C-3CD462AE9E7B}"/>
              </a:ext>
            </a:extLst>
          </p:cNvPr>
          <p:cNvSpPr>
            <a:spLocks noGrp="1"/>
          </p:cNvSpPr>
          <p:nvPr>
            <p:ph idx="1"/>
          </p:nvPr>
        </p:nvSpPr>
        <p:spPr/>
        <p:txBody>
          <a:bodyPr/>
          <a:lstStyle/>
          <a:p>
            <a:r>
              <a:rPr lang="en-IN" dirty="0"/>
              <a:t>Step 1 — Input representation</a:t>
            </a:r>
          </a:p>
          <a:p>
            <a:r>
              <a:rPr lang="en-IN" dirty="0"/>
              <a:t>Every token gets three embeddings added together:</a:t>
            </a:r>
          </a:p>
          <a:p>
            <a:r>
              <a:rPr lang="en-IN" dirty="0"/>
              <a:t> a </a:t>
            </a:r>
            <a:r>
              <a:rPr lang="en-IN" b="1" dirty="0"/>
              <a:t>token embedding</a:t>
            </a:r>
            <a:r>
              <a:rPr lang="en-IN" dirty="0"/>
              <a:t> (what word it is),</a:t>
            </a:r>
          </a:p>
          <a:p>
            <a:r>
              <a:rPr lang="en-IN" dirty="0"/>
              <a:t> a </a:t>
            </a:r>
            <a:r>
              <a:rPr lang="en-IN" b="1" dirty="0"/>
              <a:t>segment embedding</a:t>
            </a:r>
            <a:r>
              <a:rPr lang="en-IN" dirty="0"/>
              <a:t> (sentence A or B), and a </a:t>
            </a:r>
          </a:p>
          <a:p>
            <a:r>
              <a:rPr lang="en-IN" b="1" dirty="0"/>
              <a:t>position embedding</a:t>
            </a:r>
            <a:r>
              <a:rPr lang="en-IN" dirty="0"/>
              <a:t> (where in the sequence it sits).  Representation</a:t>
            </a:r>
          </a:p>
          <a:p>
            <a:endParaRPr lang="en-IN" dirty="0"/>
          </a:p>
          <a:p>
            <a:r>
              <a:rPr lang="en-IN" dirty="0"/>
              <a:t>BERT also prepends a special [CLS] token whose final hidden state is used for classification tasks, and inserts [SEP] to separate sentences.</a:t>
            </a:r>
          </a:p>
        </p:txBody>
      </p:sp>
    </p:spTree>
    <p:extLst>
      <p:ext uri="{BB962C8B-B14F-4D97-AF65-F5344CB8AC3E}">
        <p14:creationId xmlns:p14="http://schemas.microsoft.com/office/powerpoint/2010/main" val="3075753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3CF80-2D21-9605-51B7-4A66648F5B0B}"/>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393CA454-1A66-AC60-5443-9AF62B668A91}"/>
              </a:ext>
            </a:extLst>
          </p:cNvPr>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BERT Model Architecture</a:t>
            </a:r>
            <a:endParaRPr lang="en-US" sz="3467" dirty="0"/>
          </a:p>
        </p:txBody>
      </p:sp>
      <p:pic>
        <p:nvPicPr>
          <p:cNvPr id="7" name="Content Placeholder 6">
            <a:extLst>
              <a:ext uri="{FF2B5EF4-FFF2-40B4-BE49-F238E27FC236}">
                <a16:creationId xmlns:a16="http://schemas.microsoft.com/office/drawing/2014/main" id="{353E790A-7155-D706-DE27-68CA06D17D2B}"/>
              </a:ext>
            </a:extLst>
          </p:cNvPr>
          <p:cNvPicPr>
            <a:picLocks noGrp="1" noChangeAspect="1"/>
          </p:cNvPicPr>
          <p:nvPr>
            <p:ph idx="1"/>
          </p:nvPr>
        </p:nvPicPr>
        <p:blipFill>
          <a:blip r:embed="rId2"/>
          <a:stretch>
            <a:fillRect/>
          </a:stretch>
        </p:blipFill>
        <p:spPr>
          <a:xfrm>
            <a:off x="1699846" y="1227919"/>
            <a:ext cx="7482521" cy="4720454"/>
          </a:xfrm>
          <a:prstGeom prst="rect">
            <a:avLst/>
          </a:prstGeom>
        </p:spPr>
      </p:pic>
    </p:spTree>
    <p:extLst>
      <p:ext uri="{BB962C8B-B14F-4D97-AF65-F5344CB8AC3E}">
        <p14:creationId xmlns:p14="http://schemas.microsoft.com/office/powerpoint/2010/main" val="610536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51EA6-A042-A761-A2B8-AC0DD763D8DC}"/>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EE60A29A-1B31-88A9-2965-D3023D15CC46}"/>
              </a:ext>
            </a:extLst>
          </p:cNvPr>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BERT Model Architecture</a:t>
            </a:r>
            <a:endParaRPr lang="en-US" sz="3467" dirty="0"/>
          </a:p>
        </p:txBody>
      </p:sp>
      <p:sp>
        <p:nvSpPr>
          <p:cNvPr id="4" name="Content Placeholder 3">
            <a:extLst>
              <a:ext uri="{FF2B5EF4-FFF2-40B4-BE49-F238E27FC236}">
                <a16:creationId xmlns:a16="http://schemas.microsoft.com/office/drawing/2014/main" id="{5F4684C6-FF1A-21C8-3B01-92898CF9F6FF}"/>
              </a:ext>
            </a:extLst>
          </p:cNvPr>
          <p:cNvSpPr>
            <a:spLocks noGrp="1"/>
          </p:cNvSpPr>
          <p:nvPr>
            <p:ph idx="1"/>
          </p:nvPr>
        </p:nvSpPr>
        <p:spPr/>
        <p:txBody>
          <a:bodyPr/>
          <a:lstStyle/>
          <a:p>
            <a:r>
              <a:rPr lang="en-IN" dirty="0"/>
              <a:t>Step 2 — Inside one Transformer encoder block</a:t>
            </a:r>
          </a:p>
          <a:p>
            <a:r>
              <a:rPr lang="en-IN" dirty="0"/>
              <a:t>The input vectors pass through 12 (or 24) identical encoder blocks stacked on top of each other.</a:t>
            </a:r>
          </a:p>
          <a:p>
            <a:r>
              <a:rPr lang="en-IN" dirty="0"/>
              <a:t> Each  block has two sub-layers: </a:t>
            </a:r>
            <a:r>
              <a:rPr lang="en-IN" b="1" dirty="0"/>
              <a:t>Multi-Head Self-Attention</a:t>
            </a:r>
          </a:p>
          <a:p>
            <a:r>
              <a:rPr lang="en-IN" dirty="0"/>
              <a:t> </a:t>
            </a:r>
            <a:r>
              <a:rPr lang="en-IN" b="1" dirty="0"/>
              <a:t>Feed-Forward Network</a:t>
            </a:r>
            <a:r>
              <a:rPr lang="en-IN" dirty="0"/>
              <a:t>,</a:t>
            </a:r>
          </a:p>
          <a:p>
            <a:r>
              <a:rPr lang="en-IN" dirty="0"/>
              <a:t> with layer normalization and residual connections around each. one Transformer encoder block</a:t>
            </a:r>
          </a:p>
        </p:txBody>
      </p:sp>
    </p:spTree>
    <p:extLst>
      <p:ext uri="{BB962C8B-B14F-4D97-AF65-F5344CB8AC3E}">
        <p14:creationId xmlns:p14="http://schemas.microsoft.com/office/powerpoint/2010/main" val="1842487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7DA6C-2C81-BA04-A8CD-18BC594F5FFC}"/>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B404574B-94A5-3A7C-546D-9235DC92CAB6}"/>
              </a:ext>
            </a:extLst>
          </p:cNvPr>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BERT Model Architecture</a:t>
            </a:r>
            <a:endParaRPr lang="en-US" sz="3467" dirty="0"/>
          </a:p>
        </p:txBody>
      </p:sp>
      <p:pic>
        <p:nvPicPr>
          <p:cNvPr id="7" name="Content Placeholder 6">
            <a:extLst>
              <a:ext uri="{FF2B5EF4-FFF2-40B4-BE49-F238E27FC236}">
                <a16:creationId xmlns:a16="http://schemas.microsoft.com/office/drawing/2014/main" id="{C1A1D731-C72F-F10D-049A-3D766DB2C796}"/>
              </a:ext>
            </a:extLst>
          </p:cNvPr>
          <p:cNvPicPr>
            <a:picLocks noGrp="1" noChangeAspect="1"/>
          </p:cNvPicPr>
          <p:nvPr>
            <p:ph idx="1"/>
          </p:nvPr>
        </p:nvPicPr>
        <p:blipFill>
          <a:blip r:embed="rId2"/>
          <a:stretch>
            <a:fillRect/>
          </a:stretch>
        </p:blipFill>
        <p:spPr>
          <a:xfrm>
            <a:off x="2074985" y="1093791"/>
            <a:ext cx="7029919" cy="5083172"/>
          </a:xfrm>
          <a:prstGeom prst="rect">
            <a:avLst/>
          </a:prstGeom>
        </p:spPr>
      </p:pic>
    </p:spTree>
    <p:extLst>
      <p:ext uri="{BB962C8B-B14F-4D97-AF65-F5344CB8AC3E}">
        <p14:creationId xmlns:p14="http://schemas.microsoft.com/office/powerpoint/2010/main" val="1594816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D9488"/>
          </a:solidFill>
          <a:ln w="12700">
            <a:solidFill>
              <a:srgbClr val="0D9488"/>
            </a:solidFill>
            <a:prstDash val="solid"/>
          </a:ln>
        </p:spPr>
      </p:sp>
      <p:sp>
        <p:nvSpPr>
          <p:cNvPr id="3" name="Text 1"/>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Self-Attention: BERT's Core Mechanism</a:t>
            </a:r>
            <a:endParaRPr lang="en-US" sz="3467" dirty="0"/>
          </a:p>
        </p:txBody>
      </p:sp>
      <p:sp>
        <p:nvSpPr>
          <p:cNvPr id="4" name="Shape 2"/>
          <p:cNvSpPr/>
          <p:nvPr/>
        </p:nvSpPr>
        <p:spPr>
          <a:xfrm>
            <a:off x="609600" y="999744"/>
            <a:ext cx="10972800" cy="30480"/>
          </a:xfrm>
          <a:prstGeom prst="rect">
            <a:avLst/>
          </a:prstGeom>
          <a:solidFill>
            <a:srgbClr val="CBD5E1"/>
          </a:solidFill>
          <a:ln w="12700">
            <a:solidFill>
              <a:srgbClr val="CBD5E1"/>
            </a:solidFill>
            <a:prstDash val="solid"/>
          </a:ln>
        </p:spPr>
      </p:sp>
      <p:sp>
        <p:nvSpPr>
          <p:cNvPr id="6" name="Shape 3"/>
          <p:cNvSpPr/>
          <p:nvPr/>
        </p:nvSpPr>
        <p:spPr>
          <a:xfrm>
            <a:off x="487680" y="1158240"/>
            <a:ext cx="3474720" cy="1828800"/>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7" name="Shape 4"/>
          <p:cNvSpPr/>
          <p:nvPr/>
        </p:nvSpPr>
        <p:spPr>
          <a:xfrm>
            <a:off x="487680" y="1158240"/>
            <a:ext cx="85344" cy="1828800"/>
          </a:xfrm>
          <a:prstGeom prst="rect">
            <a:avLst/>
          </a:prstGeom>
          <a:solidFill>
            <a:srgbClr val="0D9488"/>
          </a:solidFill>
          <a:ln w="12700">
            <a:solidFill>
              <a:srgbClr val="0D9488"/>
            </a:solidFill>
            <a:prstDash val="solid"/>
          </a:ln>
        </p:spPr>
      </p:sp>
      <p:sp>
        <p:nvSpPr>
          <p:cNvPr id="8" name="Text 5"/>
          <p:cNvSpPr/>
          <p:nvPr/>
        </p:nvSpPr>
        <p:spPr>
          <a:xfrm>
            <a:off x="707136" y="1304544"/>
            <a:ext cx="3169920" cy="365760"/>
          </a:xfrm>
          <a:prstGeom prst="rect">
            <a:avLst/>
          </a:prstGeom>
          <a:noFill/>
          <a:ln/>
        </p:spPr>
        <p:txBody>
          <a:bodyPr wrap="square" lIns="0" tIns="0" rIns="0" bIns="0" rtlCol="0" anchor="ctr"/>
          <a:lstStyle/>
          <a:p>
            <a:r>
              <a:rPr lang="en-US" sz="1733" b="1" dirty="0">
                <a:solidFill>
                  <a:srgbClr val="0F1E45"/>
                </a:solidFill>
                <a:latin typeface="Calibri" pitchFamily="34" charset="0"/>
                <a:ea typeface="Calibri" pitchFamily="34" charset="-122"/>
                <a:cs typeface="Calibri" pitchFamily="34" charset="-120"/>
              </a:rPr>
              <a:t>Q — Query</a:t>
            </a:r>
            <a:endParaRPr lang="en-US" sz="1733" dirty="0"/>
          </a:p>
        </p:txBody>
      </p:sp>
      <p:sp>
        <p:nvSpPr>
          <p:cNvPr id="9" name="Text 6"/>
          <p:cNvSpPr/>
          <p:nvPr/>
        </p:nvSpPr>
        <p:spPr>
          <a:xfrm>
            <a:off x="707136" y="1670304"/>
            <a:ext cx="3169920" cy="1194816"/>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What am I looking for?</a:t>
            </a:r>
            <a:endParaRPr lang="en-US" sz="1467" dirty="0"/>
          </a:p>
          <a:p>
            <a:endParaRPr lang="en-US" sz="1467" dirty="0"/>
          </a:p>
          <a:p>
            <a:r>
              <a:rPr lang="en-US" sz="1467" dirty="0">
                <a:solidFill>
                  <a:srgbClr val="64748B"/>
                </a:solidFill>
                <a:latin typeface="Calibri" pitchFamily="34" charset="0"/>
                <a:ea typeface="Calibri" pitchFamily="34" charset="-122"/>
                <a:cs typeface="Calibri" pitchFamily="34" charset="-120"/>
              </a:rPr>
              <a:t>"it" asks: who is tired?</a:t>
            </a:r>
            <a:endParaRPr lang="en-US" sz="1467" dirty="0"/>
          </a:p>
        </p:txBody>
      </p:sp>
      <p:sp>
        <p:nvSpPr>
          <p:cNvPr id="10" name="Shape 7"/>
          <p:cNvSpPr/>
          <p:nvPr/>
        </p:nvSpPr>
        <p:spPr>
          <a:xfrm>
            <a:off x="4267200" y="1158240"/>
            <a:ext cx="3474720" cy="1828800"/>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11" name="Shape 8"/>
          <p:cNvSpPr/>
          <p:nvPr/>
        </p:nvSpPr>
        <p:spPr>
          <a:xfrm>
            <a:off x="4267200" y="1158240"/>
            <a:ext cx="85344" cy="1828800"/>
          </a:xfrm>
          <a:prstGeom prst="rect">
            <a:avLst/>
          </a:prstGeom>
          <a:solidFill>
            <a:srgbClr val="6D28D9"/>
          </a:solidFill>
          <a:ln w="12700">
            <a:solidFill>
              <a:srgbClr val="6D28D9"/>
            </a:solidFill>
            <a:prstDash val="solid"/>
          </a:ln>
        </p:spPr>
      </p:sp>
      <p:sp>
        <p:nvSpPr>
          <p:cNvPr id="12" name="Text 9"/>
          <p:cNvSpPr/>
          <p:nvPr/>
        </p:nvSpPr>
        <p:spPr>
          <a:xfrm>
            <a:off x="4486656" y="1304544"/>
            <a:ext cx="3169920" cy="365760"/>
          </a:xfrm>
          <a:prstGeom prst="rect">
            <a:avLst/>
          </a:prstGeom>
          <a:noFill/>
          <a:ln/>
        </p:spPr>
        <p:txBody>
          <a:bodyPr wrap="square" lIns="0" tIns="0" rIns="0" bIns="0" rtlCol="0" anchor="ctr"/>
          <a:lstStyle/>
          <a:p>
            <a:r>
              <a:rPr lang="en-US" sz="1733" b="1" dirty="0">
                <a:solidFill>
                  <a:srgbClr val="0F1E45"/>
                </a:solidFill>
                <a:latin typeface="Calibri" pitchFamily="34" charset="0"/>
                <a:ea typeface="Calibri" pitchFamily="34" charset="-122"/>
                <a:cs typeface="Calibri" pitchFamily="34" charset="-120"/>
              </a:rPr>
              <a:t>K — Key</a:t>
            </a:r>
            <a:endParaRPr lang="en-US" sz="1733" dirty="0"/>
          </a:p>
        </p:txBody>
      </p:sp>
      <p:sp>
        <p:nvSpPr>
          <p:cNvPr id="13" name="Text 10"/>
          <p:cNvSpPr/>
          <p:nvPr/>
        </p:nvSpPr>
        <p:spPr>
          <a:xfrm>
            <a:off x="4486656" y="1670304"/>
            <a:ext cx="3169920" cy="1194816"/>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What do I represent?</a:t>
            </a:r>
            <a:endParaRPr lang="en-US" sz="1467" dirty="0"/>
          </a:p>
          <a:p>
            <a:endParaRPr lang="en-US" sz="1467" dirty="0"/>
          </a:p>
          <a:p>
            <a:r>
              <a:rPr lang="en-US" sz="1467" dirty="0">
                <a:solidFill>
                  <a:srgbClr val="64748B"/>
                </a:solidFill>
                <a:latin typeface="Calibri" pitchFamily="34" charset="0"/>
                <a:ea typeface="Calibri" pitchFamily="34" charset="-122"/>
                <a:cs typeface="Calibri" pitchFamily="34" charset="-120"/>
              </a:rPr>
              <a:t>Every word advertises itself</a:t>
            </a:r>
            <a:endParaRPr lang="en-US" sz="1467" dirty="0"/>
          </a:p>
        </p:txBody>
      </p:sp>
      <p:sp>
        <p:nvSpPr>
          <p:cNvPr id="14" name="Shape 11"/>
          <p:cNvSpPr/>
          <p:nvPr/>
        </p:nvSpPr>
        <p:spPr>
          <a:xfrm>
            <a:off x="8046720" y="1158240"/>
            <a:ext cx="3474720" cy="1828800"/>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15" name="Shape 12"/>
          <p:cNvSpPr/>
          <p:nvPr/>
        </p:nvSpPr>
        <p:spPr>
          <a:xfrm>
            <a:off x="8046720" y="1158240"/>
            <a:ext cx="85344" cy="1828800"/>
          </a:xfrm>
          <a:prstGeom prst="rect">
            <a:avLst/>
          </a:prstGeom>
          <a:solidFill>
            <a:srgbClr val="D97706"/>
          </a:solidFill>
          <a:ln w="12700">
            <a:solidFill>
              <a:srgbClr val="D97706"/>
            </a:solidFill>
            <a:prstDash val="solid"/>
          </a:ln>
        </p:spPr>
      </p:sp>
      <p:sp>
        <p:nvSpPr>
          <p:cNvPr id="16" name="Text 13"/>
          <p:cNvSpPr/>
          <p:nvPr/>
        </p:nvSpPr>
        <p:spPr>
          <a:xfrm>
            <a:off x="8266176" y="1304544"/>
            <a:ext cx="3169920" cy="365760"/>
          </a:xfrm>
          <a:prstGeom prst="rect">
            <a:avLst/>
          </a:prstGeom>
          <a:noFill/>
          <a:ln/>
        </p:spPr>
        <p:txBody>
          <a:bodyPr wrap="square" lIns="0" tIns="0" rIns="0" bIns="0" rtlCol="0" anchor="ctr"/>
          <a:lstStyle/>
          <a:p>
            <a:r>
              <a:rPr lang="en-US" sz="1733" b="1" dirty="0">
                <a:solidFill>
                  <a:srgbClr val="0F1E45"/>
                </a:solidFill>
                <a:latin typeface="Calibri" pitchFamily="34" charset="0"/>
                <a:ea typeface="Calibri" pitchFamily="34" charset="-122"/>
                <a:cs typeface="Calibri" pitchFamily="34" charset="-120"/>
              </a:rPr>
              <a:t>V — Value</a:t>
            </a:r>
            <a:endParaRPr lang="en-US" sz="1733" dirty="0"/>
          </a:p>
        </p:txBody>
      </p:sp>
      <p:sp>
        <p:nvSpPr>
          <p:cNvPr id="17" name="Text 14"/>
          <p:cNvSpPr/>
          <p:nvPr/>
        </p:nvSpPr>
        <p:spPr>
          <a:xfrm>
            <a:off x="8266176" y="1670304"/>
            <a:ext cx="3169920" cy="1194816"/>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What do I contribute?</a:t>
            </a:r>
            <a:endParaRPr lang="en-US" sz="1467" dirty="0"/>
          </a:p>
          <a:p>
            <a:endParaRPr lang="en-US" sz="1467" dirty="0"/>
          </a:p>
          <a:p>
            <a:r>
              <a:rPr lang="en-US" sz="1467" dirty="0">
                <a:solidFill>
                  <a:srgbClr val="64748B"/>
                </a:solidFill>
                <a:latin typeface="Calibri" pitchFamily="34" charset="0"/>
                <a:ea typeface="Calibri" pitchFamily="34" charset="-122"/>
                <a:cs typeface="Calibri" pitchFamily="34" charset="-120"/>
              </a:rPr>
              <a:t>Information passed if selected</a:t>
            </a:r>
            <a:endParaRPr lang="en-US" sz="1467" dirty="0"/>
          </a:p>
        </p:txBody>
      </p:sp>
      <p:sp>
        <p:nvSpPr>
          <p:cNvPr id="18" name="Shape 15"/>
          <p:cNvSpPr/>
          <p:nvPr/>
        </p:nvSpPr>
        <p:spPr>
          <a:xfrm>
            <a:off x="487680" y="3230880"/>
            <a:ext cx="11216640" cy="670560"/>
          </a:xfrm>
          <a:prstGeom prst="rect">
            <a:avLst/>
          </a:prstGeom>
          <a:solidFill>
            <a:srgbClr val="EEF2FF"/>
          </a:solidFill>
          <a:ln w="6350">
            <a:solidFill>
              <a:srgbClr val="6D28D9"/>
            </a:solidFill>
            <a:prstDash val="solid"/>
          </a:ln>
        </p:spPr>
      </p:sp>
      <p:sp>
        <p:nvSpPr>
          <p:cNvPr id="19" name="Text 16"/>
          <p:cNvSpPr/>
          <p:nvPr/>
        </p:nvSpPr>
        <p:spPr>
          <a:xfrm>
            <a:off x="609600" y="3230880"/>
            <a:ext cx="10972800" cy="670560"/>
          </a:xfrm>
          <a:prstGeom prst="rect">
            <a:avLst/>
          </a:prstGeom>
          <a:noFill/>
          <a:ln/>
        </p:spPr>
        <p:txBody>
          <a:bodyPr wrap="square" lIns="0" tIns="0" rIns="0" bIns="0" rtlCol="0" anchor="ctr"/>
          <a:lstStyle/>
          <a:p>
            <a:pPr algn="ctr"/>
            <a:r>
              <a:rPr lang="en-US" sz="1867" b="1" dirty="0">
                <a:solidFill>
                  <a:srgbClr val="6D28D9"/>
                </a:solidFill>
                <a:latin typeface="Calibri" pitchFamily="34" charset="0"/>
                <a:ea typeface="Calibri" pitchFamily="34" charset="-122"/>
                <a:cs typeface="Calibri" pitchFamily="34" charset="-120"/>
              </a:rPr>
              <a:t>Formula:  Attention(Q,K,V) = softmax( Q·Kᵀ / √dₖ ) · V</a:t>
            </a:r>
            <a:endParaRPr lang="en-US" sz="1867" dirty="0"/>
          </a:p>
        </p:txBody>
      </p:sp>
      <p:sp>
        <p:nvSpPr>
          <p:cNvPr id="20" name="Text 17"/>
          <p:cNvSpPr/>
          <p:nvPr/>
        </p:nvSpPr>
        <p:spPr>
          <a:xfrm>
            <a:off x="487680" y="4084320"/>
            <a:ext cx="11216640" cy="365760"/>
          </a:xfrm>
          <a:prstGeom prst="rect">
            <a:avLst/>
          </a:prstGeom>
          <a:noFill/>
          <a:ln/>
        </p:spPr>
        <p:txBody>
          <a:bodyPr wrap="square" lIns="0" tIns="0" rIns="0" bIns="0" rtlCol="0" anchor="ctr"/>
          <a:lstStyle/>
          <a:p>
            <a:r>
              <a:rPr lang="en-US" sz="1600" b="1" dirty="0">
                <a:solidFill>
                  <a:srgbClr val="0F1E45"/>
                </a:solidFill>
                <a:latin typeface="Calibri" pitchFamily="34" charset="0"/>
                <a:ea typeface="Calibri" pitchFamily="34" charset="-122"/>
                <a:cs typeface="Calibri" pitchFamily="34" charset="-120"/>
              </a:rPr>
              <a:t>Example: Resolving 'it' in context</a:t>
            </a:r>
            <a:endParaRPr lang="en-US" sz="1600" dirty="0"/>
          </a:p>
        </p:txBody>
      </p:sp>
      <p:sp>
        <p:nvSpPr>
          <p:cNvPr id="21" name="Shape 18"/>
          <p:cNvSpPr/>
          <p:nvPr/>
        </p:nvSpPr>
        <p:spPr>
          <a:xfrm>
            <a:off x="487680" y="4535424"/>
            <a:ext cx="1036320" cy="463296"/>
          </a:xfrm>
          <a:prstGeom prst="rect">
            <a:avLst/>
          </a:prstGeom>
          <a:solidFill>
            <a:srgbClr val="F1F5F9"/>
          </a:solidFill>
          <a:ln w="6350">
            <a:solidFill>
              <a:srgbClr val="CBD5E1"/>
            </a:solidFill>
            <a:prstDash val="solid"/>
          </a:ln>
        </p:spPr>
      </p:sp>
      <p:sp>
        <p:nvSpPr>
          <p:cNvPr id="22" name="Text 19"/>
          <p:cNvSpPr/>
          <p:nvPr/>
        </p:nvSpPr>
        <p:spPr>
          <a:xfrm>
            <a:off x="487680" y="4535424"/>
            <a:ext cx="1036320" cy="463296"/>
          </a:xfrm>
          <a:prstGeom prst="rect">
            <a:avLst/>
          </a:prstGeom>
          <a:noFill/>
          <a:ln/>
        </p:spPr>
        <p:txBody>
          <a:bodyPr wrap="square" lIns="0" tIns="0" rIns="0" bIns="0" rtlCol="0" anchor="ctr"/>
          <a:lstStyle/>
          <a:p>
            <a:pPr algn="ctr"/>
            <a:r>
              <a:rPr lang="en-US" sz="1467" dirty="0">
                <a:solidFill>
                  <a:srgbClr val="0F1E45"/>
                </a:solidFill>
                <a:latin typeface="Calibri" pitchFamily="34" charset="0"/>
                <a:ea typeface="Calibri" pitchFamily="34" charset="-122"/>
                <a:cs typeface="Calibri" pitchFamily="34" charset="-120"/>
              </a:rPr>
              <a:t>The</a:t>
            </a:r>
            <a:endParaRPr lang="en-US" sz="1467" dirty="0"/>
          </a:p>
        </p:txBody>
      </p:sp>
      <p:sp>
        <p:nvSpPr>
          <p:cNvPr id="23" name="Shape 20"/>
          <p:cNvSpPr/>
          <p:nvPr/>
        </p:nvSpPr>
        <p:spPr>
          <a:xfrm>
            <a:off x="1609344" y="4535424"/>
            <a:ext cx="1036320" cy="463296"/>
          </a:xfrm>
          <a:prstGeom prst="rect">
            <a:avLst/>
          </a:prstGeom>
          <a:solidFill>
            <a:srgbClr val="0D9488"/>
          </a:solidFill>
          <a:ln w="12700">
            <a:solidFill>
              <a:srgbClr val="0D9488"/>
            </a:solidFill>
            <a:prstDash val="solid"/>
          </a:ln>
        </p:spPr>
      </p:sp>
      <p:sp>
        <p:nvSpPr>
          <p:cNvPr id="24" name="Text 21"/>
          <p:cNvSpPr/>
          <p:nvPr/>
        </p:nvSpPr>
        <p:spPr>
          <a:xfrm>
            <a:off x="1609344" y="4535424"/>
            <a:ext cx="103632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animal</a:t>
            </a:r>
            <a:endParaRPr lang="en-US" sz="1467" dirty="0"/>
          </a:p>
        </p:txBody>
      </p:sp>
      <p:sp>
        <p:nvSpPr>
          <p:cNvPr id="25" name="Shape 22"/>
          <p:cNvSpPr/>
          <p:nvPr/>
        </p:nvSpPr>
        <p:spPr>
          <a:xfrm>
            <a:off x="2731008" y="4535424"/>
            <a:ext cx="1036320" cy="463296"/>
          </a:xfrm>
          <a:prstGeom prst="rect">
            <a:avLst/>
          </a:prstGeom>
          <a:solidFill>
            <a:srgbClr val="F1F5F9"/>
          </a:solidFill>
          <a:ln w="6350">
            <a:solidFill>
              <a:srgbClr val="CBD5E1"/>
            </a:solidFill>
            <a:prstDash val="solid"/>
          </a:ln>
        </p:spPr>
      </p:sp>
      <p:sp>
        <p:nvSpPr>
          <p:cNvPr id="26" name="Text 23"/>
          <p:cNvSpPr/>
          <p:nvPr/>
        </p:nvSpPr>
        <p:spPr>
          <a:xfrm>
            <a:off x="2731008" y="4535424"/>
            <a:ext cx="1036320" cy="463296"/>
          </a:xfrm>
          <a:prstGeom prst="rect">
            <a:avLst/>
          </a:prstGeom>
          <a:noFill/>
          <a:ln/>
        </p:spPr>
        <p:txBody>
          <a:bodyPr wrap="square" lIns="0" tIns="0" rIns="0" bIns="0" rtlCol="0" anchor="ctr"/>
          <a:lstStyle/>
          <a:p>
            <a:pPr algn="ctr"/>
            <a:r>
              <a:rPr lang="en-US" sz="1467" dirty="0">
                <a:solidFill>
                  <a:srgbClr val="0F1E45"/>
                </a:solidFill>
                <a:latin typeface="Calibri" pitchFamily="34" charset="0"/>
                <a:ea typeface="Calibri" pitchFamily="34" charset="-122"/>
                <a:cs typeface="Calibri" pitchFamily="34" charset="-120"/>
              </a:rPr>
              <a:t>didn't</a:t>
            </a:r>
            <a:endParaRPr lang="en-US" sz="1467" dirty="0"/>
          </a:p>
        </p:txBody>
      </p:sp>
      <p:sp>
        <p:nvSpPr>
          <p:cNvPr id="27" name="Shape 24"/>
          <p:cNvSpPr/>
          <p:nvPr/>
        </p:nvSpPr>
        <p:spPr>
          <a:xfrm>
            <a:off x="3852672" y="4535424"/>
            <a:ext cx="1036320" cy="463296"/>
          </a:xfrm>
          <a:prstGeom prst="rect">
            <a:avLst/>
          </a:prstGeom>
          <a:solidFill>
            <a:srgbClr val="F1F5F9"/>
          </a:solidFill>
          <a:ln w="6350">
            <a:solidFill>
              <a:srgbClr val="CBD5E1"/>
            </a:solidFill>
            <a:prstDash val="solid"/>
          </a:ln>
        </p:spPr>
      </p:sp>
      <p:sp>
        <p:nvSpPr>
          <p:cNvPr id="28" name="Text 25"/>
          <p:cNvSpPr/>
          <p:nvPr/>
        </p:nvSpPr>
        <p:spPr>
          <a:xfrm>
            <a:off x="3852672" y="4535424"/>
            <a:ext cx="1036320" cy="463296"/>
          </a:xfrm>
          <a:prstGeom prst="rect">
            <a:avLst/>
          </a:prstGeom>
          <a:noFill/>
          <a:ln/>
        </p:spPr>
        <p:txBody>
          <a:bodyPr wrap="square" lIns="0" tIns="0" rIns="0" bIns="0" rtlCol="0" anchor="ctr"/>
          <a:lstStyle/>
          <a:p>
            <a:pPr algn="ctr"/>
            <a:r>
              <a:rPr lang="en-US" sz="1467" dirty="0">
                <a:solidFill>
                  <a:srgbClr val="0F1E45"/>
                </a:solidFill>
                <a:latin typeface="Calibri" pitchFamily="34" charset="0"/>
                <a:ea typeface="Calibri" pitchFamily="34" charset="-122"/>
                <a:cs typeface="Calibri" pitchFamily="34" charset="-120"/>
              </a:rPr>
              <a:t>cross</a:t>
            </a:r>
            <a:endParaRPr lang="en-US" sz="1467" dirty="0"/>
          </a:p>
        </p:txBody>
      </p:sp>
      <p:sp>
        <p:nvSpPr>
          <p:cNvPr id="29" name="Shape 26"/>
          <p:cNvSpPr/>
          <p:nvPr/>
        </p:nvSpPr>
        <p:spPr>
          <a:xfrm>
            <a:off x="4974336" y="4535424"/>
            <a:ext cx="1036320" cy="463296"/>
          </a:xfrm>
          <a:prstGeom prst="rect">
            <a:avLst/>
          </a:prstGeom>
          <a:solidFill>
            <a:srgbClr val="F1F5F9"/>
          </a:solidFill>
          <a:ln w="6350">
            <a:solidFill>
              <a:srgbClr val="CBD5E1"/>
            </a:solidFill>
            <a:prstDash val="solid"/>
          </a:ln>
        </p:spPr>
      </p:sp>
      <p:sp>
        <p:nvSpPr>
          <p:cNvPr id="30" name="Text 27"/>
          <p:cNvSpPr/>
          <p:nvPr/>
        </p:nvSpPr>
        <p:spPr>
          <a:xfrm>
            <a:off x="4974336" y="4535424"/>
            <a:ext cx="1036320" cy="463296"/>
          </a:xfrm>
          <a:prstGeom prst="rect">
            <a:avLst/>
          </a:prstGeom>
          <a:noFill/>
          <a:ln/>
        </p:spPr>
        <p:txBody>
          <a:bodyPr wrap="square" lIns="0" tIns="0" rIns="0" bIns="0" rtlCol="0" anchor="ctr"/>
          <a:lstStyle/>
          <a:p>
            <a:pPr algn="ctr"/>
            <a:r>
              <a:rPr lang="en-US" sz="1467" dirty="0">
                <a:solidFill>
                  <a:srgbClr val="0F1E45"/>
                </a:solidFill>
                <a:latin typeface="Calibri" pitchFamily="34" charset="0"/>
                <a:ea typeface="Calibri" pitchFamily="34" charset="-122"/>
                <a:cs typeface="Calibri" pitchFamily="34" charset="-120"/>
              </a:rPr>
              <a:t>the</a:t>
            </a:r>
            <a:endParaRPr lang="en-US" sz="1467" dirty="0"/>
          </a:p>
        </p:txBody>
      </p:sp>
      <p:sp>
        <p:nvSpPr>
          <p:cNvPr id="31" name="Shape 28"/>
          <p:cNvSpPr/>
          <p:nvPr/>
        </p:nvSpPr>
        <p:spPr>
          <a:xfrm>
            <a:off x="6096000" y="4535424"/>
            <a:ext cx="1036320" cy="463296"/>
          </a:xfrm>
          <a:prstGeom prst="rect">
            <a:avLst/>
          </a:prstGeom>
          <a:solidFill>
            <a:srgbClr val="F1F5F9"/>
          </a:solidFill>
          <a:ln w="6350">
            <a:solidFill>
              <a:srgbClr val="CBD5E1"/>
            </a:solidFill>
            <a:prstDash val="solid"/>
          </a:ln>
        </p:spPr>
      </p:sp>
      <p:sp>
        <p:nvSpPr>
          <p:cNvPr id="32" name="Text 29"/>
          <p:cNvSpPr/>
          <p:nvPr/>
        </p:nvSpPr>
        <p:spPr>
          <a:xfrm>
            <a:off x="6096000" y="4535424"/>
            <a:ext cx="1036320" cy="463296"/>
          </a:xfrm>
          <a:prstGeom prst="rect">
            <a:avLst/>
          </a:prstGeom>
          <a:noFill/>
          <a:ln/>
        </p:spPr>
        <p:txBody>
          <a:bodyPr wrap="square" lIns="0" tIns="0" rIns="0" bIns="0" rtlCol="0" anchor="ctr"/>
          <a:lstStyle/>
          <a:p>
            <a:pPr algn="ctr"/>
            <a:r>
              <a:rPr lang="en-US" sz="1467" dirty="0">
                <a:solidFill>
                  <a:srgbClr val="0F1E45"/>
                </a:solidFill>
                <a:latin typeface="Calibri" pitchFamily="34" charset="0"/>
                <a:ea typeface="Calibri" pitchFamily="34" charset="-122"/>
                <a:cs typeface="Calibri" pitchFamily="34" charset="-120"/>
              </a:rPr>
              <a:t>street</a:t>
            </a:r>
            <a:endParaRPr lang="en-US" sz="1467" dirty="0"/>
          </a:p>
        </p:txBody>
      </p:sp>
      <p:sp>
        <p:nvSpPr>
          <p:cNvPr id="33" name="Shape 30"/>
          <p:cNvSpPr/>
          <p:nvPr/>
        </p:nvSpPr>
        <p:spPr>
          <a:xfrm>
            <a:off x="7217664" y="4535424"/>
            <a:ext cx="1036320" cy="463296"/>
          </a:xfrm>
          <a:prstGeom prst="rect">
            <a:avLst/>
          </a:prstGeom>
          <a:solidFill>
            <a:srgbClr val="F1F5F9"/>
          </a:solidFill>
          <a:ln w="6350">
            <a:solidFill>
              <a:srgbClr val="CBD5E1"/>
            </a:solidFill>
            <a:prstDash val="solid"/>
          </a:ln>
        </p:spPr>
      </p:sp>
      <p:sp>
        <p:nvSpPr>
          <p:cNvPr id="34" name="Text 31"/>
          <p:cNvSpPr/>
          <p:nvPr/>
        </p:nvSpPr>
        <p:spPr>
          <a:xfrm>
            <a:off x="7217664" y="4535424"/>
            <a:ext cx="1036320" cy="463296"/>
          </a:xfrm>
          <a:prstGeom prst="rect">
            <a:avLst/>
          </a:prstGeom>
          <a:noFill/>
          <a:ln/>
        </p:spPr>
        <p:txBody>
          <a:bodyPr wrap="square" lIns="0" tIns="0" rIns="0" bIns="0" rtlCol="0" anchor="ctr"/>
          <a:lstStyle/>
          <a:p>
            <a:pPr algn="ctr"/>
            <a:r>
              <a:rPr lang="en-US" sz="1467" dirty="0">
                <a:solidFill>
                  <a:srgbClr val="0F1E45"/>
                </a:solidFill>
                <a:latin typeface="Calibri" pitchFamily="34" charset="0"/>
                <a:ea typeface="Calibri" pitchFamily="34" charset="-122"/>
                <a:cs typeface="Calibri" pitchFamily="34" charset="-120"/>
              </a:rPr>
              <a:t>because</a:t>
            </a:r>
            <a:endParaRPr lang="en-US" sz="1467" dirty="0"/>
          </a:p>
        </p:txBody>
      </p:sp>
      <p:sp>
        <p:nvSpPr>
          <p:cNvPr id="35" name="Shape 32"/>
          <p:cNvSpPr/>
          <p:nvPr/>
        </p:nvSpPr>
        <p:spPr>
          <a:xfrm>
            <a:off x="8339328" y="4535424"/>
            <a:ext cx="1036320" cy="463296"/>
          </a:xfrm>
          <a:prstGeom prst="rect">
            <a:avLst/>
          </a:prstGeom>
          <a:solidFill>
            <a:srgbClr val="D97706"/>
          </a:solidFill>
          <a:ln w="12700">
            <a:solidFill>
              <a:srgbClr val="D97706"/>
            </a:solidFill>
            <a:prstDash val="solid"/>
          </a:ln>
        </p:spPr>
      </p:sp>
      <p:sp>
        <p:nvSpPr>
          <p:cNvPr id="36" name="Text 33"/>
          <p:cNvSpPr/>
          <p:nvPr/>
        </p:nvSpPr>
        <p:spPr>
          <a:xfrm>
            <a:off x="8339328" y="4535424"/>
            <a:ext cx="103632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it</a:t>
            </a:r>
            <a:endParaRPr lang="en-US" sz="1467" dirty="0"/>
          </a:p>
        </p:txBody>
      </p:sp>
      <p:sp>
        <p:nvSpPr>
          <p:cNvPr id="37" name="Shape 34"/>
          <p:cNvSpPr/>
          <p:nvPr/>
        </p:nvSpPr>
        <p:spPr>
          <a:xfrm>
            <a:off x="9460992" y="4535424"/>
            <a:ext cx="1036320" cy="463296"/>
          </a:xfrm>
          <a:prstGeom prst="rect">
            <a:avLst/>
          </a:prstGeom>
          <a:solidFill>
            <a:srgbClr val="F1F5F9"/>
          </a:solidFill>
          <a:ln w="6350">
            <a:solidFill>
              <a:srgbClr val="CBD5E1"/>
            </a:solidFill>
            <a:prstDash val="solid"/>
          </a:ln>
        </p:spPr>
      </p:sp>
      <p:sp>
        <p:nvSpPr>
          <p:cNvPr id="38" name="Text 35"/>
          <p:cNvSpPr/>
          <p:nvPr/>
        </p:nvSpPr>
        <p:spPr>
          <a:xfrm>
            <a:off x="9460992" y="4535424"/>
            <a:ext cx="1036320" cy="463296"/>
          </a:xfrm>
          <a:prstGeom prst="rect">
            <a:avLst/>
          </a:prstGeom>
          <a:noFill/>
          <a:ln/>
        </p:spPr>
        <p:txBody>
          <a:bodyPr wrap="square" lIns="0" tIns="0" rIns="0" bIns="0" rtlCol="0" anchor="ctr"/>
          <a:lstStyle/>
          <a:p>
            <a:pPr algn="ctr"/>
            <a:r>
              <a:rPr lang="en-US" sz="1467" dirty="0">
                <a:solidFill>
                  <a:srgbClr val="0F1E45"/>
                </a:solidFill>
                <a:latin typeface="Calibri" pitchFamily="34" charset="0"/>
                <a:ea typeface="Calibri" pitchFamily="34" charset="-122"/>
                <a:cs typeface="Calibri" pitchFamily="34" charset="-120"/>
              </a:rPr>
              <a:t>was</a:t>
            </a:r>
            <a:endParaRPr lang="en-US" sz="1467" dirty="0"/>
          </a:p>
        </p:txBody>
      </p:sp>
      <p:sp>
        <p:nvSpPr>
          <p:cNvPr id="39" name="Shape 36"/>
          <p:cNvSpPr/>
          <p:nvPr/>
        </p:nvSpPr>
        <p:spPr>
          <a:xfrm>
            <a:off x="10582656" y="4535424"/>
            <a:ext cx="1036320" cy="463296"/>
          </a:xfrm>
          <a:prstGeom prst="rect">
            <a:avLst/>
          </a:prstGeom>
          <a:solidFill>
            <a:srgbClr val="F1F5F9"/>
          </a:solidFill>
          <a:ln w="6350">
            <a:solidFill>
              <a:srgbClr val="CBD5E1"/>
            </a:solidFill>
            <a:prstDash val="solid"/>
          </a:ln>
        </p:spPr>
      </p:sp>
      <p:sp>
        <p:nvSpPr>
          <p:cNvPr id="40" name="Text 37"/>
          <p:cNvSpPr/>
          <p:nvPr/>
        </p:nvSpPr>
        <p:spPr>
          <a:xfrm>
            <a:off x="10582656" y="4535424"/>
            <a:ext cx="1036320" cy="463296"/>
          </a:xfrm>
          <a:prstGeom prst="rect">
            <a:avLst/>
          </a:prstGeom>
          <a:noFill/>
          <a:ln/>
        </p:spPr>
        <p:txBody>
          <a:bodyPr wrap="square" lIns="0" tIns="0" rIns="0" bIns="0" rtlCol="0" anchor="ctr"/>
          <a:lstStyle/>
          <a:p>
            <a:pPr algn="ctr"/>
            <a:r>
              <a:rPr lang="en-US" sz="1467" dirty="0">
                <a:solidFill>
                  <a:srgbClr val="0F1E45"/>
                </a:solidFill>
                <a:latin typeface="Calibri" pitchFamily="34" charset="0"/>
                <a:ea typeface="Calibri" pitchFamily="34" charset="-122"/>
                <a:cs typeface="Calibri" pitchFamily="34" charset="-120"/>
              </a:rPr>
              <a:t>tired</a:t>
            </a:r>
            <a:endParaRPr lang="en-US" sz="1467" dirty="0"/>
          </a:p>
        </p:txBody>
      </p:sp>
      <p:sp>
        <p:nvSpPr>
          <p:cNvPr id="41" name="Text 38"/>
          <p:cNvSpPr/>
          <p:nvPr/>
        </p:nvSpPr>
        <p:spPr>
          <a:xfrm>
            <a:off x="487680" y="5181600"/>
            <a:ext cx="11216640" cy="426720"/>
          </a:xfrm>
          <a:prstGeom prst="rect">
            <a:avLst/>
          </a:prstGeom>
          <a:noFill/>
          <a:ln/>
        </p:spPr>
        <p:txBody>
          <a:bodyPr wrap="square" lIns="0" tIns="0" rIns="0" bIns="0" rtlCol="0" anchor="ctr"/>
          <a:lstStyle/>
          <a:p>
            <a:pPr algn="ctr"/>
            <a:r>
              <a:rPr lang="en-US" sz="1467" i="1" dirty="0">
                <a:solidFill>
                  <a:srgbClr val="64748B"/>
                </a:solidFill>
                <a:latin typeface="Calibri" pitchFamily="34" charset="0"/>
                <a:ea typeface="Calibri" pitchFamily="34" charset="-122"/>
                <a:cs typeface="Calibri" pitchFamily="34" charset="-120"/>
              </a:rPr>
              <a:t>"it" (amber) attends most strongly to "animal" (teal) — BERT reads both directions simultaneously</a:t>
            </a:r>
            <a:endParaRPr lang="en-US" sz="1467" dirty="0"/>
          </a:p>
        </p:txBody>
      </p:sp>
      <p:sp>
        <p:nvSpPr>
          <p:cNvPr id="42" name="Shape 39"/>
          <p:cNvSpPr/>
          <p:nvPr/>
        </p:nvSpPr>
        <p:spPr>
          <a:xfrm>
            <a:off x="487680" y="5791200"/>
            <a:ext cx="11216640" cy="548640"/>
          </a:xfrm>
          <a:prstGeom prst="rect">
            <a:avLst/>
          </a:prstGeom>
          <a:solidFill>
            <a:srgbClr val="0F1E45"/>
          </a:solidFill>
          <a:ln w="12700">
            <a:solidFill>
              <a:srgbClr val="0F1E45"/>
            </a:solidFill>
            <a:prstDash val="solid"/>
          </a:ln>
        </p:spPr>
      </p:sp>
      <p:sp>
        <p:nvSpPr>
          <p:cNvPr id="43" name="Text 40"/>
          <p:cNvSpPr/>
          <p:nvPr/>
        </p:nvSpPr>
        <p:spPr>
          <a:xfrm>
            <a:off x="609600" y="5791200"/>
            <a:ext cx="10972800" cy="548640"/>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Bidirectional = attends LEFT and RIGHT simultaneously — unlike GPT (left only) or older RNNs</a:t>
            </a:r>
            <a:endParaRPr lang="en-US" sz="1600" dirty="0"/>
          </a:p>
        </p:txBody>
      </p:sp>
    </p:spTree>
    <p:extLst>
      <p:ext uri="{BB962C8B-B14F-4D97-AF65-F5344CB8AC3E}">
        <p14:creationId xmlns:p14="http://schemas.microsoft.com/office/powerpoint/2010/main" val="2057642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672008-B9B3-EC78-8DF3-7363148F1009}"/>
              </a:ext>
            </a:extLst>
          </p:cNvPr>
          <p:cNvSpPr>
            <a:spLocks noGrp="1"/>
          </p:cNvSpPr>
          <p:nvPr>
            <p:ph idx="1"/>
          </p:nvPr>
        </p:nvSpPr>
        <p:spPr/>
        <p:txBody>
          <a:bodyPr>
            <a:normAutofit lnSpcReduction="10000"/>
          </a:bodyPr>
          <a:lstStyle/>
          <a:p>
            <a:r>
              <a:rPr lang="en-IN" dirty="0"/>
              <a:t>For each token, BERT computes three vectors — Query (what I'm looking for), Key (what I offer to others), and Value (the actual content I contribute).</a:t>
            </a:r>
          </a:p>
          <a:p>
            <a:r>
              <a:rPr lang="en-IN" dirty="0"/>
              <a:t>The attention score between two tokens is the dot product of one's Query with the other's Key, scaled and </a:t>
            </a:r>
            <a:r>
              <a:rPr lang="en-IN" dirty="0" err="1"/>
              <a:t>softmax</a:t>
            </a:r>
            <a:r>
              <a:rPr lang="en-IN" dirty="0"/>
              <a:t>-ed. </a:t>
            </a:r>
          </a:p>
          <a:p>
            <a:r>
              <a:rPr lang="en-IN" dirty="0"/>
              <a:t>The output is a weighted mix of all Value vectors. </a:t>
            </a:r>
          </a:p>
          <a:p>
            <a:endParaRPr lang="en-IN" dirty="0"/>
          </a:p>
          <a:p>
            <a:r>
              <a:rPr lang="en-IN" dirty="0"/>
              <a:t>With 12 heads doing this in parallel on different subspaces, BERT can simultaneously model syntactic dependencies, coreference, semantic similarity, and more.</a:t>
            </a:r>
          </a:p>
        </p:txBody>
      </p:sp>
      <p:sp>
        <p:nvSpPr>
          <p:cNvPr id="4" name="Text 1">
            <a:extLst>
              <a:ext uri="{FF2B5EF4-FFF2-40B4-BE49-F238E27FC236}">
                <a16:creationId xmlns:a16="http://schemas.microsoft.com/office/drawing/2014/main" id="{2EC7E6E6-B44C-4BA5-F492-932A8C99030B}"/>
              </a:ext>
            </a:extLst>
          </p:cNvPr>
          <p:cNvSpPr>
            <a:spLocks noGrp="1"/>
          </p:cNvSpPr>
          <p:nvPr>
            <p:ph type="title"/>
          </p:nvPr>
        </p:nvSpPr>
        <p:spPr>
          <a:xfrm>
            <a:off x="838200" y="365125"/>
            <a:ext cx="10515600" cy="1325563"/>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Self-Attention: BERT's Core Mechanism</a:t>
            </a:r>
            <a:endParaRPr lang="en-US" sz="3467" dirty="0"/>
          </a:p>
        </p:txBody>
      </p:sp>
    </p:spTree>
    <p:extLst>
      <p:ext uri="{BB962C8B-B14F-4D97-AF65-F5344CB8AC3E}">
        <p14:creationId xmlns:p14="http://schemas.microsoft.com/office/powerpoint/2010/main" val="481537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081D1-01C3-6999-B923-CE98EADDBA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BD5C31-A51E-3719-931A-8C072A712970}"/>
              </a:ext>
            </a:extLst>
          </p:cNvPr>
          <p:cNvSpPr>
            <a:spLocks noGrp="1"/>
          </p:cNvSpPr>
          <p:nvPr>
            <p:ph idx="1"/>
          </p:nvPr>
        </p:nvSpPr>
        <p:spPr/>
        <p:txBody>
          <a:bodyPr>
            <a:normAutofit/>
          </a:bodyPr>
          <a:lstStyle/>
          <a:p>
            <a:r>
              <a:rPr lang="en-IN" dirty="0"/>
              <a:t>The </a:t>
            </a:r>
            <a:r>
              <a:rPr lang="en-IN" b="1" dirty="0"/>
              <a:t>feed-forward network</a:t>
            </a:r>
            <a:r>
              <a:rPr lang="en-IN" dirty="0"/>
              <a:t> is two-layer MLP (linear → GELU → linear) applied identically to each token position. </a:t>
            </a:r>
          </a:p>
          <a:p>
            <a:r>
              <a:rPr lang="en-IN" dirty="0"/>
              <a:t>It's where most of BERT's "knowledge" is actually stored — the attention finds which tokens to combine, the FFN transforms the combined representation.</a:t>
            </a:r>
          </a:p>
        </p:txBody>
      </p:sp>
      <p:sp>
        <p:nvSpPr>
          <p:cNvPr id="4" name="Text 1">
            <a:extLst>
              <a:ext uri="{FF2B5EF4-FFF2-40B4-BE49-F238E27FC236}">
                <a16:creationId xmlns:a16="http://schemas.microsoft.com/office/drawing/2014/main" id="{CCE626DE-00B0-0DAF-2C44-DD6AF82EFC84}"/>
              </a:ext>
            </a:extLst>
          </p:cNvPr>
          <p:cNvSpPr>
            <a:spLocks noGrp="1"/>
          </p:cNvSpPr>
          <p:nvPr>
            <p:ph type="title"/>
          </p:nvPr>
        </p:nvSpPr>
        <p:spPr>
          <a:xfrm>
            <a:off x="838200" y="365125"/>
            <a:ext cx="10515600" cy="1325563"/>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Feed Forward network</a:t>
            </a:r>
            <a:endParaRPr lang="en-US" sz="3467" dirty="0"/>
          </a:p>
        </p:txBody>
      </p:sp>
    </p:spTree>
    <p:extLst>
      <p:ext uri="{BB962C8B-B14F-4D97-AF65-F5344CB8AC3E}">
        <p14:creationId xmlns:p14="http://schemas.microsoft.com/office/powerpoint/2010/main" val="3647767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6E022F-6AFC-4B62-DB84-5D46DAE9A23B}"/>
              </a:ext>
            </a:extLst>
          </p:cNvPr>
          <p:cNvPicPr>
            <a:picLocks noChangeAspect="1"/>
          </p:cNvPicPr>
          <p:nvPr/>
        </p:nvPicPr>
        <p:blipFill>
          <a:blip r:embed="rId3"/>
          <a:stretch>
            <a:fillRect/>
          </a:stretch>
        </p:blipFill>
        <p:spPr>
          <a:xfrm>
            <a:off x="1850481" y="510340"/>
            <a:ext cx="8491038" cy="5550776"/>
          </a:xfrm>
          <a:prstGeom prst="rect">
            <a:avLst/>
          </a:prstGeom>
        </p:spPr>
      </p:pic>
    </p:spTree>
    <p:extLst>
      <p:ext uri="{BB962C8B-B14F-4D97-AF65-F5344CB8AC3E}">
        <p14:creationId xmlns:p14="http://schemas.microsoft.com/office/powerpoint/2010/main" val="762115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BB6B99-CF45-D4CD-F4C2-FB65C05D8B60}"/>
              </a:ext>
            </a:extLst>
          </p:cNvPr>
          <p:cNvPicPr>
            <a:picLocks noChangeAspect="1"/>
          </p:cNvPicPr>
          <p:nvPr/>
        </p:nvPicPr>
        <p:blipFill>
          <a:blip r:embed="rId2"/>
          <a:stretch>
            <a:fillRect/>
          </a:stretch>
        </p:blipFill>
        <p:spPr>
          <a:xfrm>
            <a:off x="1957753" y="296616"/>
            <a:ext cx="8135815" cy="6158285"/>
          </a:xfrm>
          <a:prstGeom prst="rect">
            <a:avLst/>
          </a:prstGeom>
        </p:spPr>
      </p:pic>
    </p:spTree>
    <p:extLst>
      <p:ext uri="{BB962C8B-B14F-4D97-AF65-F5344CB8AC3E}">
        <p14:creationId xmlns:p14="http://schemas.microsoft.com/office/powerpoint/2010/main" val="2223150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FCB169-FD10-0804-6797-171FCDCBD402}"/>
              </a:ext>
            </a:extLst>
          </p:cNvPr>
          <p:cNvPicPr>
            <a:picLocks noChangeAspect="1"/>
          </p:cNvPicPr>
          <p:nvPr/>
        </p:nvPicPr>
        <p:blipFill>
          <a:blip r:embed="rId3"/>
          <a:stretch>
            <a:fillRect/>
          </a:stretch>
        </p:blipFill>
        <p:spPr>
          <a:xfrm>
            <a:off x="1277656" y="1818495"/>
            <a:ext cx="9915702" cy="4674380"/>
          </a:xfrm>
          <a:prstGeom prst="rect">
            <a:avLst/>
          </a:prstGeom>
        </p:spPr>
      </p:pic>
      <p:sp>
        <p:nvSpPr>
          <p:cNvPr id="4" name="Title 3">
            <a:extLst>
              <a:ext uri="{FF2B5EF4-FFF2-40B4-BE49-F238E27FC236}">
                <a16:creationId xmlns:a16="http://schemas.microsoft.com/office/drawing/2014/main" id="{90538CA4-C3DD-99FD-36A3-E9D9771C9F9A}"/>
              </a:ext>
            </a:extLst>
          </p:cNvPr>
          <p:cNvSpPr>
            <a:spLocks noGrp="1"/>
          </p:cNvSpPr>
          <p:nvPr>
            <p:ph type="title"/>
          </p:nvPr>
        </p:nvSpPr>
        <p:spPr/>
        <p:txBody>
          <a:bodyPr/>
          <a:lstStyle/>
          <a:p>
            <a:r>
              <a:rPr lang="en-IN" dirty="0"/>
              <a:t>Two Phase Learning System</a:t>
            </a:r>
          </a:p>
        </p:txBody>
      </p:sp>
    </p:spTree>
    <p:extLst>
      <p:ext uri="{BB962C8B-B14F-4D97-AF65-F5344CB8AC3E}">
        <p14:creationId xmlns:p14="http://schemas.microsoft.com/office/powerpoint/2010/main" val="155119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27ED841B-C818-C82E-B55A-48DEF419EBC4}"/>
              </a:ext>
            </a:extLst>
          </p:cNvPr>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a:t>
            </a:r>
            <a:r>
              <a:rPr lang="en-IN" sz="3600" dirty="0"/>
              <a:t>BERT pretraining — learning from </a:t>
            </a:r>
            <a:r>
              <a:rPr lang="en-IN" sz="3600" dirty="0" err="1"/>
              <a:t>unlabeled</a:t>
            </a:r>
            <a:r>
              <a:rPr lang="en-IN" sz="3600" dirty="0"/>
              <a:t> text</a:t>
            </a:r>
            <a:endParaRPr lang="en-US" sz="3467" dirty="0"/>
          </a:p>
        </p:txBody>
      </p:sp>
      <p:sp>
        <p:nvSpPr>
          <p:cNvPr id="4" name="Content Placeholder 3">
            <a:extLst>
              <a:ext uri="{FF2B5EF4-FFF2-40B4-BE49-F238E27FC236}">
                <a16:creationId xmlns:a16="http://schemas.microsoft.com/office/drawing/2014/main" id="{421BC9EE-8429-D592-84C3-218E2C4EF8BD}"/>
              </a:ext>
            </a:extLst>
          </p:cNvPr>
          <p:cNvSpPr>
            <a:spLocks noGrp="1"/>
          </p:cNvSpPr>
          <p:nvPr>
            <p:ph idx="1"/>
          </p:nvPr>
        </p:nvSpPr>
        <p:spPr/>
        <p:txBody>
          <a:bodyPr/>
          <a:lstStyle/>
          <a:p>
            <a:r>
              <a:rPr lang="en-IN" dirty="0"/>
              <a:t>BERT pretrains on </a:t>
            </a:r>
            <a:r>
              <a:rPr lang="en-IN" dirty="0" err="1"/>
              <a:t>BookCorpus</a:t>
            </a:r>
            <a:r>
              <a:rPr lang="en-IN" dirty="0"/>
              <a:t> (800M words) + English Wikipedia (2.5B words) </a:t>
            </a:r>
          </a:p>
          <a:p>
            <a:r>
              <a:rPr lang="en-IN" dirty="0"/>
              <a:t>Uses </a:t>
            </a:r>
            <a:r>
              <a:rPr lang="en-IN" b="1" dirty="0"/>
              <a:t>two self-supervised tasks simultaneously</a:t>
            </a:r>
            <a:r>
              <a:rPr lang="en-IN" dirty="0"/>
              <a:t>. </a:t>
            </a:r>
          </a:p>
          <a:p>
            <a:r>
              <a:rPr lang="en-IN" dirty="0"/>
              <a:t>"Self-supervised" means the labels come from the data itself — no human annotation needed.</a:t>
            </a:r>
          </a:p>
          <a:p>
            <a:endParaRPr lang="en-IN" dirty="0"/>
          </a:p>
          <a:p>
            <a:r>
              <a:rPr lang="en-IN" dirty="0"/>
              <a:t>Pretraining BERT-Large on 64 TPUs took 4 days.</a:t>
            </a:r>
          </a:p>
        </p:txBody>
      </p:sp>
    </p:spTree>
    <p:extLst>
      <p:ext uri="{BB962C8B-B14F-4D97-AF65-F5344CB8AC3E}">
        <p14:creationId xmlns:p14="http://schemas.microsoft.com/office/powerpoint/2010/main" val="1242612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E7680-B62E-89A2-C9B9-567DC2CFF4B1}"/>
              </a:ext>
            </a:extLst>
          </p:cNvPr>
          <p:cNvSpPr>
            <a:spLocks noGrp="1"/>
          </p:cNvSpPr>
          <p:nvPr>
            <p:ph type="title"/>
          </p:nvPr>
        </p:nvSpPr>
        <p:spPr/>
        <p:txBody>
          <a:bodyPr/>
          <a:lstStyle/>
          <a:p>
            <a:r>
              <a:rPr lang="en-IN" dirty="0"/>
              <a:t>Pretraining</a:t>
            </a:r>
          </a:p>
        </p:txBody>
      </p:sp>
      <p:sp>
        <p:nvSpPr>
          <p:cNvPr id="3" name="Content Placeholder 2">
            <a:extLst>
              <a:ext uri="{FF2B5EF4-FFF2-40B4-BE49-F238E27FC236}">
                <a16:creationId xmlns:a16="http://schemas.microsoft.com/office/drawing/2014/main" id="{10141703-140B-81C6-C802-78E849CEBFB8}"/>
              </a:ext>
            </a:extLst>
          </p:cNvPr>
          <p:cNvSpPr>
            <a:spLocks noGrp="1"/>
          </p:cNvSpPr>
          <p:nvPr>
            <p:ph idx="1"/>
          </p:nvPr>
        </p:nvSpPr>
        <p:spPr/>
        <p:txBody>
          <a:bodyPr/>
          <a:lstStyle/>
          <a:p>
            <a:r>
              <a:rPr lang="en-IN" dirty="0"/>
              <a:t>Language models work by being trained to predict the probability of a word given the context of surrounding words. </a:t>
            </a:r>
          </a:p>
          <a:p>
            <a:r>
              <a:rPr lang="en-IN" dirty="0"/>
              <a:t>This gives them a foundational understanding of language that can generalize to other tasks.</a:t>
            </a:r>
          </a:p>
          <a:p>
            <a:r>
              <a:rPr lang="en-IN" dirty="0"/>
              <a:t>Act of training model from scratch</a:t>
            </a:r>
          </a:p>
          <a:p>
            <a:pPr lvl="1"/>
            <a:r>
              <a:rPr lang="en-IN" dirty="0"/>
              <a:t>Weights initialized randomly</a:t>
            </a:r>
          </a:p>
          <a:p>
            <a:pPr lvl="1"/>
            <a:r>
              <a:rPr lang="en-IN" dirty="0"/>
              <a:t>Training starts without ant prior knowledge</a:t>
            </a:r>
          </a:p>
          <a:p>
            <a:pPr lvl="1"/>
            <a:r>
              <a:rPr lang="en-IN" dirty="0"/>
              <a:t>Done on very large amounts of data</a:t>
            </a:r>
          </a:p>
          <a:p>
            <a:pPr lvl="1"/>
            <a:r>
              <a:rPr lang="en-IN" dirty="0"/>
              <a:t>Large corpus of data and training spans several weeks   </a:t>
            </a:r>
          </a:p>
        </p:txBody>
      </p:sp>
    </p:spTree>
    <p:extLst>
      <p:ext uri="{BB962C8B-B14F-4D97-AF65-F5344CB8AC3E}">
        <p14:creationId xmlns:p14="http://schemas.microsoft.com/office/powerpoint/2010/main" val="2523320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3C897-A23C-CD64-8488-67CE122BA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03268-F175-EC53-3E23-C8F02D5BF737}"/>
              </a:ext>
            </a:extLst>
          </p:cNvPr>
          <p:cNvSpPr>
            <a:spLocks noGrp="1"/>
          </p:cNvSpPr>
          <p:nvPr>
            <p:ph type="title"/>
          </p:nvPr>
        </p:nvSpPr>
        <p:spPr/>
        <p:txBody>
          <a:bodyPr/>
          <a:lstStyle/>
          <a:p>
            <a:r>
              <a:rPr lang="en-IN" dirty="0"/>
              <a:t>Pretraining</a:t>
            </a:r>
          </a:p>
        </p:txBody>
      </p:sp>
      <p:pic>
        <p:nvPicPr>
          <p:cNvPr id="7" name="Picture 6">
            <a:extLst>
              <a:ext uri="{FF2B5EF4-FFF2-40B4-BE49-F238E27FC236}">
                <a16:creationId xmlns:a16="http://schemas.microsoft.com/office/drawing/2014/main" id="{CC0A3A6E-6A06-8874-B371-5B932B7CB173}"/>
              </a:ext>
            </a:extLst>
          </p:cNvPr>
          <p:cNvPicPr>
            <a:picLocks noChangeAspect="1"/>
          </p:cNvPicPr>
          <p:nvPr/>
        </p:nvPicPr>
        <p:blipFill>
          <a:blip r:embed="rId2"/>
          <a:stretch>
            <a:fillRect/>
          </a:stretch>
        </p:blipFill>
        <p:spPr>
          <a:xfrm>
            <a:off x="2030377" y="1992505"/>
            <a:ext cx="8131245" cy="2872989"/>
          </a:xfrm>
          <a:prstGeom prst="rect">
            <a:avLst/>
          </a:prstGeom>
        </p:spPr>
      </p:pic>
    </p:spTree>
    <p:extLst>
      <p:ext uri="{BB962C8B-B14F-4D97-AF65-F5344CB8AC3E}">
        <p14:creationId xmlns:p14="http://schemas.microsoft.com/office/powerpoint/2010/main" val="3691100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DD872-43EC-2268-F85D-145814B56961}"/>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99A84DC9-64B6-EAFE-ABD6-FE5B37C0D121}"/>
              </a:ext>
            </a:extLst>
          </p:cNvPr>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a:t>
            </a:r>
            <a:r>
              <a:rPr lang="en-IN" sz="3600" dirty="0"/>
              <a:t>BERT pretraining — learning from </a:t>
            </a:r>
            <a:r>
              <a:rPr lang="en-IN" sz="3600" dirty="0" err="1"/>
              <a:t>unlabeled</a:t>
            </a:r>
            <a:r>
              <a:rPr lang="en-IN" sz="3600" dirty="0"/>
              <a:t> text</a:t>
            </a:r>
            <a:endParaRPr lang="en-US" sz="3467" dirty="0"/>
          </a:p>
        </p:txBody>
      </p:sp>
      <p:pic>
        <p:nvPicPr>
          <p:cNvPr id="5" name="Content Placeholder 4">
            <a:extLst>
              <a:ext uri="{FF2B5EF4-FFF2-40B4-BE49-F238E27FC236}">
                <a16:creationId xmlns:a16="http://schemas.microsoft.com/office/drawing/2014/main" id="{EEFF6516-FE11-8F5E-E1AA-D1210C8ED214}"/>
              </a:ext>
            </a:extLst>
          </p:cNvPr>
          <p:cNvPicPr>
            <a:picLocks noGrp="1" noChangeAspect="1"/>
          </p:cNvPicPr>
          <p:nvPr>
            <p:ph idx="1"/>
          </p:nvPr>
        </p:nvPicPr>
        <p:blipFill>
          <a:blip r:embed="rId3"/>
          <a:stretch>
            <a:fillRect/>
          </a:stretch>
        </p:blipFill>
        <p:spPr>
          <a:xfrm>
            <a:off x="2028092" y="934181"/>
            <a:ext cx="6953495" cy="5242782"/>
          </a:xfrm>
          <a:prstGeom prst="rect">
            <a:avLst/>
          </a:prstGeom>
        </p:spPr>
      </p:pic>
    </p:spTree>
    <p:extLst>
      <p:ext uri="{BB962C8B-B14F-4D97-AF65-F5344CB8AC3E}">
        <p14:creationId xmlns:p14="http://schemas.microsoft.com/office/powerpoint/2010/main" val="328158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32EBD-84C6-B0C3-80BD-88B6398667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136BD0-1EDF-2314-F9D2-01244B83598E}"/>
              </a:ext>
            </a:extLst>
          </p:cNvPr>
          <p:cNvSpPr txBox="1"/>
          <p:nvPr/>
        </p:nvSpPr>
        <p:spPr>
          <a:xfrm>
            <a:off x="650105" y="104129"/>
            <a:ext cx="5809689" cy="3139321"/>
          </a:xfrm>
          <a:prstGeom prst="rect">
            <a:avLst/>
          </a:prstGeom>
          <a:noFill/>
        </p:spPr>
        <p:txBody>
          <a:bodyPr wrap="square">
            <a:spAutoFit/>
          </a:bodyPr>
          <a:lstStyle/>
          <a:p>
            <a:r>
              <a:rPr lang="en-US" b="1" dirty="0"/>
              <a:t>Pretraining Objectives of BERT</a:t>
            </a:r>
          </a:p>
          <a:p>
            <a:pPr>
              <a:buFont typeface="Arial" panose="020B0604020202020204" pitchFamily="34" charset="0"/>
              <a:buChar char="•"/>
            </a:pPr>
            <a:r>
              <a:rPr lang="en-US" b="1" dirty="0"/>
              <a:t>Two Primary Objectives:</a:t>
            </a:r>
            <a:endParaRPr lang="en-US" dirty="0"/>
          </a:p>
          <a:p>
            <a:pPr marL="742950" lvl="1" indent="-285750">
              <a:buFont typeface="Arial" panose="020B0604020202020204" pitchFamily="34" charset="0"/>
              <a:buChar char="•"/>
            </a:pPr>
            <a:r>
              <a:rPr lang="en-US" b="1" dirty="0"/>
              <a:t>Masked Language Modeling (MLM):</a:t>
            </a:r>
            <a:endParaRPr lang="en-US" dirty="0"/>
          </a:p>
          <a:p>
            <a:pPr marL="1143000" lvl="2" indent="-228600">
              <a:buFont typeface="Arial" panose="020B0604020202020204" pitchFamily="34" charset="0"/>
              <a:buChar char="•"/>
            </a:pPr>
            <a:r>
              <a:rPr lang="en-US" dirty="0"/>
              <a:t>Randomly masks words in a sentence and trains the model to predict the missing words based on the context.</a:t>
            </a:r>
          </a:p>
          <a:p>
            <a:pPr marL="1143000" lvl="2" indent="-228600">
              <a:buFont typeface="Arial" panose="020B0604020202020204" pitchFamily="34" charset="0"/>
              <a:buChar char="•"/>
            </a:pPr>
            <a:r>
              <a:rPr lang="en-US" dirty="0"/>
              <a:t>Understands language deeply</a:t>
            </a:r>
          </a:p>
          <a:p>
            <a:pPr lvl="2"/>
            <a:r>
              <a:rPr lang="en-US" dirty="0" err="1"/>
              <a:t>Input:"I</a:t>
            </a:r>
            <a:r>
              <a:rPr lang="en-US" dirty="0"/>
              <a:t> love to [MASK] pizza“</a:t>
            </a:r>
          </a:p>
          <a:p>
            <a:pPr lvl="2"/>
            <a:r>
              <a:rPr lang="en-US" dirty="0" err="1"/>
              <a:t>Target:“eat</a:t>
            </a:r>
            <a:r>
              <a:rPr lang="en-US" dirty="0"/>
              <a:t>”</a:t>
            </a:r>
          </a:p>
          <a:p>
            <a:pPr lvl="2"/>
            <a:br>
              <a:rPr lang="en-US" dirty="0"/>
            </a:br>
            <a:endParaRPr lang="en-US" dirty="0"/>
          </a:p>
        </p:txBody>
      </p:sp>
      <p:pic>
        <p:nvPicPr>
          <p:cNvPr id="8" name="Picture 7">
            <a:extLst>
              <a:ext uri="{FF2B5EF4-FFF2-40B4-BE49-F238E27FC236}">
                <a16:creationId xmlns:a16="http://schemas.microsoft.com/office/drawing/2014/main" id="{6A241BD5-F0CA-DC7D-16B1-2EB27FF72F85}"/>
              </a:ext>
            </a:extLst>
          </p:cNvPr>
          <p:cNvPicPr>
            <a:picLocks noChangeAspect="1"/>
          </p:cNvPicPr>
          <p:nvPr/>
        </p:nvPicPr>
        <p:blipFill>
          <a:blip r:embed="rId2"/>
          <a:stretch>
            <a:fillRect/>
          </a:stretch>
        </p:blipFill>
        <p:spPr>
          <a:xfrm>
            <a:off x="1012387" y="2831120"/>
            <a:ext cx="7970011" cy="1055788"/>
          </a:xfrm>
          <a:prstGeom prst="rect">
            <a:avLst/>
          </a:prstGeom>
        </p:spPr>
      </p:pic>
      <p:pic>
        <p:nvPicPr>
          <p:cNvPr id="10" name="Picture 9">
            <a:extLst>
              <a:ext uri="{FF2B5EF4-FFF2-40B4-BE49-F238E27FC236}">
                <a16:creationId xmlns:a16="http://schemas.microsoft.com/office/drawing/2014/main" id="{A40D7607-8EB7-8A5E-D3AB-E57E66C4934E}"/>
              </a:ext>
            </a:extLst>
          </p:cNvPr>
          <p:cNvPicPr>
            <a:picLocks noChangeAspect="1"/>
          </p:cNvPicPr>
          <p:nvPr/>
        </p:nvPicPr>
        <p:blipFill>
          <a:blip r:embed="rId3"/>
          <a:stretch>
            <a:fillRect/>
          </a:stretch>
        </p:blipFill>
        <p:spPr>
          <a:xfrm>
            <a:off x="1012387" y="4128472"/>
            <a:ext cx="7835060" cy="1214553"/>
          </a:xfrm>
          <a:prstGeom prst="rect">
            <a:avLst/>
          </a:prstGeom>
        </p:spPr>
      </p:pic>
    </p:spTree>
    <p:extLst>
      <p:ext uri="{BB962C8B-B14F-4D97-AF65-F5344CB8AC3E}">
        <p14:creationId xmlns:p14="http://schemas.microsoft.com/office/powerpoint/2010/main" val="2267951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5DC24A8-AB8E-508A-0E8C-BB57745C827C}"/>
              </a:ext>
            </a:extLst>
          </p:cNvPr>
          <p:cNvPicPr>
            <a:picLocks noGrp="1" noChangeAspect="1"/>
          </p:cNvPicPr>
          <p:nvPr>
            <p:ph idx="1"/>
          </p:nvPr>
        </p:nvPicPr>
        <p:blipFill>
          <a:blip r:embed="rId3"/>
          <a:stretch>
            <a:fillRect/>
          </a:stretch>
        </p:blipFill>
        <p:spPr>
          <a:xfrm>
            <a:off x="1336431" y="1690688"/>
            <a:ext cx="9249507" cy="4087894"/>
          </a:xfrm>
          <a:prstGeom prst="rect">
            <a:avLst/>
          </a:prstGeom>
        </p:spPr>
      </p:pic>
      <p:sp>
        <p:nvSpPr>
          <p:cNvPr id="9" name="Text 1">
            <a:extLst>
              <a:ext uri="{FF2B5EF4-FFF2-40B4-BE49-F238E27FC236}">
                <a16:creationId xmlns:a16="http://schemas.microsoft.com/office/drawing/2014/main" id="{D8FD6BD2-C4F4-0358-39EA-2713FC2A030D}"/>
              </a:ext>
            </a:extLst>
          </p:cNvPr>
          <p:cNvSpPr>
            <a:spLocks noGrp="1"/>
          </p:cNvSpPr>
          <p:nvPr>
            <p:ph type="title"/>
          </p:nvPr>
        </p:nvSpPr>
        <p:spPr>
          <a:xfrm>
            <a:off x="838200" y="365125"/>
            <a:ext cx="10515600" cy="1325563"/>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Masked Language Modelling (MLM)</a:t>
            </a:r>
            <a:endParaRPr lang="en-US" sz="3467" dirty="0"/>
          </a:p>
        </p:txBody>
      </p:sp>
    </p:spTree>
    <p:extLst>
      <p:ext uri="{BB962C8B-B14F-4D97-AF65-F5344CB8AC3E}">
        <p14:creationId xmlns:p14="http://schemas.microsoft.com/office/powerpoint/2010/main" val="1646229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D9488"/>
          </a:solidFill>
          <a:ln w="12700">
            <a:solidFill>
              <a:srgbClr val="0D9488"/>
            </a:solidFill>
            <a:prstDash val="solid"/>
          </a:ln>
        </p:spPr>
      </p:sp>
      <p:sp>
        <p:nvSpPr>
          <p:cNvPr id="3" name="Text 1"/>
          <p:cNvSpPr/>
          <p:nvPr/>
        </p:nvSpPr>
        <p:spPr>
          <a:xfrm>
            <a:off x="1676400" y="237744"/>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Masked Language Modelling (MLM)</a:t>
            </a:r>
            <a:endParaRPr lang="en-US" sz="3467" dirty="0"/>
          </a:p>
        </p:txBody>
      </p:sp>
      <p:sp>
        <p:nvSpPr>
          <p:cNvPr id="4" name="Shape 2"/>
          <p:cNvSpPr/>
          <p:nvPr/>
        </p:nvSpPr>
        <p:spPr>
          <a:xfrm>
            <a:off x="609600" y="999744"/>
            <a:ext cx="10972800" cy="30480"/>
          </a:xfrm>
          <a:prstGeom prst="rect">
            <a:avLst/>
          </a:prstGeom>
          <a:solidFill>
            <a:srgbClr val="CBD5E1"/>
          </a:solidFill>
          <a:ln w="12700">
            <a:solidFill>
              <a:srgbClr val="CBD5E1"/>
            </a:solidFill>
            <a:prstDash val="solid"/>
          </a:ln>
        </p:spPr>
      </p:sp>
      <p:sp>
        <p:nvSpPr>
          <p:cNvPr id="6" name="Shape 3"/>
          <p:cNvSpPr/>
          <p:nvPr/>
        </p:nvSpPr>
        <p:spPr>
          <a:xfrm>
            <a:off x="487680" y="1158240"/>
            <a:ext cx="2621280" cy="2926080"/>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7" name="Shape 4"/>
          <p:cNvSpPr/>
          <p:nvPr/>
        </p:nvSpPr>
        <p:spPr>
          <a:xfrm>
            <a:off x="1402080" y="1036320"/>
            <a:ext cx="731520" cy="731520"/>
          </a:xfrm>
          <a:prstGeom prst="ellipse">
            <a:avLst/>
          </a:prstGeom>
          <a:solidFill>
            <a:srgbClr val="0D9488"/>
          </a:solidFill>
          <a:ln w="12700">
            <a:solidFill>
              <a:srgbClr val="0D9488"/>
            </a:solidFill>
            <a:prstDash val="solid"/>
          </a:ln>
        </p:spPr>
      </p:sp>
      <p:sp>
        <p:nvSpPr>
          <p:cNvPr id="8" name="Text 5"/>
          <p:cNvSpPr/>
          <p:nvPr/>
        </p:nvSpPr>
        <p:spPr>
          <a:xfrm>
            <a:off x="1402080" y="1036320"/>
            <a:ext cx="731520" cy="731520"/>
          </a:xfrm>
          <a:prstGeom prst="rect">
            <a:avLst/>
          </a:prstGeom>
          <a:no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1</a:t>
            </a:r>
            <a:endParaRPr lang="en-US" sz="2133" dirty="0"/>
          </a:p>
        </p:txBody>
      </p:sp>
      <p:sp>
        <p:nvSpPr>
          <p:cNvPr id="9" name="Text 6"/>
          <p:cNvSpPr/>
          <p:nvPr/>
        </p:nvSpPr>
        <p:spPr>
          <a:xfrm>
            <a:off x="609600" y="1828800"/>
            <a:ext cx="2377440" cy="426720"/>
          </a:xfrm>
          <a:prstGeom prst="rect">
            <a:avLst/>
          </a:prstGeom>
          <a:noFill/>
          <a:ln/>
        </p:spPr>
        <p:txBody>
          <a:bodyPr wrap="square" lIns="0" tIns="0" rIns="0" bIns="0" rtlCol="0" anchor="ctr"/>
          <a:lstStyle/>
          <a:p>
            <a:pPr algn="ctr"/>
            <a:r>
              <a:rPr lang="en-US" sz="1467" b="1" dirty="0">
                <a:solidFill>
                  <a:srgbClr val="0F1E45"/>
                </a:solidFill>
                <a:latin typeface="Calibri" pitchFamily="34" charset="0"/>
                <a:ea typeface="Calibri" pitchFamily="34" charset="-122"/>
                <a:cs typeface="Calibri" pitchFamily="34" charset="-120"/>
              </a:rPr>
              <a:t>Select 15% of tokens</a:t>
            </a:r>
            <a:endParaRPr lang="en-US" sz="1467" dirty="0"/>
          </a:p>
        </p:txBody>
      </p:sp>
      <p:sp>
        <p:nvSpPr>
          <p:cNvPr id="10" name="Text 7"/>
          <p:cNvSpPr/>
          <p:nvPr/>
        </p:nvSpPr>
        <p:spPr>
          <a:xfrm>
            <a:off x="609600" y="2316480"/>
            <a:ext cx="2377440" cy="1524000"/>
          </a:xfrm>
          <a:prstGeom prst="rect">
            <a:avLst/>
          </a:prstGeom>
          <a:noFill/>
          <a:ln/>
        </p:spPr>
        <p:txBody>
          <a:bodyPr wrap="square" lIns="0" tIns="0" rIns="0" bIns="0" rtlCol="0" anchor="ctr"/>
          <a:lstStyle/>
          <a:p>
            <a:pPr algn="ctr"/>
            <a:r>
              <a:rPr lang="en-US" sz="1333" dirty="0">
                <a:solidFill>
                  <a:srgbClr val="64748B"/>
                </a:solidFill>
                <a:latin typeface="Calibri" pitchFamily="34" charset="0"/>
                <a:ea typeface="Calibri" pitchFamily="34" charset="-122"/>
                <a:cs typeface="Calibri" pitchFamily="34" charset="-120"/>
              </a:rPr>
              <a:t>"The cat [selected: sat] on the mat"</a:t>
            </a:r>
            <a:endParaRPr lang="en-US" sz="1333" dirty="0"/>
          </a:p>
        </p:txBody>
      </p:sp>
      <p:sp>
        <p:nvSpPr>
          <p:cNvPr id="11" name="Shape 8"/>
          <p:cNvSpPr/>
          <p:nvPr/>
        </p:nvSpPr>
        <p:spPr>
          <a:xfrm>
            <a:off x="3352800" y="1158240"/>
            <a:ext cx="2621280" cy="2926080"/>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12" name="Shape 9"/>
          <p:cNvSpPr/>
          <p:nvPr/>
        </p:nvSpPr>
        <p:spPr>
          <a:xfrm>
            <a:off x="4267200" y="1036320"/>
            <a:ext cx="731520" cy="731520"/>
          </a:xfrm>
          <a:prstGeom prst="ellipse">
            <a:avLst/>
          </a:prstGeom>
          <a:solidFill>
            <a:srgbClr val="6D28D9"/>
          </a:solidFill>
          <a:ln w="12700">
            <a:solidFill>
              <a:srgbClr val="6D28D9"/>
            </a:solidFill>
            <a:prstDash val="solid"/>
          </a:ln>
        </p:spPr>
      </p:sp>
      <p:sp>
        <p:nvSpPr>
          <p:cNvPr id="13" name="Text 10"/>
          <p:cNvSpPr/>
          <p:nvPr/>
        </p:nvSpPr>
        <p:spPr>
          <a:xfrm>
            <a:off x="4267200" y="1036320"/>
            <a:ext cx="731520" cy="731520"/>
          </a:xfrm>
          <a:prstGeom prst="rect">
            <a:avLst/>
          </a:prstGeom>
          <a:no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2</a:t>
            </a:r>
            <a:endParaRPr lang="en-US" sz="2133" dirty="0"/>
          </a:p>
        </p:txBody>
      </p:sp>
      <p:sp>
        <p:nvSpPr>
          <p:cNvPr id="14" name="Text 11"/>
          <p:cNvSpPr/>
          <p:nvPr/>
        </p:nvSpPr>
        <p:spPr>
          <a:xfrm>
            <a:off x="3474720" y="1828800"/>
            <a:ext cx="2377440" cy="426720"/>
          </a:xfrm>
          <a:prstGeom prst="rect">
            <a:avLst/>
          </a:prstGeom>
          <a:noFill/>
          <a:ln/>
        </p:spPr>
        <p:txBody>
          <a:bodyPr wrap="square" lIns="0" tIns="0" rIns="0" bIns="0" rtlCol="0" anchor="ctr"/>
          <a:lstStyle/>
          <a:p>
            <a:pPr algn="ctr"/>
            <a:r>
              <a:rPr lang="en-US" sz="1467" b="1" dirty="0">
                <a:solidFill>
                  <a:srgbClr val="0F1E45"/>
                </a:solidFill>
                <a:latin typeface="Calibri" pitchFamily="34" charset="0"/>
                <a:ea typeface="Calibri" pitchFamily="34" charset="-122"/>
                <a:cs typeface="Calibri" pitchFamily="34" charset="-120"/>
              </a:rPr>
              <a:t>Apply 80/10/10 rule</a:t>
            </a:r>
            <a:endParaRPr lang="en-US" sz="1467" dirty="0"/>
          </a:p>
        </p:txBody>
      </p:sp>
      <p:sp>
        <p:nvSpPr>
          <p:cNvPr id="15" name="Text 12"/>
          <p:cNvSpPr/>
          <p:nvPr/>
        </p:nvSpPr>
        <p:spPr>
          <a:xfrm>
            <a:off x="3474720" y="2316480"/>
            <a:ext cx="2377440" cy="1524000"/>
          </a:xfrm>
          <a:prstGeom prst="rect">
            <a:avLst/>
          </a:prstGeom>
          <a:noFill/>
          <a:ln/>
        </p:spPr>
        <p:txBody>
          <a:bodyPr wrap="square" lIns="0" tIns="0" rIns="0" bIns="0" rtlCol="0" anchor="ctr"/>
          <a:lstStyle/>
          <a:p>
            <a:pPr algn="ctr"/>
            <a:r>
              <a:rPr lang="en-US" sz="1333" dirty="0">
                <a:solidFill>
                  <a:srgbClr val="64748B"/>
                </a:solidFill>
                <a:latin typeface="Calibri" pitchFamily="34" charset="0"/>
                <a:ea typeface="Calibri" pitchFamily="34" charset="-122"/>
                <a:cs typeface="Calibri" pitchFamily="34" charset="-120"/>
              </a:rPr>
              <a:t>80% → [MASK]</a:t>
            </a:r>
            <a:endParaRPr lang="en-US" sz="1333" dirty="0"/>
          </a:p>
          <a:p>
            <a:pPr algn="ctr"/>
            <a:r>
              <a:rPr lang="en-US" sz="1333" dirty="0">
                <a:solidFill>
                  <a:srgbClr val="64748B"/>
                </a:solidFill>
                <a:latin typeface="Calibri" pitchFamily="34" charset="0"/>
                <a:ea typeface="Calibri" pitchFamily="34" charset="-122"/>
                <a:cs typeface="Calibri" pitchFamily="34" charset="-120"/>
              </a:rPr>
              <a:t>10% → random word</a:t>
            </a:r>
            <a:endParaRPr lang="en-US" sz="1333" dirty="0"/>
          </a:p>
          <a:p>
            <a:pPr algn="ctr"/>
            <a:r>
              <a:rPr lang="en-US" sz="1333" dirty="0">
                <a:solidFill>
                  <a:srgbClr val="64748B"/>
                </a:solidFill>
                <a:latin typeface="Calibri" pitchFamily="34" charset="0"/>
                <a:ea typeface="Calibri" pitchFamily="34" charset="-122"/>
                <a:cs typeface="Calibri" pitchFamily="34" charset="-120"/>
              </a:rPr>
              <a:t>10% → unchanged</a:t>
            </a:r>
            <a:endParaRPr lang="en-US" sz="1333" dirty="0"/>
          </a:p>
        </p:txBody>
      </p:sp>
      <p:sp>
        <p:nvSpPr>
          <p:cNvPr id="16" name="Shape 13"/>
          <p:cNvSpPr/>
          <p:nvPr/>
        </p:nvSpPr>
        <p:spPr>
          <a:xfrm>
            <a:off x="6217920" y="1158240"/>
            <a:ext cx="2621280" cy="2926080"/>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17" name="Shape 14"/>
          <p:cNvSpPr/>
          <p:nvPr/>
        </p:nvSpPr>
        <p:spPr>
          <a:xfrm>
            <a:off x="7132320" y="1036320"/>
            <a:ext cx="731520" cy="731520"/>
          </a:xfrm>
          <a:prstGeom prst="ellipse">
            <a:avLst/>
          </a:prstGeom>
          <a:solidFill>
            <a:srgbClr val="D97706"/>
          </a:solidFill>
          <a:ln w="12700">
            <a:solidFill>
              <a:srgbClr val="D97706"/>
            </a:solidFill>
            <a:prstDash val="solid"/>
          </a:ln>
        </p:spPr>
      </p:sp>
      <p:sp>
        <p:nvSpPr>
          <p:cNvPr id="18" name="Text 15"/>
          <p:cNvSpPr/>
          <p:nvPr/>
        </p:nvSpPr>
        <p:spPr>
          <a:xfrm>
            <a:off x="7132320" y="1036320"/>
            <a:ext cx="731520" cy="731520"/>
          </a:xfrm>
          <a:prstGeom prst="rect">
            <a:avLst/>
          </a:prstGeom>
          <a:no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3</a:t>
            </a:r>
            <a:endParaRPr lang="en-US" sz="2133" dirty="0"/>
          </a:p>
        </p:txBody>
      </p:sp>
      <p:sp>
        <p:nvSpPr>
          <p:cNvPr id="19" name="Text 16"/>
          <p:cNvSpPr/>
          <p:nvPr/>
        </p:nvSpPr>
        <p:spPr>
          <a:xfrm>
            <a:off x="6339840" y="1828800"/>
            <a:ext cx="2377440" cy="426720"/>
          </a:xfrm>
          <a:prstGeom prst="rect">
            <a:avLst/>
          </a:prstGeom>
          <a:noFill/>
          <a:ln/>
        </p:spPr>
        <p:txBody>
          <a:bodyPr wrap="square" lIns="0" tIns="0" rIns="0" bIns="0" rtlCol="0" anchor="ctr"/>
          <a:lstStyle/>
          <a:p>
            <a:pPr algn="ctr"/>
            <a:r>
              <a:rPr lang="en-US" sz="1467" b="1" dirty="0">
                <a:solidFill>
                  <a:srgbClr val="0F1E45"/>
                </a:solidFill>
                <a:latin typeface="Calibri" pitchFamily="34" charset="0"/>
                <a:ea typeface="Calibri" pitchFamily="34" charset="-122"/>
                <a:cs typeface="Calibri" pitchFamily="34" charset="-120"/>
              </a:rPr>
              <a:t>BERT predicts original</a:t>
            </a:r>
            <a:endParaRPr lang="en-US" sz="1467" dirty="0"/>
          </a:p>
        </p:txBody>
      </p:sp>
      <p:sp>
        <p:nvSpPr>
          <p:cNvPr id="20" name="Text 17"/>
          <p:cNvSpPr/>
          <p:nvPr/>
        </p:nvSpPr>
        <p:spPr>
          <a:xfrm>
            <a:off x="6339840" y="2316480"/>
            <a:ext cx="2377440" cy="1524000"/>
          </a:xfrm>
          <a:prstGeom prst="rect">
            <a:avLst/>
          </a:prstGeom>
          <a:noFill/>
          <a:ln/>
        </p:spPr>
        <p:txBody>
          <a:bodyPr wrap="square" lIns="0" tIns="0" rIns="0" bIns="0" rtlCol="0" anchor="ctr"/>
          <a:lstStyle/>
          <a:p>
            <a:pPr algn="ctr"/>
            <a:r>
              <a:rPr lang="en-US" sz="1333" dirty="0">
                <a:solidFill>
                  <a:srgbClr val="64748B"/>
                </a:solidFill>
                <a:latin typeface="Calibri" pitchFamily="34" charset="0"/>
                <a:ea typeface="Calibri" pitchFamily="34" charset="-122"/>
                <a:cs typeface="Calibri" pitchFamily="34" charset="-120"/>
              </a:rPr>
              <a:t>Uses left + right context</a:t>
            </a:r>
            <a:endParaRPr lang="en-US" sz="1333" dirty="0"/>
          </a:p>
          <a:p>
            <a:pPr algn="ctr"/>
            <a:r>
              <a:rPr lang="en-US" sz="1333" dirty="0">
                <a:solidFill>
                  <a:srgbClr val="64748B"/>
                </a:solidFill>
                <a:latin typeface="Calibri" pitchFamily="34" charset="0"/>
                <a:ea typeface="Calibri" pitchFamily="34" charset="-122"/>
                <a:cs typeface="Calibri" pitchFamily="34" charset="-120"/>
              </a:rPr>
              <a:t>to guess: 'sat'</a:t>
            </a:r>
            <a:endParaRPr lang="en-US" sz="1333" dirty="0"/>
          </a:p>
        </p:txBody>
      </p:sp>
      <p:sp>
        <p:nvSpPr>
          <p:cNvPr id="21" name="Shape 18"/>
          <p:cNvSpPr/>
          <p:nvPr/>
        </p:nvSpPr>
        <p:spPr>
          <a:xfrm>
            <a:off x="9083040" y="1158240"/>
            <a:ext cx="2621280" cy="2926080"/>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22" name="Shape 19"/>
          <p:cNvSpPr/>
          <p:nvPr/>
        </p:nvSpPr>
        <p:spPr>
          <a:xfrm>
            <a:off x="9997440" y="1036320"/>
            <a:ext cx="731520" cy="731520"/>
          </a:xfrm>
          <a:prstGeom prst="ellipse">
            <a:avLst/>
          </a:prstGeom>
          <a:solidFill>
            <a:srgbClr val="059669"/>
          </a:solidFill>
          <a:ln w="12700">
            <a:solidFill>
              <a:srgbClr val="059669"/>
            </a:solidFill>
            <a:prstDash val="solid"/>
          </a:ln>
        </p:spPr>
      </p:sp>
      <p:sp>
        <p:nvSpPr>
          <p:cNvPr id="23" name="Text 20"/>
          <p:cNvSpPr/>
          <p:nvPr/>
        </p:nvSpPr>
        <p:spPr>
          <a:xfrm>
            <a:off x="9997440" y="1036320"/>
            <a:ext cx="731520" cy="731520"/>
          </a:xfrm>
          <a:prstGeom prst="rect">
            <a:avLst/>
          </a:prstGeom>
          <a:no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4</a:t>
            </a:r>
            <a:endParaRPr lang="en-US" sz="2133" dirty="0"/>
          </a:p>
        </p:txBody>
      </p:sp>
      <p:sp>
        <p:nvSpPr>
          <p:cNvPr id="24" name="Text 21"/>
          <p:cNvSpPr/>
          <p:nvPr/>
        </p:nvSpPr>
        <p:spPr>
          <a:xfrm>
            <a:off x="9204960" y="1828800"/>
            <a:ext cx="2377440" cy="426720"/>
          </a:xfrm>
          <a:prstGeom prst="rect">
            <a:avLst/>
          </a:prstGeom>
          <a:noFill/>
          <a:ln/>
        </p:spPr>
        <p:txBody>
          <a:bodyPr wrap="square" lIns="0" tIns="0" rIns="0" bIns="0" rtlCol="0" anchor="ctr"/>
          <a:lstStyle/>
          <a:p>
            <a:pPr algn="ctr"/>
            <a:r>
              <a:rPr lang="en-US" sz="1467" b="1" dirty="0">
                <a:solidFill>
                  <a:srgbClr val="0F1E45"/>
                </a:solidFill>
                <a:latin typeface="Calibri" pitchFamily="34" charset="0"/>
                <a:ea typeface="Calibri" pitchFamily="34" charset="-122"/>
                <a:cs typeface="Calibri" pitchFamily="34" charset="-120"/>
              </a:rPr>
              <a:t>What BERT learns</a:t>
            </a:r>
            <a:endParaRPr lang="en-US" sz="1467" dirty="0"/>
          </a:p>
        </p:txBody>
      </p:sp>
      <p:sp>
        <p:nvSpPr>
          <p:cNvPr id="25" name="Text 22"/>
          <p:cNvSpPr/>
          <p:nvPr/>
        </p:nvSpPr>
        <p:spPr>
          <a:xfrm>
            <a:off x="9204960" y="2316480"/>
            <a:ext cx="2377440" cy="1524000"/>
          </a:xfrm>
          <a:prstGeom prst="rect">
            <a:avLst/>
          </a:prstGeom>
          <a:noFill/>
          <a:ln/>
        </p:spPr>
        <p:txBody>
          <a:bodyPr wrap="square" lIns="0" tIns="0" rIns="0" bIns="0" rtlCol="0" anchor="ctr"/>
          <a:lstStyle/>
          <a:p>
            <a:pPr algn="ctr"/>
            <a:r>
              <a:rPr lang="en-US" sz="1333" dirty="0">
                <a:solidFill>
                  <a:srgbClr val="64748B"/>
                </a:solidFill>
                <a:latin typeface="Calibri" pitchFamily="34" charset="0"/>
                <a:ea typeface="Calibri" pitchFamily="34" charset="-122"/>
                <a:cs typeface="Calibri" pitchFamily="34" charset="-120"/>
              </a:rPr>
              <a:t>Grammar · Semantics</a:t>
            </a:r>
            <a:endParaRPr lang="en-US" sz="1333" dirty="0"/>
          </a:p>
          <a:p>
            <a:pPr algn="ctr"/>
            <a:r>
              <a:rPr lang="en-US" sz="1333" dirty="0">
                <a:solidFill>
                  <a:srgbClr val="64748B"/>
                </a:solidFill>
                <a:latin typeface="Calibri" pitchFamily="34" charset="0"/>
                <a:ea typeface="Calibri" pitchFamily="34" charset="-122"/>
                <a:cs typeface="Calibri" pitchFamily="34" charset="-120"/>
              </a:rPr>
              <a:t>World knowledge</a:t>
            </a:r>
            <a:endParaRPr lang="en-US" sz="1333" dirty="0"/>
          </a:p>
        </p:txBody>
      </p:sp>
      <p:sp>
        <p:nvSpPr>
          <p:cNvPr id="26" name="Text 23"/>
          <p:cNvSpPr/>
          <p:nvPr/>
        </p:nvSpPr>
        <p:spPr>
          <a:xfrm>
            <a:off x="487680" y="4328160"/>
            <a:ext cx="11216640" cy="390144"/>
          </a:xfrm>
          <a:prstGeom prst="rect">
            <a:avLst/>
          </a:prstGeom>
          <a:noFill/>
          <a:ln/>
        </p:spPr>
        <p:txBody>
          <a:bodyPr wrap="square" lIns="0" tIns="0" rIns="0" bIns="0" rtlCol="0" anchor="ctr"/>
          <a:lstStyle/>
          <a:p>
            <a:r>
              <a:rPr lang="en-US" sz="1733" b="1" dirty="0">
                <a:solidFill>
                  <a:srgbClr val="0F1E45"/>
                </a:solidFill>
                <a:latin typeface="Calibri" pitchFamily="34" charset="0"/>
                <a:ea typeface="Calibri" pitchFamily="34" charset="-122"/>
                <a:cs typeface="Calibri" pitchFamily="34" charset="-120"/>
              </a:rPr>
              <a:t>The 80/10/10 Split — Why Not Just 100% Masking?</a:t>
            </a:r>
            <a:endParaRPr lang="en-US" sz="1733" dirty="0"/>
          </a:p>
        </p:txBody>
      </p:sp>
      <p:sp>
        <p:nvSpPr>
          <p:cNvPr id="27" name="Shape 24"/>
          <p:cNvSpPr/>
          <p:nvPr/>
        </p:nvSpPr>
        <p:spPr>
          <a:xfrm>
            <a:off x="487680" y="4815840"/>
            <a:ext cx="3535680" cy="1463040"/>
          </a:xfrm>
          <a:prstGeom prst="rect">
            <a:avLst/>
          </a:prstGeom>
          <a:solidFill>
            <a:srgbClr val="FFFFFF"/>
          </a:solidFill>
          <a:ln w="8890">
            <a:solidFill>
              <a:srgbClr val="DC2626"/>
            </a:solidFill>
            <a:prstDash val="solid"/>
          </a:ln>
          <a:effectLst>
            <a:outerShdw blurRad="101600" dist="38100" dir="8100000" algn="bl" rotWithShape="0">
              <a:srgbClr val="000000">
                <a:alpha val="10000"/>
              </a:srgbClr>
            </a:outerShdw>
          </a:effectLst>
        </p:spPr>
      </p:sp>
      <p:sp>
        <p:nvSpPr>
          <p:cNvPr id="28" name="Shape 25"/>
          <p:cNvSpPr/>
          <p:nvPr/>
        </p:nvSpPr>
        <p:spPr>
          <a:xfrm>
            <a:off x="487680" y="4815840"/>
            <a:ext cx="3535680" cy="426720"/>
          </a:xfrm>
          <a:prstGeom prst="rect">
            <a:avLst/>
          </a:prstGeom>
          <a:solidFill>
            <a:srgbClr val="DC2626"/>
          </a:solidFill>
          <a:ln w="12700">
            <a:solidFill>
              <a:srgbClr val="DC2626"/>
            </a:solidFill>
            <a:prstDash val="solid"/>
          </a:ln>
        </p:spPr>
      </p:sp>
      <p:sp>
        <p:nvSpPr>
          <p:cNvPr id="29" name="Text 26"/>
          <p:cNvSpPr/>
          <p:nvPr/>
        </p:nvSpPr>
        <p:spPr>
          <a:xfrm>
            <a:off x="548640" y="4815840"/>
            <a:ext cx="341376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80% → [MASK] token</a:t>
            </a:r>
            <a:endParaRPr lang="en-US" sz="1467" dirty="0"/>
          </a:p>
        </p:txBody>
      </p:sp>
      <p:sp>
        <p:nvSpPr>
          <p:cNvPr id="30" name="Text 27"/>
          <p:cNvSpPr/>
          <p:nvPr/>
        </p:nvSpPr>
        <p:spPr>
          <a:xfrm>
            <a:off x="609600" y="5303520"/>
            <a:ext cx="3291840" cy="853440"/>
          </a:xfrm>
          <a:prstGeom prst="rect">
            <a:avLst/>
          </a:prstGeom>
          <a:noFill/>
          <a:ln/>
        </p:spPr>
        <p:txBody>
          <a:bodyPr wrap="square" lIns="0" tIns="0" rIns="0" bIns="0" rtlCol="0" anchor="ctr"/>
          <a:lstStyle/>
          <a:p>
            <a:pPr algn="ctr"/>
            <a:r>
              <a:rPr lang="en-US" sz="1333" dirty="0">
                <a:solidFill>
                  <a:srgbClr val="64748B"/>
                </a:solidFill>
                <a:latin typeface="Calibri" pitchFamily="34" charset="0"/>
                <a:ea typeface="Calibri" pitchFamily="34" charset="-122"/>
                <a:cs typeface="Calibri" pitchFamily="34" charset="-120"/>
              </a:rPr>
              <a:t>Primary training signal — forces prediction</a:t>
            </a:r>
            <a:endParaRPr lang="en-US" sz="1333" dirty="0"/>
          </a:p>
        </p:txBody>
      </p:sp>
      <p:sp>
        <p:nvSpPr>
          <p:cNvPr id="31" name="Shape 28"/>
          <p:cNvSpPr/>
          <p:nvPr/>
        </p:nvSpPr>
        <p:spPr>
          <a:xfrm>
            <a:off x="4267200" y="4815840"/>
            <a:ext cx="3535680" cy="1463040"/>
          </a:xfrm>
          <a:prstGeom prst="rect">
            <a:avLst/>
          </a:prstGeom>
          <a:solidFill>
            <a:srgbClr val="FFFFFF"/>
          </a:solidFill>
          <a:ln w="8890">
            <a:solidFill>
              <a:srgbClr val="6D28D9"/>
            </a:solidFill>
            <a:prstDash val="solid"/>
          </a:ln>
          <a:effectLst>
            <a:outerShdw blurRad="101600" dist="38100" dir="8100000" algn="bl" rotWithShape="0">
              <a:srgbClr val="000000">
                <a:alpha val="10000"/>
              </a:srgbClr>
            </a:outerShdw>
          </a:effectLst>
        </p:spPr>
      </p:sp>
      <p:sp>
        <p:nvSpPr>
          <p:cNvPr id="32" name="Shape 29"/>
          <p:cNvSpPr/>
          <p:nvPr/>
        </p:nvSpPr>
        <p:spPr>
          <a:xfrm>
            <a:off x="4267200" y="4815840"/>
            <a:ext cx="3535680" cy="426720"/>
          </a:xfrm>
          <a:prstGeom prst="rect">
            <a:avLst/>
          </a:prstGeom>
          <a:solidFill>
            <a:srgbClr val="6D28D9"/>
          </a:solidFill>
          <a:ln w="12700">
            <a:solidFill>
              <a:srgbClr val="6D28D9"/>
            </a:solidFill>
            <a:prstDash val="solid"/>
          </a:ln>
        </p:spPr>
      </p:sp>
      <p:sp>
        <p:nvSpPr>
          <p:cNvPr id="33" name="Text 30"/>
          <p:cNvSpPr/>
          <p:nvPr/>
        </p:nvSpPr>
        <p:spPr>
          <a:xfrm>
            <a:off x="4328160" y="4815840"/>
            <a:ext cx="341376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10% → Random word</a:t>
            </a:r>
            <a:endParaRPr lang="en-US" sz="1467" dirty="0"/>
          </a:p>
        </p:txBody>
      </p:sp>
      <p:sp>
        <p:nvSpPr>
          <p:cNvPr id="34" name="Text 31"/>
          <p:cNvSpPr/>
          <p:nvPr/>
        </p:nvSpPr>
        <p:spPr>
          <a:xfrm>
            <a:off x="4389120" y="5303520"/>
            <a:ext cx="3291840" cy="853440"/>
          </a:xfrm>
          <a:prstGeom prst="rect">
            <a:avLst/>
          </a:prstGeom>
          <a:noFill/>
          <a:ln/>
        </p:spPr>
        <p:txBody>
          <a:bodyPr wrap="square" lIns="0" tIns="0" rIns="0" bIns="0" rtlCol="0" anchor="ctr"/>
          <a:lstStyle/>
          <a:p>
            <a:pPr algn="ctr"/>
            <a:r>
              <a:rPr lang="en-US" sz="1333" dirty="0">
                <a:solidFill>
                  <a:srgbClr val="64748B"/>
                </a:solidFill>
                <a:latin typeface="Calibri" pitchFamily="34" charset="0"/>
                <a:ea typeface="Calibri" pitchFamily="34" charset="-122"/>
                <a:cs typeface="Calibri" pitchFamily="34" charset="-120"/>
              </a:rPr>
              <a:t>Keeps model alert — can't trust token identity</a:t>
            </a:r>
            <a:endParaRPr lang="en-US" sz="1333" dirty="0"/>
          </a:p>
        </p:txBody>
      </p:sp>
      <p:sp>
        <p:nvSpPr>
          <p:cNvPr id="35" name="Shape 32"/>
          <p:cNvSpPr/>
          <p:nvPr/>
        </p:nvSpPr>
        <p:spPr>
          <a:xfrm>
            <a:off x="8046720" y="4815840"/>
            <a:ext cx="3535680" cy="1463040"/>
          </a:xfrm>
          <a:prstGeom prst="rect">
            <a:avLst/>
          </a:prstGeom>
          <a:solidFill>
            <a:srgbClr val="FFFFFF"/>
          </a:solidFill>
          <a:ln w="8890">
            <a:solidFill>
              <a:srgbClr val="0D9488"/>
            </a:solidFill>
            <a:prstDash val="solid"/>
          </a:ln>
          <a:effectLst>
            <a:outerShdw blurRad="101600" dist="38100" dir="8100000" algn="bl" rotWithShape="0">
              <a:srgbClr val="000000">
                <a:alpha val="10000"/>
              </a:srgbClr>
            </a:outerShdw>
          </a:effectLst>
        </p:spPr>
      </p:sp>
      <p:sp>
        <p:nvSpPr>
          <p:cNvPr id="36" name="Shape 33"/>
          <p:cNvSpPr/>
          <p:nvPr/>
        </p:nvSpPr>
        <p:spPr>
          <a:xfrm>
            <a:off x="8046720" y="4815840"/>
            <a:ext cx="3535680" cy="426720"/>
          </a:xfrm>
          <a:prstGeom prst="rect">
            <a:avLst/>
          </a:prstGeom>
          <a:solidFill>
            <a:srgbClr val="0D9488"/>
          </a:solidFill>
          <a:ln w="12700">
            <a:solidFill>
              <a:srgbClr val="0D9488"/>
            </a:solidFill>
            <a:prstDash val="solid"/>
          </a:ln>
        </p:spPr>
      </p:sp>
      <p:sp>
        <p:nvSpPr>
          <p:cNvPr id="37" name="Text 34"/>
          <p:cNvSpPr/>
          <p:nvPr/>
        </p:nvSpPr>
        <p:spPr>
          <a:xfrm>
            <a:off x="8107680" y="4815840"/>
            <a:ext cx="341376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10% → Unchanged</a:t>
            </a:r>
            <a:endParaRPr lang="en-US" sz="1467" dirty="0"/>
          </a:p>
        </p:txBody>
      </p:sp>
      <p:sp>
        <p:nvSpPr>
          <p:cNvPr id="38" name="Text 35"/>
          <p:cNvSpPr/>
          <p:nvPr/>
        </p:nvSpPr>
        <p:spPr>
          <a:xfrm>
            <a:off x="8168640" y="5303520"/>
            <a:ext cx="3291840" cy="853440"/>
          </a:xfrm>
          <a:prstGeom prst="rect">
            <a:avLst/>
          </a:prstGeom>
          <a:noFill/>
          <a:ln/>
        </p:spPr>
        <p:txBody>
          <a:bodyPr wrap="square" lIns="0" tIns="0" rIns="0" bIns="0" rtlCol="0" anchor="ctr"/>
          <a:lstStyle/>
          <a:p>
            <a:pPr algn="ctr"/>
            <a:r>
              <a:rPr lang="en-US" sz="1333" dirty="0">
                <a:solidFill>
                  <a:srgbClr val="64748B"/>
                </a:solidFill>
                <a:latin typeface="Calibri" pitchFamily="34" charset="0"/>
                <a:ea typeface="Calibri" pitchFamily="34" charset="-122"/>
                <a:cs typeface="Calibri" pitchFamily="34" charset="-120"/>
              </a:rPr>
              <a:t>Critical: ensures good representations for all tokens, not just masked ones</a:t>
            </a:r>
            <a:endParaRPr lang="en-US" sz="1333"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6699A0-83BE-30A3-D98E-8249A0CD629D}"/>
              </a:ext>
            </a:extLst>
          </p:cNvPr>
          <p:cNvPicPr>
            <a:picLocks noChangeAspect="1"/>
          </p:cNvPicPr>
          <p:nvPr/>
        </p:nvPicPr>
        <p:blipFill>
          <a:blip r:embed="rId3"/>
          <a:stretch>
            <a:fillRect/>
          </a:stretch>
        </p:blipFill>
        <p:spPr>
          <a:xfrm>
            <a:off x="926124" y="1312986"/>
            <a:ext cx="9838310" cy="2504708"/>
          </a:xfrm>
          <a:prstGeom prst="rect">
            <a:avLst/>
          </a:prstGeom>
        </p:spPr>
      </p:pic>
      <p:sp>
        <p:nvSpPr>
          <p:cNvPr id="4" name="Text 1">
            <a:extLst>
              <a:ext uri="{FF2B5EF4-FFF2-40B4-BE49-F238E27FC236}">
                <a16:creationId xmlns:a16="http://schemas.microsoft.com/office/drawing/2014/main" id="{1CFEA68F-FF80-6505-7E99-2AA8456D229A}"/>
              </a:ext>
            </a:extLst>
          </p:cNvPr>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Next Sentence Prediction (NSP)</a:t>
            </a:r>
            <a:endParaRPr lang="en-US" sz="3467" dirty="0"/>
          </a:p>
        </p:txBody>
      </p:sp>
      <p:sp>
        <p:nvSpPr>
          <p:cNvPr id="6" name="TextBox 5">
            <a:extLst>
              <a:ext uri="{FF2B5EF4-FFF2-40B4-BE49-F238E27FC236}">
                <a16:creationId xmlns:a16="http://schemas.microsoft.com/office/drawing/2014/main" id="{28D670B1-EBF1-711F-515C-837AFFC72AFF}"/>
              </a:ext>
            </a:extLst>
          </p:cNvPr>
          <p:cNvSpPr txBox="1"/>
          <p:nvPr/>
        </p:nvSpPr>
        <p:spPr>
          <a:xfrm>
            <a:off x="1465384" y="4845206"/>
            <a:ext cx="6096000" cy="1200329"/>
          </a:xfrm>
          <a:prstGeom prst="rect">
            <a:avLst/>
          </a:prstGeom>
          <a:noFill/>
        </p:spPr>
        <p:txBody>
          <a:bodyPr wrap="square">
            <a:spAutoFit/>
          </a:bodyPr>
          <a:lstStyle/>
          <a:p>
            <a:pPr>
              <a:buNone/>
            </a:pPr>
            <a:r>
              <a:rPr lang="en-IN" dirty="0"/>
              <a:t>Both losses are </a:t>
            </a:r>
            <a:r>
              <a:rPr lang="en-IN" b="1" dirty="0"/>
              <a:t>added together</a:t>
            </a:r>
            <a:r>
              <a:rPr lang="en-IN" dirty="0"/>
              <a:t> and optimized simultaneously during pretraining.</a:t>
            </a:r>
          </a:p>
          <a:p>
            <a:pPr>
              <a:buNone/>
            </a:pPr>
            <a:r>
              <a:rPr lang="en-IN" dirty="0"/>
              <a:t>Specifically:</a:t>
            </a:r>
          </a:p>
          <a:p>
            <a:pPr>
              <a:buNone/>
            </a:pPr>
            <a:r>
              <a:rPr lang="en-IN" b="1" dirty="0"/>
              <a:t>Total Loss = L_MLM + L_NSP</a:t>
            </a:r>
            <a:endParaRPr lang="en-IN" dirty="0"/>
          </a:p>
        </p:txBody>
      </p:sp>
    </p:spTree>
    <p:extLst>
      <p:ext uri="{BB962C8B-B14F-4D97-AF65-F5344CB8AC3E}">
        <p14:creationId xmlns:p14="http://schemas.microsoft.com/office/powerpoint/2010/main" val="6227164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D9488"/>
          </a:solidFill>
          <a:ln w="12700">
            <a:solidFill>
              <a:srgbClr val="0D9488"/>
            </a:solidFill>
            <a:prstDash val="solid"/>
          </a:ln>
        </p:spPr>
      </p:sp>
      <p:sp>
        <p:nvSpPr>
          <p:cNvPr id="3" name="Text 1"/>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Next Sentence Prediction (NSP)</a:t>
            </a:r>
            <a:endParaRPr lang="en-US" sz="3467" dirty="0"/>
          </a:p>
        </p:txBody>
      </p:sp>
      <p:sp>
        <p:nvSpPr>
          <p:cNvPr id="4" name="Shape 2"/>
          <p:cNvSpPr/>
          <p:nvPr/>
        </p:nvSpPr>
        <p:spPr>
          <a:xfrm>
            <a:off x="609600" y="999744"/>
            <a:ext cx="10972800" cy="30480"/>
          </a:xfrm>
          <a:prstGeom prst="rect">
            <a:avLst/>
          </a:prstGeom>
          <a:solidFill>
            <a:srgbClr val="CBD5E1"/>
          </a:solidFill>
          <a:ln w="12700">
            <a:solidFill>
              <a:srgbClr val="CBD5E1"/>
            </a:solidFill>
            <a:prstDash val="solid"/>
          </a:ln>
        </p:spPr>
      </p:sp>
      <p:sp>
        <p:nvSpPr>
          <p:cNvPr id="6" name="Text 3"/>
          <p:cNvSpPr/>
          <p:nvPr/>
        </p:nvSpPr>
        <p:spPr>
          <a:xfrm>
            <a:off x="487680" y="1158240"/>
            <a:ext cx="5486400" cy="365760"/>
          </a:xfrm>
          <a:prstGeom prst="rect">
            <a:avLst/>
          </a:prstGeom>
          <a:noFill/>
          <a:ln/>
        </p:spPr>
        <p:txBody>
          <a:bodyPr wrap="square" lIns="0" tIns="0" rIns="0" bIns="0" rtlCol="0" anchor="ctr"/>
          <a:lstStyle/>
          <a:p>
            <a:r>
              <a:rPr lang="en-US" sz="1600" b="1" dirty="0">
                <a:solidFill>
                  <a:srgbClr val="059669"/>
                </a:solidFill>
                <a:latin typeface="Calibri" pitchFamily="34" charset="0"/>
                <a:ea typeface="Calibri" pitchFamily="34" charset="-122"/>
                <a:cs typeface="Calibri" pitchFamily="34" charset="-120"/>
              </a:rPr>
              <a:t>Positive Pair (IsNext = True)</a:t>
            </a:r>
            <a:endParaRPr lang="en-US" sz="1600" dirty="0"/>
          </a:p>
        </p:txBody>
      </p:sp>
      <p:sp>
        <p:nvSpPr>
          <p:cNvPr id="7" name="Shape 4"/>
          <p:cNvSpPr/>
          <p:nvPr/>
        </p:nvSpPr>
        <p:spPr>
          <a:xfrm>
            <a:off x="487680" y="1584960"/>
            <a:ext cx="5242560" cy="670560"/>
          </a:xfrm>
          <a:prstGeom prst="rect">
            <a:avLst/>
          </a:prstGeom>
          <a:solidFill>
            <a:srgbClr val="F0FDF4"/>
          </a:solidFill>
          <a:ln w="6350">
            <a:solidFill>
              <a:srgbClr val="0D9488"/>
            </a:solidFill>
            <a:prstDash val="solid"/>
          </a:ln>
        </p:spPr>
      </p:sp>
      <p:sp>
        <p:nvSpPr>
          <p:cNvPr id="8" name="Text 5"/>
          <p:cNvSpPr/>
          <p:nvPr/>
        </p:nvSpPr>
        <p:spPr>
          <a:xfrm>
            <a:off x="609600" y="1584960"/>
            <a:ext cx="4998720" cy="670560"/>
          </a:xfrm>
          <a:prstGeom prst="rect">
            <a:avLst/>
          </a:prstGeom>
          <a:noFill/>
          <a:ln/>
        </p:spPr>
        <p:txBody>
          <a:bodyPr wrap="square" lIns="0" tIns="0" rIns="0" bIns="0" rtlCol="0" anchor="ctr"/>
          <a:lstStyle/>
          <a:p>
            <a:r>
              <a:rPr lang="en-US" sz="1467" dirty="0">
                <a:solidFill>
                  <a:srgbClr val="0F1E45"/>
                </a:solidFill>
                <a:latin typeface="Calibri" pitchFamily="34" charset="0"/>
                <a:ea typeface="Calibri" pitchFamily="34" charset="-122"/>
                <a:cs typeface="Calibri" pitchFamily="34" charset="-120"/>
              </a:rPr>
              <a:t>A: "She studied all night for the exam."</a:t>
            </a:r>
            <a:endParaRPr lang="en-US" sz="1467" dirty="0"/>
          </a:p>
        </p:txBody>
      </p:sp>
      <p:sp>
        <p:nvSpPr>
          <p:cNvPr id="9" name="Shape 6"/>
          <p:cNvSpPr/>
          <p:nvPr/>
        </p:nvSpPr>
        <p:spPr>
          <a:xfrm>
            <a:off x="487680" y="2340864"/>
            <a:ext cx="5242560" cy="670560"/>
          </a:xfrm>
          <a:prstGeom prst="rect">
            <a:avLst/>
          </a:prstGeom>
          <a:solidFill>
            <a:srgbClr val="F0FDF4"/>
          </a:solidFill>
          <a:ln w="6350">
            <a:solidFill>
              <a:srgbClr val="0D9488"/>
            </a:solidFill>
            <a:prstDash val="solid"/>
          </a:ln>
        </p:spPr>
      </p:sp>
      <p:sp>
        <p:nvSpPr>
          <p:cNvPr id="10" name="Text 7"/>
          <p:cNvSpPr/>
          <p:nvPr/>
        </p:nvSpPr>
        <p:spPr>
          <a:xfrm>
            <a:off x="609600" y="2340864"/>
            <a:ext cx="4998720" cy="670560"/>
          </a:xfrm>
          <a:prstGeom prst="rect">
            <a:avLst/>
          </a:prstGeom>
          <a:noFill/>
          <a:ln/>
        </p:spPr>
        <p:txBody>
          <a:bodyPr wrap="square" lIns="0" tIns="0" rIns="0" bIns="0" rtlCol="0" anchor="ctr"/>
          <a:lstStyle/>
          <a:p>
            <a:r>
              <a:rPr lang="en-US" sz="1467" dirty="0">
                <a:solidFill>
                  <a:srgbClr val="0F1E45"/>
                </a:solidFill>
                <a:latin typeface="Calibri" pitchFamily="34" charset="0"/>
                <a:ea typeface="Calibri" pitchFamily="34" charset="-122"/>
                <a:cs typeface="Calibri" pitchFamily="34" charset="-120"/>
              </a:rPr>
              <a:t>B: "The results came back better than expected."</a:t>
            </a:r>
            <a:endParaRPr lang="en-US" sz="1467" dirty="0"/>
          </a:p>
        </p:txBody>
      </p:sp>
      <p:sp>
        <p:nvSpPr>
          <p:cNvPr id="11" name="Text 8"/>
          <p:cNvSpPr/>
          <p:nvPr/>
        </p:nvSpPr>
        <p:spPr>
          <a:xfrm>
            <a:off x="487680" y="3072384"/>
            <a:ext cx="5242560" cy="365760"/>
          </a:xfrm>
          <a:prstGeom prst="rect">
            <a:avLst/>
          </a:prstGeom>
          <a:noFill/>
          <a:ln/>
        </p:spPr>
        <p:txBody>
          <a:bodyPr wrap="square" lIns="0" tIns="0" rIns="0" bIns="0" rtlCol="0" anchor="ctr"/>
          <a:lstStyle/>
          <a:p>
            <a:pPr algn="ctr"/>
            <a:r>
              <a:rPr lang="en-US" sz="1333" i="1" dirty="0">
                <a:solidFill>
                  <a:srgbClr val="64748B"/>
                </a:solidFill>
                <a:latin typeface="Calibri" pitchFamily="34" charset="0"/>
                <a:ea typeface="Calibri" pitchFamily="34" charset="-122"/>
                <a:cs typeface="Calibri" pitchFamily="34" charset="-120"/>
              </a:rPr>
              <a:t>← genuinely consecutive in source text</a:t>
            </a:r>
            <a:endParaRPr lang="en-US" sz="1333" dirty="0"/>
          </a:p>
        </p:txBody>
      </p:sp>
      <p:sp>
        <p:nvSpPr>
          <p:cNvPr id="12" name="Text 9"/>
          <p:cNvSpPr/>
          <p:nvPr/>
        </p:nvSpPr>
        <p:spPr>
          <a:xfrm>
            <a:off x="6583680" y="1158240"/>
            <a:ext cx="5120640" cy="365760"/>
          </a:xfrm>
          <a:prstGeom prst="rect">
            <a:avLst/>
          </a:prstGeom>
          <a:noFill/>
          <a:ln/>
        </p:spPr>
        <p:txBody>
          <a:bodyPr wrap="square" lIns="0" tIns="0" rIns="0" bIns="0" rtlCol="0" anchor="ctr"/>
          <a:lstStyle/>
          <a:p>
            <a:r>
              <a:rPr lang="en-US" sz="1600" b="1" dirty="0">
                <a:solidFill>
                  <a:srgbClr val="DC2626"/>
                </a:solidFill>
                <a:latin typeface="Calibri" pitchFamily="34" charset="0"/>
                <a:ea typeface="Calibri" pitchFamily="34" charset="-122"/>
                <a:cs typeface="Calibri" pitchFamily="34" charset="-120"/>
              </a:rPr>
              <a:t>Negative Pair (IsNext = False)</a:t>
            </a:r>
            <a:endParaRPr lang="en-US" sz="1600" dirty="0"/>
          </a:p>
        </p:txBody>
      </p:sp>
      <p:sp>
        <p:nvSpPr>
          <p:cNvPr id="13" name="Shape 10"/>
          <p:cNvSpPr/>
          <p:nvPr/>
        </p:nvSpPr>
        <p:spPr>
          <a:xfrm>
            <a:off x="6583680" y="1584960"/>
            <a:ext cx="5120640" cy="670560"/>
          </a:xfrm>
          <a:prstGeom prst="rect">
            <a:avLst/>
          </a:prstGeom>
          <a:solidFill>
            <a:srgbClr val="FFF1F1"/>
          </a:solidFill>
          <a:ln w="6350">
            <a:solidFill>
              <a:srgbClr val="DC2626"/>
            </a:solidFill>
            <a:prstDash val="solid"/>
          </a:ln>
        </p:spPr>
      </p:sp>
      <p:sp>
        <p:nvSpPr>
          <p:cNvPr id="14" name="Text 11"/>
          <p:cNvSpPr/>
          <p:nvPr/>
        </p:nvSpPr>
        <p:spPr>
          <a:xfrm>
            <a:off x="6705600" y="1584960"/>
            <a:ext cx="4876800" cy="670560"/>
          </a:xfrm>
          <a:prstGeom prst="rect">
            <a:avLst/>
          </a:prstGeom>
          <a:noFill/>
          <a:ln/>
        </p:spPr>
        <p:txBody>
          <a:bodyPr wrap="square" lIns="0" tIns="0" rIns="0" bIns="0" rtlCol="0" anchor="ctr"/>
          <a:lstStyle/>
          <a:p>
            <a:r>
              <a:rPr lang="en-US" sz="1467" dirty="0">
                <a:solidFill>
                  <a:srgbClr val="0F1E45"/>
                </a:solidFill>
                <a:latin typeface="Calibri" pitchFamily="34" charset="0"/>
                <a:ea typeface="Calibri" pitchFamily="34" charset="-122"/>
                <a:cs typeface="Calibri" pitchFamily="34" charset="-120"/>
              </a:rPr>
              <a:t>A: "She studied all night for the exam."</a:t>
            </a:r>
            <a:endParaRPr lang="en-US" sz="1467" dirty="0"/>
          </a:p>
        </p:txBody>
      </p:sp>
      <p:sp>
        <p:nvSpPr>
          <p:cNvPr id="15" name="Shape 12"/>
          <p:cNvSpPr/>
          <p:nvPr/>
        </p:nvSpPr>
        <p:spPr>
          <a:xfrm>
            <a:off x="6583680" y="2340864"/>
            <a:ext cx="5120640" cy="670560"/>
          </a:xfrm>
          <a:prstGeom prst="rect">
            <a:avLst/>
          </a:prstGeom>
          <a:solidFill>
            <a:srgbClr val="FFF1F1"/>
          </a:solidFill>
          <a:ln w="6350">
            <a:solidFill>
              <a:srgbClr val="DC2626"/>
            </a:solidFill>
            <a:prstDash val="solid"/>
          </a:ln>
        </p:spPr>
      </p:sp>
      <p:sp>
        <p:nvSpPr>
          <p:cNvPr id="16" name="Text 13"/>
          <p:cNvSpPr/>
          <p:nvPr/>
        </p:nvSpPr>
        <p:spPr>
          <a:xfrm>
            <a:off x="6705600" y="2340864"/>
            <a:ext cx="4876800" cy="670560"/>
          </a:xfrm>
          <a:prstGeom prst="rect">
            <a:avLst/>
          </a:prstGeom>
          <a:noFill/>
          <a:ln/>
        </p:spPr>
        <p:txBody>
          <a:bodyPr wrap="square" lIns="0" tIns="0" rIns="0" bIns="0" rtlCol="0" anchor="ctr"/>
          <a:lstStyle/>
          <a:p>
            <a:r>
              <a:rPr lang="en-US" sz="1467" dirty="0">
                <a:solidFill>
                  <a:srgbClr val="0F1E45"/>
                </a:solidFill>
                <a:latin typeface="Calibri" pitchFamily="34" charset="0"/>
                <a:ea typeface="Calibri" pitchFamily="34" charset="-122"/>
                <a:cs typeface="Calibri" pitchFamily="34" charset="-120"/>
              </a:rPr>
              <a:t>B: "Penguins live in the southern hemisphere."</a:t>
            </a:r>
            <a:endParaRPr lang="en-US" sz="1467" dirty="0"/>
          </a:p>
        </p:txBody>
      </p:sp>
      <p:sp>
        <p:nvSpPr>
          <p:cNvPr id="17" name="Text 14"/>
          <p:cNvSpPr/>
          <p:nvPr/>
        </p:nvSpPr>
        <p:spPr>
          <a:xfrm>
            <a:off x="6583680" y="3072384"/>
            <a:ext cx="5120640" cy="365760"/>
          </a:xfrm>
          <a:prstGeom prst="rect">
            <a:avLst/>
          </a:prstGeom>
          <a:noFill/>
          <a:ln/>
        </p:spPr>
        <p:txBody>
          <a:bodyPr wrap="square" lIns="0" tIns="0" rIns="0" bIns="0" rtlCol="0" anchor="ctr"/>
          <a:lstStyle/>
          <a:p>
            <a:pPr algn="ctr"/>
            <a:r>
              <a:rPr lang="en-US" sz="1333" i="1" dirty="0">
                <a:solidFill>
                  <a:srgbClr val="64748B"/>
                </a:solidFill>
                <a:latin typeface="Calibri" pitchFamily="34" charset="0"/>
                <a:ea typeface="Calibri" pitchFamily="34" charset="-122"/>
                <a:cs typeface="Calibri" pitchFamily="34" charset="-120"/>
              </a:rPr>
              <a:t>← random sentence from different document</a:t>
            </a:r>
            <a:endParaRPr lang="en-US" sz="1333" dirty="0"/>
          </a:p>
        </p:txBody>
      </p:sp>
      <p:sp>
        <p:nvSpPr>
          <p:cNvPr id="18" name="Text 15"/>
          <p:cNvSpPr/>
          <p:nvPr/>
        </p:nvSpPr>
        <p:spPr>
          <a:xfrm>
            <a:off x="487680" y="3596640"/>
            <a:ext cx="11216640" cy="365760"/>
          </a:xfrm>
          <a:prstGeom prst="rect">
            <a:avLst/>
          </a:prstGeom>
          <a:noFill/>
          <a:ln/>
        </p:spPr>
        <p:txBody>
          <a:bodyPr wrap="square" lIns="0" tIns="0" rIns="0" bIns="0" rtlCol="0" anchor="ctr"/>
          <a:lstStyle/>
          <a:p>
            <a:r>
              <a:rPr lang="en-US" sz="1600" b="1" dirty="0">
                <a:solidFill>
                  <a:srgbClr val="0F1E45"/>
                </a:solidFill>
                <a:latin typeface="Calibri" pitchFamily="34" charset="0"/>
                <a:ea typeface="Calibri" pitchFamily="34" charset="-122"/>
                <a:cs typeface="Calibri" pitchFamily="34" charset="-120"/>
              </a:rPr>
              <a:t>Input format fed to BERT:</a:t>
            </a:r>
            <a:endParaRPr lang="en-US" sz="1600" dirty="0"/>
          </a:p>
        </p:txBody>
      </p:sp>
      <p:sp>
        <p:nvSpPr>
          <p:cNvPr id="19" name="Shape 16"/>
          <p:cNvSpPr/>
          <p:nvPr/>
        </p:nvSpPr>
        <p:spPr>
          <a:xfrm>
            <a:off x="487680" y="4084320"/>
            <a:ext cx="914400" cy="512064"/>
          </a:xfrm>
          <a:prstGeom prst="rect">
            <a:avLst/>
          </a:prstGeom>
          <a:solidFill>
            <a:srgbClr val="FFFFFF"/>
          </a:solidFill>
          <a:ln w="10160">
            <a:solidFill>
              <a:srgbClr val="D97706"/>
            </a:solidFill>
            <a:prstDash val="solid"/>
          </a:ln>
        </p:spPr>
      </p:sp>
      <p:sp>
        <p:nvSpPr>
          <p:cNvPr id="20" name="Text 17"/>
          <p:cNvSpPr/>
          <p:nvPr/>
        </p:nvSpPr>
        <p:spPr>
          <a:xfrm>
            <a:off x="536448" y="4084320"/>
            <a:ext cx="816864" cy="512064"/>
          </a:xfrm>
          <a:prstGeom prst="rect">
            <a:avLst/>
          </a:prstGeom>
          <a:noFill/>
          <a:ln/>
        </p:spPr>
        <p:txBody>
          <a:bodyPr wrap="square" lIns="0" tIns="0" rIns="0" bIns="0" rtlCol="0" anchor="ctr"/>
          <a:lstStyle/>
          <a:p>
            <a:pPr algn="ctr"/>
            <a:r>
              <a:rPr lang="en-US" sz="1333" b="1" dirty="0">
                <a:solidFill>
                  <a:srgbClr val="D97706"/>
                </a:solidFill>
                <a:latin typeface="Calibri" pitchFamily="34" charset="0"/>
                <a:ea typeface="Calibri" pitchFamily="34" charset="-122"/>
                <a:cs typeface="Calibri" pitchFamily="34" charset="-120"/>
              </a:rPr>
              <a:t>[CLS]</a:t>
            </a:r>
            <a:endParaRPr lang="en-US" sz="1333" dirty="0"/>
          </a:p>
        </p:txBody>
      </p:sp>
      <p:sp>
        <p:nvSpPr>
          <p:cNvPr id="21" name="Shape 18"/>
          <p:cNvSpPr/>
          <p:nvPr/>
        </p:nvSpPr>
        <p:spPr>
          <a:xfrm>
            <a:off x="1524000" y="4084320"/>
            <a:ext cx="3413760" cy="512064"/>
          </a:xfrm>
          <a:prstGeom prst="rect">
            <a:avLst/>
          </a:prstGeom>
          <a:solidFill>
            <a:srgbClr val="FFFFFF"/>
          </a:solidFill>
          <a:ln w="10160">
            <a:solidFill>
              <a:srgbClr val="0D9488"/>
            </a:solidFill>
            <a:prstDash val="solid"/>
          </a:ln>
        </p:spPr>
      </p:sp>
      <p:sp>
        <p:nvSpPr>
          <p:cNvPr id="22" name="Text 19"/>
          <p:cNvSpPr/>
          <p:nvPr/>
        </p:nvSpPr>
        <p:spPr>
          <a:xfrm>
            <a:off x="1572768" y="4084320"/>
            <a:ext cx="3316224" cy="512064"/>
          </a:xfrm>
          <a:prstGeom prst="rect">
            <a:avLst/>
          </a:prstGeom>
          <a:noFill/>
          <a:ln/>
        </p:spPr>
        <p:txBody>
          <a:bodyPr wrap="square" lIns="0" tIns="0" rIns="0" bIns="0" rtlCol="0" anchor="ctr"/>
          <a:lstStyle/>
          <a:p>
            <a:pPr algn="ctr"/>
            <a:r>
              <a:rPr lang="en-US" sz="1333" dirty="0">
                <a:solidFill>
                  <a:srgbClr val="0D9488"/>
                </a:solidFill>
                <a:latin typeface="Calibri" pitchFamily="34" charset="0"/>
                <a:ea typeface="Calibri" pitchFamily="34" charset="-122"/>
                <a:cs typeface="Calibri" pitchFamily="34" charset="-120"/>
              </a:rPr>
              <a:t>Sentence A tokens</a:t>
            </a:r>
            <a:endParaRPr lang="en-US" sz="1333" dirty="0"/>
          </a:p>
        </p:txBody>
      </p:sp>
      <p:sp>
        <p:nvSpPr>
          <p:cNvPr id="23" name="Shape 20"/>
          <p:cNvSpPr/>
          <p:nvPr/>
        </p:nvSpPr>
        <p:spPr>
          <a:xfrm>
            <a:off x="5059680" y="4084320"/>
            <a:ext cx="914400" cy="512064"/>
          </a:xfrm>
          <a:prstGeom prst="rect">
            <a:avLst/>
          </a:prstGeom>
          <a:solidFill>
            <a:srgbClr val="FFFFFF"/>
          </a:solidFill>
          <a:ln w="10160">
            <a:solidFill>
              <a:srgbClr val="64748B"/>
            </a:solidFill>
            <a:prstDash val="solid"/>
          </a:ln>
        </p:spPr>
      </p:sp>
      <p:sp>
        <p:nvSpPr>
          <p:cNvPr id="24" name="Text 21"/>
          <p:cNvSpPr/>
          <p:nvPr/>
        </p:nvSpPr>
        <p:spPr>
          <a:xfrm>
            <a:off x="5108448" y="4084320"/>
            <a:ext cx="816864" cy="512064"/>
          </a:xfrm>
          <a:prstGeom prst="rect">
            <a:avLst/>
          </a:prstGeom>
          <a:noFill/>
          <a:ln/>
        </p:spPr>
        <p:txBody>
          <a:bodyPr wrap="square" lIns="0" tIns="0" rIns="0" bIns="0" rtlCol="0" anchor="ctr"/>
          <a:lstStyle/>
          <a:p>
            <a:pPr algn="ctr"/>
            <a:r>
              <a:rPr lang="en-US" sz="1333" b="1" dirty="0">
                <a:solidFill>
                  <a:srgbClr val="64748B"/>
                </a:solidFill>
                <a:latin typeface="Calibri" pitchFamily="34" charset="0"/>
                <a:ea typeface="Calibri" pitchFamily="34" charset="-122"/>
                <a:cs typeface="Calibri" pitchFamily="34" charset="-120"/>
              </a:rPr>
              <a:t>[SEP]</a:t>
            </a:r>
            <a:endParaRPr lang="en-US" sz="1333" dirty="0"/>
          </a:p>
        </p:txBody>
      </p:sp>
      <p:sp>
        <p:nvSpPr>
          <p:cNvPr id="25" name="Shape 22"/>
          <p:cNvSpPr/>
          <p:nvPr/>
        </p:nvSpPr>
        <p:spPr>
          <a:xfrm>
            <a:off x="6096000" y="4084320"/>
            <a:ext cx="3413760" cy="512064"/>
          </a:xfrm>
          <a:prstGeom prst="rect">
            <a:avLst/>
          </a:prstGeom>
          <a:solidFill>
            <a:srgbClr val="FFFFFF"/>
          </a:solidFill>
          <a:ln w="10160">
            <a:solidFill>
              <a:srgbClr val="0EA5E9"/>
            </a:solidFill>
            <a:prstDash val="solid"/>
          </a:ln>
        </p:spPr>
      </p:sp>
      <p:sp>
        <p:nvSpPr>
          <p:cNvPr id="26" name="Text 23"/>
          <p:cNvSpPr/>
          <p:nvPr/>
        </p:nvSpPr>
        <p:spPr>
          <a:xfrm>
            <a:off x="6144768" y="4084320"/>
            <a:ext cx="3316224" cy="512064"/>
          </a:xfrm>
          <a:prstGeom prst="rect">
            <a:avLst/>
          </a:prstGeom>
          <a:noFill/>
          <a:ln/>
        </p:spPr>
        <p:txBody>
          <a:bodyPr wrap="square" lIns="0" tIns="0" rIns="0" bIns="0" rtlCol="0" anchor="ctr"/>
          <a:lstStyle/>
          <a:p>
            <a:pPr algn="ctr"/>
            <a:r>
              <a:rPr lang="en-US" sz="1333" dirty="0">
                <a:solidFill>
                  <a:srgbClr val="0EA5E9"/>
                </a:solidFill>
                <a:latin typeface="Calibri" pitchFamily="34" charset="0"/>
                <a:ea typeface="Calibri" pitchFamily="34" charset="-122"/>
                <a:cs typeface="Calibri" pitchFamily="34" charset="-120"/>
              </a:rPr>
              <a:t>Sentence B tokens</a:t>
            </a:r>
            <a:endParaRPr lang="en-US" sz="1333" dirty="0"/>
          </a:p>
        </p:txBody>
      </p:sp>
      <p:sp>
        <p:nvSpPr>
          <p:cNvPr id="27" name="Shape 24"/>
          <p:cNvSpPr/>
          <p:nvPr/>
        </p:nvSpPr>
        <p:spPr>
          <a:xfrm>
            <a:off x="9631680" y="4084320"/>
            <a:ext cx="914400" cy="512064"/>
          </a:xfrm>
          <a:prstGeom prst="rect">
            <a:avLst/>
          </a:prstGeom>
          <a:solidFill>
            <a:srgbClr val="FFFFFF"/>
          </a:solidFill>
          <a:ln w="10160">
            <a:solidFill>
              <a:srgbClr val="64748B"/>
            </a:solidFill>
            <a:prstDash val="solid"/>
          </a:ln>
        </p:spPr>
      </p:sp>
      <p:sp>
        <p:nvSpPr>
          <p:cNvPr id="28" name="Text 25"/>
          <p:cNvSpPr/>
          <p:nvPr/>
        </p:nvSpPr>
        <p:spPr>
          <a:xfrm>
            <a:off x="9680448" y="4084320"/>
            <a:ext cx="816864" cy="512064"/>
          </a:xfrm>
          <a:prstGeom prst="rect">
            <a:avLst/>
          </a:prstGeom>
          <a:noFill/>
          <a:ln/>
        </p:spPr>
        <p:txBody>
          <a:bodyPr wrap="square" lIns="0" tIns="0" rIns="0" bIns="0" rtlCol="0" anchor="ctr"/>
          <a:lstStyle/>
          <a:p>
            <a:pPr algn="ctr"/>
            <a:r>
              <a:rPr lang="en-US" sz="1333" b="1" dirty="0">
                <a:solidFill>
                  <a:srgbClr val="64748B"/>
                </a:solidFill>
                <a:latin typeface="Calibri" pitchFamily="34" charset="0"/>
                <a:ea typeface="Calibri" pitchFamily="34" charset="-122"/>
                <a:cs typeface="Calibri" pitchFamily="34" charset="-120"/>
              </a:rPr>
              <a:t>[SEP]</a:t>
            </a:r>
            <a:endParaRPr lang="en-US" sz="1333" dirty="0"/>
          </a:p>
        </p:txBody>
      </p:sp>
      <p:sp>
        <p:nvSpPr>
          <p:cNvPr id="29" name="Shape 26"/>
          <p:cNvSpPr/>
          <p:nvPr/>
        </p:nvSpPr>
        <p:spPr>
          <a:xfrm>
            <a:off x="487680" y="4876800"/>
            <a:ext cx="4267200" cy="731520"/>
          </a:xfrm>
          <a:prstGeom prst="rect">
            <a:avLst/>
          </a:prstGeom>
          <a:solidFill>
            <a:srgbClr val="FFFBEB"/>
          </a:solidFill>
          <a:ln w="10160">
            <a:solidFill>
              <a:srgbClr val="D97706"/>
            </a:solidFill>
            <a:prstDash val="solid"/>
          </a:ln>
          <a:effectLst>
            <a:outerShdw blurRad="101600" dist="38100" dir="8100000" algn="bl" rotWithShape="0">
              <a:srgbClr val="000000">
                <a:alpha val="10000"/>
              </a:srgbClr>
            </a:outerShdw>
          </a:effectLst>
        </p:spPr>
      </p:sp>
      <p:sp>
        <p:nvSpPr>
          <p:cNvPr id="30" name="Text 27"/>
          <p:cNvSpPr/>
          <p:nvPr/>
        </p:nvSpPr>
        <p:spPr>
          <a:xfrm>
            <a:off x="609600" y="4876800"/>
            <a:ext cx="4023360" cy="731520"/>
          </a:xfrm>
          <a:prstGeom prst="rect">
            <a:avLst/>
          </a:prstGeom>
          <a:noFill/>
          <a:ln/>
        </p:spPr>
        <p:txBody>
          <a:bodyPr wrap="square" lIns="0" tIns="0" rIns="0" bIns="0" rtlCol="0" anchor="ctr"/>
          <a:lstStyle/>
          <a:p>
            <a:r>
              <a:rPr lang="en-US" sz="1467" b="1" dirty="0">
                <a:solidFill>
                  <a:srgbClr val="D97706"/>
                </a:solidFill>
                <a:latin typeface="Calibri" pitchFamily="34" charset="0"/>
                <a:ea typeface="Calibri" pitchFamily="34" charset="-122"/>
                <a:cs typeface="Calibri" pitchFamily="34" charset="-120"/>
              </a:rPr>
              <a:t>[CLS] output → linear classifier → IsNext / NotNext</a:t>
            </a:r>
            <a:endParaRPr lang="en-US" sz="1467" dirty="0"/>
          </a:p>
        </p:txBody>
      </p:sp>
      <p:sp>
        <p:nvSpPr>
          <p:cNvPr id="31" name="Shape 28"/>
          <p:cNvSpPr/>
          <p:nvPr/>
        </p:nvSpPr>
        <p:spPr>
          <a:xfrm>
            <a:off x="5242560" y="4815840"/>
            <a:ext cx="6461760" cy="1524000"/>
          </a:xfrm>
          <a:prstGeom prst="rect">
            <a:avLst/>
          </a:prstGeom>
          <a:solidFill>
            <a:srgbClr val="0F1E45"/>
          </a:solidFill>
          <a:ln w="12700">
            <a:solidFill>
              <a:srgbClr val="0F1E45"/>
            </a:solidFill>
            <a:prstDash val="solid"/>
          </a:ln>
        </p:spPr>
      </p:sp>
      <p:sp>
        <p:nvSpPr>
          <p:cNvPr id="32" name="Text 29"/>
          <p:cNvSpPr/>
          <p:nvPr/>
        </p:nvSpPr>
        <p:spPr>
          <a:xfrm>
            <a:off x="5425440" y="4901184"/>
            <a:ext cx="6096000" cy="426720"/>
          </a:xfrm>
          <a:prstGeom prst="rect">
            <a:avLst/>
          </a:prstGeom>
          <a:noFill/>
          <a:ln/>
        </p:spPr>
        <p:txBody>
          <a:bodyPr wrap="square" lIns="0" tIns="0" rIns="0" bIns="0" rtlCol="0" anchor="ctr"/>
          <a:lstStyle/>
          <a:p>
            <a:r>
              <a:rPr lang="en-US" sz="1467" b="1" dirty="0">
                <a:solidFill>
                  <a:srgbClr val="0D9488"/>
                </a:solidFill>
                <a:latin typeface="Calibri" pitchFamily="34" charset="0"/>
                <a:ea typeface="Calibri" pitchFamily="34" charset="-122"/>
                <a:cs typeface="Calibri" pitchFamily="34" charset="-120"/>
              </a:rPr>
              <a:t>MLM = within a sentence → word meaning &amp; context</a:t>
            </a:r>
            <a:endParaRPr lang="en-US" sz="1467" dirty="0"/>
          </a:p>
        </p:txBody>
      </p:sp>
      <p:sp>
        <p:nvSpPr>
          <p:cNvPr id="33" name="Text 30"/>
          <p:cNvSpPr/>
          <p:nvPr/>
        </p:nvSpPr>
        <p:spPr>
          <a:xfrm>
            <a:off x="5425440" y="5364480"/>
            <a:ext cx="6096000" cy="426720"/>
          </a:xfrm>
          <a:prstGeom prst="rect">
            <a:avLst/>
          </a:prstGeom>
          <a:noFill/>
          <a:ln/>
        </p:spPr>
        <p:txBody>
          <a:bodyPr wrap="square" lIns="0" tIns="0" rIns="0" bIns="0" rtlCol="0" anchor="ctr"/>
          <a:lstStyle/>
          <a:p>
            <a:r>
              <a:rPr lang="en-US" sz="1467" b="1" dirty="0">
                <a:solidFill>
                  <a:srgbClr val="D97706"/>
                </a:solidFill>
                <a:latin typeface="Calibri" pitchFamily="34" charset="0"/>
                <a:ea typeface="Calibri" pitchFamily="34" charset="-122"/>
                <a:cs typeface="Calibri" pitchFamily="34" charset="-120"/>
              </a:rPr>
              <a:t>NSP = between two sentences → relationship &amp; coherence</a:t>
            </a:r>
            <a:endParaRPr lang="en-US" sz="1467" dirty="0"/>
          </a:p>
        </p:txBody>
      </p:sp>
      <p:sp>
        <p:nvSpPr>
          <p:cNvPr id="34" name="Text 31"/>
          <p:cNvSpPr/>
          <p:nvPr/>
        </p:nvSpPr>
        <p:spPr>
          <a:xfrm>
            <a:off x="5425440" y="5827776"/>
            <a:ext cx="6096000" cy="426720"/>
          </a:xfrm>
          <a:prstGeom prst="rect">
            <a:avLst/>
          </a:prstGeom>
          <a:noFill/>
          <a:ln/>
        </p:spPr>
        <p:txBody>
          <a:bodyPr wrap="square" lIns="0" tIns="0" rIns="0" bIns="0" rtlCol="0" anchor="ctr"/>
          <a:lstStyle/>
          <a:p>
            <a:r>
              <a:rPr lang="en-US" sz="1467" dirty="0">
                <a:solidFill>
                  <a:srgbClr val="94A3B8"/>
                </a:solidFill>
                <a:latin typeface="Calibri" pitchFamily="34" charset="0"/>
                <a:ea typeface="Calibri" pitchFamily="34" charset="-122"/>
                <a:cs typeface="Calibri" pitchFamily="34" charset="-120"/>
              </a:rPr>
              <a:t>Both trained jointly: Loss = L_MLM + L_NSP</a:t>
            </a:r>
            <a:endParaRPr lang="en-US" sz="1467"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FDE05-CE4D-D8E0-3EDD-93D5DA076240}"/>
              </a:ext>
            </a:extLst>
          </p:cNvPr>
          <p:cNvSpPr>
            <a:spLocks noGrp="1"/>
          </p:cNvSpPr>
          <p:nvPr>
            <p:ph type="title"/>
          </p:nvPr>
        </p:nvSpPr>
        <p:spPr>
          <a:xfrm>
            <a:off x="838200" y="114604"/>
            <a:ext cx="10515600" cy="1325563"/>
          </a:xfrm>
        </p:spPr>
        <p:txBody>
          <a:bodyPr/>
          <a:lstStyle/>
          <a:p>
            <a:r>
              <a:rPr lang="en-IN" dirty="0"/>
              <a:t>Spam email detection(Pretraining)</a:t>
            </a:r>
          </a:p>
        </p:txBody>
      </p:sp>
      <p:sp>
        <p:nvSpPr>
          <p:cNvPr id="3" name="Content Placeholder 2">
            <a:extLst>
              <a:ext uri="{FF2B5EF4-FFF2-40B4-BE49-F238E27FC236}">
                <a16:creationId xmlns:a16="http://schemas.microsoft.com/office/drawing/2014/main" id="{E831ED1D-AEB1-3FC5-73A0-7D3028F67C28}"/>
              </a:ext>
            </a:extLst>
          </p:cNvPr>
          <p:cNvSpPr>
            <a:spLocks noGrp="1"/>
          </p:cNvSpPr>
          <p:nvPr>
            <p:ph idx="1"/>
          </p:nvPr>
        </p:nvSpPr>
        <p:spPr>
          <a:xfrm>
            <a:off x="838200" y="1252603"/>
            <a:ext cx="10515600" cy="4924360"/>
          </a:xfrm>
        </p:spPr>
        <p:txBody>
          <a:bodyPr>
            <a:normAutofit fontScale="92500" lnSpcReduction="20000"/>
          </a:bodyPr>
          <a:lstStyle/>
          <a:p>
            <a:r>
              <a:rPr lang="en-IN" dirty="0"/>
              <a:t>BERT is fed sentences from Wikipedia and books.</a:t>
            </a:r>
          </a:p>
          <a:p>
            <a:r>
              <a:rPr lang="en-IN" dirty="0"/>
              <a:t> It never sees email. It never sees the word "spam". But it reads things like:</a:t>
            </a:r>
          </a:p>
          <a:p>
            <a:r>
              <a:rPr lang="en-IN" i="1" dirty="0"/>
              <a:t>"The company sent unsolicited messages to thousands of customers."</a:t>
            </a:r>
            <a:r>
              <a:rPr lang="en-IN" dirty="0"/>
              <a:t> </a:t>
            </a:r>
            <a:r>
              <a:rPr lang="en-IN" i="1" dirty="0"/>
              <a:t>"Fraudulent schemes often promise unrealistic financial rewards."</a:t>
            </a:r>
            <a:r>
              <a:rPr lang="en-IN" dirty="0"/>
              <a:t> </a:t>
            </a:r>
            <a:r>
              <a:rPr lang="en-IN" i="1" dirty="0"/>
              <a:t>"Click here to claim your prize immediately.“</a:t>
            </a:r>
          </a:p>
          <a:p>
            <a:r>
              <a:rPr lang="en-IN" dirty="0"/>
              <a:t>MLM task, BERT learns:</a:t>
            </a:r>
          </a:p>
          <a:p>
            <a:r>
              <a:rPr lang="en-IN" dirty="0"/>
              <a:t>"unsolicited", "fraudulent", "prize" and "claim" cluster together meaningfully</a:t>
            </a:r>
          </a:p>
          <a:p>
            <a:r>
              <a:rPr lang="en-IN" dirty="0"/>
              <a:t>"click here" and "immediately" co-occur in persuasive or urgent contexts</a:t>
            </a:r>
          </a:p>
          <a:p>
            <a:r>
              <a:rPr lang="en-IN" dirty="0"/>
              <a:t>The word "free" in "free software" means something different than "free gift" — context matters</a:t>
            </a:r>
          </a:p>
          <a:p>
            <a:r>
              <a:rPr lang="en-IN" dirty="0"/>
              <a:t>BERT has never been told any of this explicitly. It figured it out by predicting masked words millions of times. After pretraining, BERT's weights contain a rich map of the English language.</a:t>
            </a:r>
          </a:p>
          <a:p>
            <a:endParaRPr lang="en-IN" dirty="0"/>
          </a:p>
          <a:p>
            <a:endParaRPr lang="en-IN" dirty="0"/>
          </a:p>
        </p:txBody>
      </p:sp>
    </p:spTree>
    <p:extLst>
      <p:ext uri="{BB962C8B-B14F-4D97-AF65-F5344CB8AC3E}">
        <p14:creationId xmlns:p14="http://schemas.microsoft.com/office/powerpoint/2010/main" val="2137548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6ADD-7E87-A92F-42FD-2CAAB12CB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A59AE-4280-46AB-DD3E-0FEC076E128C}"/>
              </a:ext>
            </a:extLst>
          </p:cNvPr>
          <p:cNvSpPr>
            <a:spLocks noGrp="1"/>
          </p:cNvSpPr>
          <p:nvPr>
            <p:ph type="title"/>
          </p:nvPr>
        </p:nvSpPr>
        <p:spPr/>
        <p:txBody>
          <a:bodyPr/>
          <a:lstStyle/>
          <a:p>
            <a:r>
              <a:rPr lang="en-IN" dirty="0"/>
              <a:t>Learned Weights</a:t>
            </a:r>
          </a:p>
        </p:txBody>
      </p:sp>
      <p:pic>
        <p:nvPicPr>
          <p:cNvPr id="5" name="Picture 4">
            <a:extLst>
              <a:ext uri="{FF2B5EF4-FFF2-40B4-BE49-F238E27FC236}">
                <a16:creationId xmlns:a16="http://schemas.microsoft.com/office/drawing/2014/main" id="{24BD327F-E8AA-B07E-4D20-C9653072C3D6}"/>
              </a:ext>
            </a:extLst>
          </p:cNvPr>
          <p:cNvPicPr>
            <a:picLocks noChangeAspect="1"/>
          </p:cNvPicPr>
          <p:nvPr/>
        </p:nvPicPr>
        <p:blipFill>
          <a:blip r:embed="rId2"/>
          <a:stretch>
            <a:fillRect/>
          </a:stretch>
        </p:blipFill>
        <p:spPr>
          <a:xfrm>
            <a:off x="954642" y="2019657"/>
            <a:ext cx="9553731" cy="3692211"/>
          </a:xfrm>
          <a:prstGeom prst="rect">
            <a:avLst/>
          </a:prstGeom>
        </p:spPr>
      </p:pic>
    </p:spTree>
    <p:extLst>
      <p:ext uri="{BB962C8B-B14F-4D97-AF65-F5344CB8AC3E}">
        <p14:creationId xmlns:p14="http://schemas.microsoft.com/office/powerpoint/2010/main" val="3779455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F1F90-A528-01BA-8369-23E13A21290E}"/>
              </a:ext>
            </a:extLst>
          </p:cNvPr>
          <p:cNvSpPr>
            <a:spLocks noGrp="1"/>
          </p:cNvSpPr>
          <p:nvPr>
            <p:ph type="title"/>
          </p:nvPr>
        </p:nvSpPr>
        <p:spPr/>
        <p:txBody>
          <a:bodyPr/>
          <a:lstStyle/>
          <a:p>
            <a:r>
              <a:rPr lang="en-IN" dirty="0"/>
              <a:t>Fine-tuning — adapting BERT to specific tasks</a:t>
            </a:r>
          </a:p>
        </p:txBody>
      </p:sp>
      <p:sp>
        <p:nvSpPr>
          <p:cNvPr id="3" name="Content Placeholder 2">
            <a:extLst>
              <a:ext uri="{FF2B5EF4-FFF2-40B4-BE49-F238E27FC236}">
                <a16:creationId xmlns:a16="http://schemas.microsoft.com/office/drawing/2014/main" id="{4A6F7184-7AC6-0D89-0B8F-E5F5B805329F}"/>
              </a:ext>
            </a:extLst>
          </p:cNvPr>
          <p:cNvSpPr>
            <a:spLocks noGrp="1"/>
          </p:cNvSpPr>
          <p:nvPr>
            <p:ph idx="1"/>
          </p:nvPr>
        </p:nvSpPr>
        <p:spPr/>
        <p:txBody>
          <a:bodyPr/>
          <a:lstStyle/>
          <a:p>
            <a:r>
              <a:rPr lang="en-IN" dirty="0"/>
              <a:t>After pretraining, BERT's weights encode a rich general understanding of language. </a:t>
            </a:r>
          </a:p>
          <a:p>
            <a:endParaRPr lang="en-IN" dirty="0"/>
          </a:p>
          <a:p>
            <a:r>
              <a:rPr lang="en-IN" dirty="0"/>
              <a:t>Fine-tuning adds a small task-specific head on top and trains the whole thing end-to-end on </a:t>
            </a:r>
            <a:r>
              <a:rPr lang="en-IN" dirty="0" err="1"/>
              <a:t>labeled</a:t>
            </a:r>
            <a:r>
              <a:rPr lang="en-IN" dirty="0"/>
              <a:t> data — typically for just 2–4 epochs. </a:t>
            </a:r>
          </a:p>
          <a:p>
            <a:r>
              <a:rPr lang="en-IN" dirty="0"/>
              <a:t>The key insight is that </a:t>
            </a:r>
            <a:r>
              <a:rPr lang="en-IN" b="1" dirty="0"/>
              <a:t>minimal architecture changes</a:t>
            </a:r>
            <a:r>
              <a:rPr lang="en-IN" dirty="0"/>
              <a:t> are needed: the same BERT backbone handles wildly different tasks by changing only what's attached to its output.</a:t>
            </a:r>
          </a:p>
        </p:txBody>
      </p:sp>
    </p:spTree>
    <p:extLst>
      <p:ext uri="{BB962C8B-B14F-4D97-AF65-F5344CB8AC3E}">
        <p14:creationId xmlns:p14="http://schemas.microsoft.com/office/powerpoint/2010/main" val="3669293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D9488"/>
          </a:solidFill>
          <a:ln w="12700">
            <a:solidFill>
              <a:srgbClr val="0D9488"/>
            </a:solidFill>
            <a:prstDash val="solid"/>
          </a:ln>
        </p:spPr>
      </p:sp>
      <p:sp>
        <p:nvSpPr>
          <p:cNvPr id="3" name="Text 1"/>
          <p:cNvSpPr/>
          <p:nvPr/>
        </p:nvSpPr>
        <p:spPr>
          <a:xfrm>
            <a:off x="609600" y="182880"/>
            <a:ext cx="10972800" cy="792480"/>
          </a:xfrm>
          <a:prstGeom prst="rect">
            <a:avLst/>
          </a:prstGeom>
          <a:noFill/>
          <a:ln/>
        </p:spPr>
        <p:txBody>
          <a:bodyPr wrap="square" lIns="0" tIns="0" rIns="0" bIns="0" rtlCol="0" anchor="ctr"/>
          <a:lstStyle/>
          <a:p>
            <a:r>
              <a:rPr lang="en-US" sz="3467" b="1" dirty="0">
                <a:solidFill>
                  <a:srgbClr val="0F1E45"/>
                </a:solidFill>
                <a:latin typeface="Calibri" pitchFamily="34" charset="0"/>
                <a:ea typeface="Calibri" pitchFamily="34" charset="-122"/>
                <a:cs typeface="Calibri" pitchFamily="34" charset="-120"/>
              </a:rPr>
              <a:t> Fine-Tuning BERT for Downstream Tasks</a:t>
            </a:r>
            <a:endParaRPr lang="en-US" sz="3467" dirty="0"/>
          </a:p>
        </p:txBody>
      </p:sp>
      <p:sp>
        <p:nvSpPr>
          <p:cNvPr id="4" name="Shape 2"/>
          <p:cNvSpPr/>
          <p:nvPr/>
        </p:nvSpPr>
        <p:spPr>
          <a:xfrm>
            <a:off x="609600" y="999744"/>
            <a:ext cx="10972800" cy="30480"/>
          </a:xfrm>
          <a:prstGeom prst="rect">
            <a:avLst/>
          </a:prstGeom>
          <a:solidFill>
            <a:srgbClr val="CBD5E1"/>
          </a:solidFill>
          <a:ln w="12700">
            <a:solidFill>
              <a:srgbClr val="CBD5E1"/>
            </a:solidFill>
            <a:prstDash val="solid"/>
          </a:ln>
        </p:spPr>
      </p:sp>
      <p:sp>
        <p:nvSpPr>
          <p:cNvPr id="6" name="Text 3"/>
          <p:cNvSpPr/>
          <p:nvPr/>
        </p:nvSpPr>
        <p:spPr>
          <a:xfrm>
            <a:off x="487680" y="1158240"/>
            <a:ext cx="6705600" cy="365760"/>
          </a:xfrm>
          <a:prstGeom prst="rect">
            <a:avLst/>
          </a:prstGeom>
          <a:noFill/>
          <a:ln/>
        </p:spPr>
        <p:txBody>
          <a:bodyPr wrap="square" lIns="0" tIns="0" rIns="0" bIns="0" rtlCol="0" anchor="ctr"/>
          <a:lstStyle/>
          <a:p>
            <a:r>
              <a:rPr lang="en-US" sz="1733" b="1" dirty="0">
                <a:solidFill>
                  <a:srgbClr val="0F1E45"/>
                </a:solidFill>
                <a:latin typeface="Calibri" pitchFamily="34" charset="0"/>
                <a:ea typeface="Calibri" pitchFamily="34" charset="-122"/>
                <a:cs typeface="Calibri" pitchFamily="34" charset="-120"/>
              </a:rPr>
              <a:t>Transfer Learning Analogy</a:t>
            </a:r>
            <a:endParaRPr lang="en-US" sz="1733" dirty="0"/>
          </a:p>
        </p:txBody>
      </p:sp>
      <p:sp>
        <p:nvSpPr>
          <p:cNvPr id="7" name="Shape 4"/>
          <p:cNvSpPr/>
          <p:nvPr/>
        </p:nvSpPr>
        <p:spPr>
          <a:xfrm>
            <a:off x="487680" y="1584960"/>
            <a:ext cx="2438400" cy="1584960"/>
          </a:xfrm>
          <a:prstGeom prst="rect">
            <a:avLst/>
          </a:prstGeom>
          <a:solidFill>
            <a:srgbClr val="F8FAFC"/>
          </a:solidFill>
          <a:ln w="6350">
            <a:solidFill>
              <a:srgbClr val="CBD5E1"/>
            </a:solidFill>
            <a:prstDash val="solid"/>
          </a:ln>
          <a:effectLst>
            <a:outerShdw blurRad="101600" dist="38100" dir="8100000" algn="bl" rotWithShape="0">
              <a:srgbClr val="000000">
                <a:alpha val="10000"/>
              </a:srgbClr>
            </a:outerShdw>
          </a:effectLst>
        </p:spPr>
      </p:sp>
      <p:sp>
        <p:nvSpPr>
          <p:cNvPr id="8" name="Text 5"/>
          <p:cNvSpPr/>
          <p:nvPr/>
        </p:nvSpPr>
        <p:spPr>
          <a:xfrm>
            <a:off x="487680" y="1645920"/>
            <a:ext cx="2438400" cy="487680"/>
          </a:xfrm>
          <a:prstGeom prst="rect">
            <a:avLst/>
          </a:prstGeom>
          <a:noFill/>
          <a:ln/>
        </p:spPr>
        <p:txBody>
          <a:bodyPr wrap="square" lIns="0" tIns="0" rIns="0" bIns="0" rtlCol="0" anchor="ctr"/>
          <a:lstStyle/>
          <a:p>
            <a:pPr algn="ctr"/>
            <a:r>
              <a:rPr lang="en-US" sz="2933" dirty="0">
                <a:solidFill>
                  <a:srgbClr val="0F1E45"/>
                </a:solidFill>
                <a:latin typeface="Calibri" pitchFamily="34" charset="0"/>
                <a:ea typeface="Calibri" pitchFamily="34" charset="-122"/>
                <a:cs typeface="Calibri" pitchFamily="34" charset="-120"/>
              </a:rPr>
              <a:t>🎓</a:t>
            </a:r>
            <a:endParaRPr lang="en-US" sz="2933" dirty="0"/>
          </a:p>
        </p:txBody>
      </p:sp>
      <p:sp>
        <p:nvSpPr>
          <p:cNvPr id="9" name="Text 6"/>
          <p:cNvSpPr/>
          <p:nvPr/>
        </p:nvSpPr>
        <p:spPr>
          <a:xfrm>
            <a:off x="487680" y="2097024"/>
            <a:ext cx="2438400" cy="304800"/>
          </a:xfrm>
          <a:prstGeom prst="rect">
            <a:avLst/>
          </a:prstGeom>
          <a:noFill/>
          <a:ln/>
        </p:spPr>
        <p:txBody>
          <a:bodyPr wrap="square" lIns="0" tIns="0" rIns="0" bIns="0" rtlCol="0" anchor="ctr"/>
          <a:lstStyle/>
          <a:p>
            <a:pPr algn="ctr"/>
            <a:r>
              <a:rPr lang="en-US" sz="1600" b="1" dirty="0">
                <a:solidFill>
                  <a:srgbClr val="0F1E45"/>
                </a:solidFill>
                <a:latin typeface="Calibri" pitchFamily="34" charset="0"/>
                <a:ea typeface="Calibri" pitchFamily="34" charset="-122"/>
                <a:cs typeface="Calibri" pitchFamily="34" charset="-120"/>
              </a:rPr>
              <a:t>Pre-training</a:t>
            </a:r>
            <a:endParaRPr lang="en-US" sz="1600" dirty="0"/>
          </a:p>
        </p:txBody>
      </p:sp>
      <p:sp>
        <p:nvSpPr>
          <p:cNvPr id="10" name="Text 7"/>
          <p:cNvSpPr/>
          <p:nvPr/>
        </p:nvSpPr>
        <p:spPr>
          <a:xfrm>
            <a:off x="609600" y="2401824"/>
            <a:ext cx="2194560" cy="670560"/>
          </a:xfrm>
          <a:prstGeom prst="rect">
            <a:avLst/>
          </a:prstGeom>
          <a:noFill/>
          <a:ln/>
        </p:spPr>
        <p:txBody>
          <a:bodyPr wrap="square" lIns="0" tIns="0" rIns="0" bIns="0" rtlCol="0" anchor="ctr"/>
          <a:lstStyle/>
          <a:p>
            <a:pPr algn="ctr"/>
            <a:r>
              <a:rPr lang="en-US" sz="1200" dirty="0">
                <a:solidFill>
                  <a:srgbClr val="64748B"/>
                </a:solidFill>
                <a:latin typeface="Calibri" pitchFamily="34" charset="0"/>
                <a:ea typeface="Calibri" pitchFamily="34" charset="-122"/>
                <a:cs typeface="Calibri" pitchFamily="34" charset="-120"/>
              </a:rPr>
              <a:t>Medical school</a:t>
            </a:r>
            <a:endParaRPr lang="en-US" sz="1200" dirty="0"/>
          </a:p>
          <a:p>
            <a:pPr algn="ctr"/>
            <a:r>
              <a:rPr lang="en-US" sz="1200" dirty="0">
                <a:solidFill>
                  <a:srgbClr val="64748B"/>
                </a:solidFill>
                <a:latin typeface="Calibri" pitchFamily="34" charset="0"/>
                <a:ea typeface="Calibri" pitchFamily="34" charset="-122"/>
                <a:cs typeface="Calibri" pitchFamily="34" charset="-120"/>
              </a:rPr>
              <a:t>General expertise</a:t>
            </a:r>
            <a:endParaRPr lang="en-US" sz="1200" dirty="0"/>
          </a:p>
          <a:p>
            <a:pPr algn="ctr"/>
            <a:r>
              <a:rPr lang="en-US" sz="1200" dirty="0">
                <a:solidFill>
                  <a:srgbClr val="64748B"/>
                </a:solidFill>
                <a:latin typeface="Calibri" pitchFamily="34" charset="0"/>
                <a:ea typeface="Calibri" pitchFamily="34" charset="-122"/>
                <a:cs typeface="Calibri" pitchFamily="34" charset="-120"/>
              </a:rPr>
              <a:t>800M words, no labels</a:t>
            </a:r>
            <a:endParaRPr lang="en-US" sz="1200" dirty="0"/>
          </a:p>
        </p:txBody>
      </p:sp>
      <p:sp>
        <p:nvSpPr>
          <p:cNvPr id="11" name="Shape 8"/>
          <p:cNvSpPr/>
          <p:nvPr/>
        </p:nvSpPr>
        <p:spPr>
          <a:xfrm>
            <a:off x="5852160" y="1584960"/>
            <a:ext cx="2438400" cy="1584960"/>
          </a:xfrm>
          <a:prstGeom prst="rect">
            <a:avLst/>
          </a:prstGeom>
          <a:solidFill>
            <a:srgbClr val="F8FAFC"/>
          </a:solidFill>
          <a:ln w="6350">
            <a:solidFill>
              <a:srgbClr val="CBD5E1"/>
            </a:solidFill>
            <a:prstDash val="solid"/>
          </a:ln>
          <a:effectLst>
            <a:outerShdw blurRad="101600" dist="38100" dir="8100000" algn="bl" rotWithShape="0">
              <a:srgbClr val="000000">
                <a:alpha val="10000"/>
              </a:srgbClr>
            </a:outerShdw>
          </a:effectLst>
        </p:spPr>
      </p:sp>
      <p:sp>
        <p:nvSpPr>
          <p:cNvPr id="12" name="Text 9"/>
          <p:cNvSpPr/>
          <p:nvPr/>
        </p:nvSpPr>
        <p:spPr>
          <a:xfrm>
            <a:off x="5852160" y="1645920"/>
            <a:ext cx="2438400" cy="487680"/>
          </a:xfrm>
          <a:prstGeom prst="rect">
            <a:avLst/>
          </a:prstGeom>
          <a:noFill/>
          <a:ln/>
        </p:spPr>
        <p:txBody>
          <a:bodyPr wrap="square" lIns="0" tIns="0" rIns="0" bIns="0" rtlCol="0" anchor="ctr"/>
          <a:lstStyle/>
          <a:p>
            <a:pPr algn="ctr"/>
            <a:r>
              <a:rPr lang="en-US" sz="2933" dirty="0">
                <a:solidFill>
                  <a:srgbClr val="0F1E45"/>
                </a:solidFill>
                <a:latin typeface="Calibri" pitchFamily="34" charset="0"/>
                <a:ea typeface="Calibri" pitchFamily="34" charset="-122"/>
                <a:cs typeface="Calibri" pitchFamily="34" charset="-120"/>
              </a:rPr>
              <a:t>🏥</a:t>
            </a:r>
            <a:endParaRPr lang="en-US" sz="2933" dirty="0"/>
          </a:p>
        </p:txBody>
      </p:sp>
      <p:sp>
        <p:nvSpPr>
          <p:cNvPr id="13" name="Text 10"/>
          <p:cNvSpPr/>
          <p:nvPr/>
        </p:nvSpPr>
        <p:spPr>
          <a:xfrm>
            <a:off x="5852160" y="2097024"/>
            <a:ext cx="2438400" cy="304800"/>
          </a:xfrm>
          <a:prstGeom prst="rect">
            <a:avLst/>
          </a:prstGeom>
          <a:noFill/>
          <a:ln/>
        </p:spPr>
        <p:txBody>
          <a:bodyPr wrap="square" lIns="0" tIns="0" rIns="0" bIns="0" rtlCol="0" anchor="ctr"/>
          <a:lstStyle/>
          <a:p>
            <a:pPr algn="ctr"/>
            <a:r>
              <a:rPr lang="en-US" sz="1600" b="1" dirty="0">
                <a:solidFill>
                  <a:srgbClr val="0F1E45"/>
                </a:solidFill>
                <a:latin typeface="Calibri" pitchFamily="34" charset="0"/>
                <a:ea typeface="Calibri" pitchFamily="34" charset="-122"/>
                <a:cs typeface="Calibri" pitchFamily="34" charset="-120"/>
              </a:rPr>
              <a:t>Fine-tuning</a:t>
            </a:r>
            <a:endParaRPr lang="en-US" sz="1600" dirty="0"/>
          </a:p>
        </p:txBody>
      </p:sp>
      <p:sp>
        <p:nvSpPr>
          <p:cNvPr id="14" name="Text 11"/>
          <p:cNvSpPr/>
          <p:nvPr/>
        </p:nvSpPr>
        <p:spPr>
          <a:xfrm>
            <a:off x="5974080" y="2401824"/>
            <a:ext cx="2194560" cy="670560"/>
          </a:xfrm>
          <a:prstGeom prst="rect">
            <a:avLst/>
          </a:prstGeom>
          <a:noFill/>
          <a:ln/>
        </p:spPr>
        <p:txBody>
          <a:bodyPr wrap="square" lIns="0" tIns="0" rIns="0" bIns="0" rtlCol="0" anchor="ctr"/>
          <a:lstStyle/>
          <a:p>
            <a:pPr algn="ctr"/>
            <a:r>
              <a:rPr lang="en-US" sz="1200" dirty="0">
                <a:solidFill>
                  <a:srgbClr val="64748B"/>
                </a:solidFill>
                <a:latin typeface="Calibri" pitchFamily="34" charset="0"/>
                <a:ea typeface="Calibri" pitchFamily="34" charset="-122"/>
                <a:cs typeface="Calibri" pitchFamily="34" charset="-120"/>
              </a:rPr>
              <a:t>Specialisation residency</a:t>
            </a:r>
            <a:endParaRPr lang="en-US" sz="1200" dirty="0"/>
          </a:p>
          <a:p>
            <a:pPr algn="ctr"/>
            <a:r>
              <a:rPr lang="en-US" sz="1200" dirty="0">
                <a:solidFill>
                  <a:srgbClr val="64748B"/>
                </a:solidFill>
                <a:latin typeface="Calibri" pitchFamily="34" charset="0"/>
                <a:ea typeface="Calibri" pitchFamily="34" charset="-122"/>
                <a:cs typeface="Calibri" pitchFamily="34" charset="-120"/>
              </a:rPr>
              <a:t>Task-specific</a:t>
            </a:r>
            <a:endParaRPr lang="en-US" sz="1200" dirty="0"/>
          </a:p>
          <a:p>
            <a:pPr algn="ctr"/>
            <a:r>
              <a:rPr lang="en-US" sz="1200" dirty="0">
                <a:solidFill>
                  <a:srgbClr val="64748B"/>
                </a:solidFill>
                <a:latin typeface="Calibri" pitchFamily="34" charset="0"/>
                <a:ea typeface="Calibri" pitchFamily="34" charset="-122"/>
                <a:cs typeface="Calibri" pitchFamily="34" charset="-120"/>
              </a:rPr>
              <a:t>2-4 epochs, small lr</a:t>
            </a:r>
            <a:endParaRPr lang="en-US" sz="1200" dirty="0"/>
          </a:p>
        </p:txBody>
      </p:sp>
      <p:sp>
        <p:nvSpPr>
          <p:cNvPr id="15" name="Text 12"/>
          <p:cNvSpPr/>
          <p:nvPr/>
        </p:nvSpPr>
        <p:spPr>
          <a:xfrm>
            <a:off x="2926080" y="2011680"/>
            <a:ext cx="609600" cy="487680"/>
          </a:xfrm>
          <a:prstGeom prst="rect">
            <a:avLst/>
          </a:prstGeom>
          <a:noFill/>
          <a:ln/>
        </p:spPr>
        <p:txBody>
          <a:bodyPr wrap="square" lIns="0" tIns="0" rIns="0" bIns="0" rtlCol="0" anchor="ctr"/>
          <a:lstStyle/>
          <a:p>
            <a:pPr algn="ctr"/>
            <a:r>
              <a:rPr lang="en-US" sz="2933" b="1" dirty="0">
                <a:solidFill>
                  <a:srgbClr val="0D9488"/>
                </a:solidFill>
                <a:latin typeface="Calibri" pitchFamily="34" charset="0"/>
                <a:ea typeface="Calibri" pitchFamily="34" charset="-122"/>
                <a:cs typeface="Calibri" pitchFamily="34" charset="-120"/>
              </a:rPr>
              <a:t>→</a:t>
            </a:r>
            <a:endParaRPr lang="en-US" sz="2933" dirty="0"/>
          </a:p>
        </p:txBody>
      </p:sp>
      <p:sp>
        <p:nvSpPr>
          <p:cNvPr id="16" name="Text 13"/>
          <p:cNvSpPr/>
          <p:nvPr/>
        </p:nvSpPr>
        <p:spPr>
          <a:xfrm>
            <a:off x="6096000" y="1158240"/>
            <a:ext cx="5608320" cy="365760"/>
          </a:xfrm>
          <a:prstGeom prst="rect">
            <a:avLst/>
          </a:prstGeom>
          <a:noFill/>
          <a:ln/>
        </p:spPr>
        <p:txBody>
          <a:bodyPr wrap="square" lIns="0" tIns="0" rIns="0" bIns="0" rtlCol="0" anchor="ctr"/>
          <a:lstStyle/>
          <a:p>
            <a:r>
              <a:rPr lang="en-US" sz="1733" b="1" dirty="0">
                <a:solidFill>
                  <a:srgbClr val="0F1E45"/>
                </a:solidFill>
                <a:latin typeface="Calibri" pitchFamily="34" charset="0"/>
                <a:ea typeface="Calibri" pitchFamily="34" charset="-122"/>
                <a:cs typeface="Calibri" pitchFamily="34" charset="-120"/>
              </a:rPr>
              <a:t>Three Fine-Tuning Patterns</a:t>
            </a:r>
            <a:endParaRPr lang="en-US" sz="1733" dirty="0"/>
          </a:p>
        </p:txBody>
      </p:sp>
      <p:sp>
        <p:nvSpPr>
          <p:cNvPr id="17" name="Shape 14"/>
          <p:cNvSpPr/>
          <p:nvPr/>
        </p:nvSpPr>
        <p:spPr>
          <a:xfrm>
            <a:off x="6096000" y="1560576"/>
            <a:ext cx="5608320" cy="1146048"/>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18" name="Shape 15"/>
          <p:cNvSpPr/>
          <p:nvPr/>
        </p:nvSpPr>
        <p:spPr>
          <a:xfrm>
            <a:off x="6096000" y="1560576"/>
            <a:ext cx="85344" cy="1146048"/>
          </a:xfrm>
          <a:prstGeom prst="rect">
            <a:avLst/>
          </a:prstGeom>
          <a:solidFill>
            <a:srgbClr val="0D9488"/>
          </a:solidFill>
          <a:ln w="12700">
            <a:solidFill>
              <a:srgbClr val="0D9488"/>
            </a:solidFill>
            <a:prstDash val="solid"/>
          </a:ln>
        </p:spPr>
      </p:sp>
      <p:sp>
        <p:nvSpPr>
          <p:cNvPr id="19" name="Text 16"/>
          <p:cNvSpPr/>
          <p:nvPr/>
        </p:nvSpPr>
        <p:spPr>
          <a:xfrm>
            <a:off x="6315456" y="1706880"/>
            <a:ext cx="5303520" cy="365760"/>
          </a:xfrm>
          <a:prstGeom prst="rect">
            <a:avLst/>
          </a:prstGeom>
          <a:noFill/>
          <a:ln/>
        </p:spPr>
        <p:txBody>
          <a:bodyPr wrap="square" lIns="0" tIns="0" rIns="0" bIns="0" rtlCol="0" anchor="ctr"/>
          <a:lstStyle/>
          <a:p>
            <a:r>
              <a:rPr lang="en-US" sz="1733" b="1" dirty="0">
                <a:solidFill>
                  <a:srgbClr val="0F1E45"/>
                </a:solidFill>
                <a:latin typeface="Calibri" pitchFamily="34" charset="0"/>
                <a:ea typeface="Calibri" pitchFamily="34" charset="-122"/>
                <a:cs typeface="Calibri" pitchFamily="34" charset="-120"/>
              </a:rPr>
              <a:t>Sentence Classification</a:t>
            </a:r>
            <a:endParaRPr lang="en-US" sz="1733" dirty="0"/>
          </a:p>
        </p:txBody>
      </p:sp>
      <p:sp>
        <p:nvSpPr>
          <p:cNvPr id="20" name="Text 17"/>
          <p:cNvSpPr/>
          <p:nvPr/>
        </p:nvSpPr>
        <p:spPr>
          <a:xfrm>
            <a:off x="6315456" y="2072640"/>
            <a:ext cx="5303520" cy="512064"/>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Use case: Sentiment, spam</a:t>
            </a:r>
            <a:endParaRPr lang="en-US" sz="1467" dirty="0"/>
          </a:p>
          <a:p>
            <a:r>
              <a:rPr lang="en-US" sz="1467" dirty="0">
                <a:solidFill>
                  <a:srgbClr val="64748B"/>
                </a:solidFill>
                <a:latin typeface="Calibri" pitchFamily="34" charset="0"/>
                <a:ea typeface="Calibri" pitchFamily="34" charset="-122"/>
                <a:cs typeface="Calibri" pitchFamily="34" charset="-120"/>
              </a:rPr>
              <a:t>Output: [CLS] → linear → class label</a:t>
            </a:r>
            <a:endParaRPr lang="en-US" sz="1467" dirty="0"/>
          </a:p>
        </p:txBody>
      </p:sp>
      <p:sp>
        <p:nvSpPr>
          <p:cNvPr id="21" name="Shape 18"/>
          <p:cNvSpPr/>
          <p:nvPr/>
        </p:nvSpPr>
        <p:spPr>
          <a:xfrm>
            <a:off x="6096000" y="2852928"/>
            <a:ext cx="5608320" cy="1146048"/>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22" name="Shape 19"/>
          <p:cNvSpPr/>
          <p:nvPr/>
        </p:nvSpPr>
        <p:spPr>
          <a:xfrm>
            <a:off x="6096000" y="2852928"/>
            <a:ext cx="85344" cy="1146048"/>
          </a:xfrm>
          <a:prstGeom prst="rect">
            <a:avLst/>
          </a:prstGeom>
          <a:solidFill>
            <a:srgbClr val="6D28D9"/>
          </a:solidFill>
          <a:ln w="12700">
            <a:solidFill>
              <a:srgbClr val="6D28D9"/>
            </a:solidFill>
            <a:prstDash val="solid"/>
          </a:ln>
        </p:spPr>
      </p:sp>
      <p:sp>
        <p:nvSpPr>
          <p:cNvPr id="23" name="Text 20"/>
          <p:cNvSpPr/>
          <p:nvPr/>
        </p:nvSpPr>
        <p:spPr>
          <a:xfrm>
            <a:off x="6315456" y="2999232"/>
            <a:ext cx="5303520" cy="365760"/>
          </a:xfrm>
          <a:prstGeom prst="rect">
            <a:avLst/>
          </a:prstGeom>
          <a:noFill/>
          <a:ln/>
        </p:spPr>
        <p:txBody>
          <a:bodyPr wrap="square" lIns="0" tIns="0" rIns="0" bIns="0" rtlCol="0" anchor="ctr"/>
          <a:lstStyle/>
          <a:p>
            <a:r>
              <a:rPr lang="en-US" sz="1733" b="1" dirty="0">
                <a:solidFill>
                  <a:srgbClr val="0F1E45"/>
                </a:solidFill>
                <a:latin typeface="Calibri" pitchFamily="34" charset="0"/>
                <a:ea typeface="Calibri" pitchFamily="34" charset="-122"/>
                <a:cs typeface="Calibri" pitchFamily="34" charset="-120"/>
              </a:rPr>
              <a:t>Token Classification (NER)</a:t>
            </a:r>
            <a:endParaRPr lang="en-US" sz="1733" dirty="0"/>
          </a:p>
        </p:txBody>
      </p:sp>
      <p:sp>
        <p:nvSpPr>
          <p:cNvPr id="24" name="Text 21"/>
          <p:cNvSpPr/>
          <p:nvPr/>
        </p:nvSpPr>
        <p:spPr>
          <a:xfrm>
            <a:off x="6315456" y="3364992"/>
            <a:ext cx="5303520" cy="512064"/>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Use case: Entities, POS</a:t>
            </a:r>
            <a:endParaRPr lang="en-US" sz="1467" dirty="0"/>
          </a:p>
          <a:p>
            <a:r>
              <a:rPr lang="en-US" sz="1467" dirty="0">
                <a:solidFill>
                  <a:srgbClr val="64748B"/>
                </a:solidFill>
                <a:latin typeface="Calibri" pitchFamily="34" charset="0"/>
                <a:ea typeface="Calibri" pitchFamily="34" charset="-122"/>
                <a:cs typeface="Calibri" pitchFamily="34" charset="-120"/>
              </a:rPr>
              <a:t>Output: T₁,T₂,… → linear per token</a:t>
            </a:r>
            <a:endParaRPr lang="en-US" sz="1467" dirty="0"/>
          </a:p>
        </p:txBody>
      </p:sp>
      <p:sp>
        <p:nvSpPr>
          <p:cNvPr id="25" name="Shape 22"/>
          <p:cNvSpPr/>
          <p:nvPr/>
        </p:nvSpPr>
        <p:spPr>
          <a:xfrm>
            <a:off x="6096000" y="4145280"/>
            <a:ext cx="5608320" cy="1146048"/>
          </a:xfrm>
          <a:prstGeom prst="rect">
            <a:avLst/>
          </a:prstGeom>
          <a:solidFill>
            <a:srgbClr val="FFFFFF"/>
          </a:solidFill>
          <a:ln w="6350">
            <a:solidFill>
              <a:srgbClr val="CBD5E1"/>
            </a:solidFill>
            <a:prstDash val="solid"/>
          </a:ln>
          <a:effectLst>
            <a:outerShdw blurRad="101600" dist="38100" dir="8100000" algn="bl" rotWithShape="0">
              <a:srgbClr val="000000">
                <a:alpha val="10000"/>
              </a:srgbClr>
            </a:outerShdw>
          </a:effectLst>
        </p:spPr>
      </p:sp>
      <p:sp>
        <p:nvSpPr>
          <p:cNvPr id="26" name="Shape 23"/>
          <p:cNvSpPr/>
          <p:nvPr/>
        </p:nvSpPr>
        <p:spPr>
          <a:xfrm>
            <a:off x="6096000" y="4145280"/>
            <a:ext cx="85344" cy="1146048"/>
          </a:xfrm>
          <a:prstGeom prst="rect">
            <a:avLst/>
          </a:prstGeom>
          <a:solidFill>
            <a:srgbClr val="D97706"/>
          </a:solidFill>
          <a:ln w="12700">
            <a:solidFill>
              <a:srgbClr val="D97706"/>
            </a:solidFill>
            <a:prstDash val="solid"/>
          </a:ln>
        </p:spPr>
      </p:sp>
      <p:sp>
        <p:nvSpPr>
          <p:cNvPr id="27" name="Text 24"/>
          <p:cNvSpPr/>
          <p:nvPr/>
        </p:nvSpPr>
        <p:spPr>
          <a:xfrm>
            <a:off x="6315456" y="4291584"/>
            <a:ext cx="5303520" cy="365760"/>
          </a:xfrm>
          <a:prstGeom prst="rect">
            <a:avLst/>
          </a:prstGeom>
          <a:noFill/>
          <a:ln/>
        </p:spPr>
        <p:txBody>
          <a:bodyPr wrap="square" lIns="0" tIns="0" rIns="0" bIns="0" rtlCol="0" anchor="ctr"/>
          <a:lstStyle/>
          <a:p>
            <a:r>
              <a:rPr lang="en-US" sz="1733" b="1" dirty="0">
                <a:solidFill>
                  <a:srgbClr val="0F1E45"/>
                </a:solidFill>
                <a:latin typeface="Calibri" pitchFamily="34" charset="0"/>
                <a:ea typeface="Calibri" pitchFamily="34" charset="-122"/>
                <a:cs typeface="Calibri" pitchFamily="34" charset="-120"/>
              </a:rPr>
              <a:t>Question Answering</a:t>
            </a:r>
            <a:endParaRPr lang="en-US" sz="1733" dirty="0"/>
          </a:p>
        </p:txBody>
      </p:sp>
      <p:sp>
        <p:nvSpPr>
          <p:cNvPr id="28" name="Text 25"/>
          <p:cNvSpPr/>
          <p:nvPr/>
        </p:nvSpPr>
        <p:spPr>
          <a:xfrm>
            <a:off x="6315456" y="4657344"/>
            <a:ext cx="5303520" cy="512064"/>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Use case: SQuAD, reading comp.</a:t>
            </a:r>
            <a:endParaRPr lang="en-US" sz="1467" dirty="0"/>
          </a:p>
          <a:p>
            <a:r>
              <a:rPr lang="en-US" sz="1467" dirty="0">
                <a:solidFill>
                  <a:srgbClr val="64748B"/>
                </a:solidFill>
                <a:latin typeface="Calibri" pitchFamily="34" charset="0"/>
                <a:ea typeface="Calibri" pitchFamily="34" charset="-122"/>
                <a:cs typeface="Calibri" pitchFamily="34" charset="-120"/>
              </a:rPr>
              <a:t>Output: Token vectors → start + end span</a:t>
            </a:r>
            <a:endParaRPr lang="en-US" sz="1467" dirty="0"/>
          </a:p>
        </p:txBody>
      </p:sp>
      <p:sp>
        <p:nvSpPr>
          <p:cNvPr id="29" name="Shape 26"/>
          <p:cNvSpPr/>
          <p:nvPr/>
        </p:nvSpPr>
        <p:spPr>
          <a:xfrm>
            <a:off x="487680" y="3413760"/>
            <a:ext cx="5486400" cy="3048000"/>
          </a:xfrm>
          <a:prstGeom prst="rect">
            <a:avLst/>
          </a:prstGeom>
          <a:solidFill>
            <a:srgbClr val="1E293B"/>
          </a:solidFill>
          <a:ln w="12700">
            <a:solidFill>
              <a:srgbClr val="334155"/>
            </a:solidFill>
            <a:prstDash val="solid"/>
          </a:ln>
          <a:effectLst>
            <a:outerShdw blurRad="101600" dist="38100" dir="8100000" algn="bl" rotWithShape="0">
              <a:srgbClr val="000000">
                <a:alpha val="10000"/>
              </a:srgbClr>
            </a:outerShdw>
          </a:effectLst>
        </p:spPr>
      </p:sp>
      <p:sp>
        <p:nvSpPr>
          <p:cNvPr id="30" name="Text 27"/>
          <p:cNvSpPr/>
          <p:nvPr/>
        </p:nvSpPr>
        <p:spPr>
          <a:xfrm>
            <a:off x="609600" y="3474720"/>
            <a:ext cx="5242560" cy="341376"/>
          </a:xfrm>
          <a:prstGeom prst="rect">
            <a:avLst/>
          </a:prstGeom>
          <a:noFill/>
          <a:ln/>
        </p:spPr>
        <p:txBody>
          <a:bodyPr wrap="square" lIns="0" tIns="0" rIns="0" bIns="0" rtlCol="0" anchor="ctr"/>
          <a:lstStyle/>
          <a:p>
            <a:r>
              <a:rPr lang="en-US" sz="1333" b="1" dirty="0">
                <a:solidFill>
                  <a:srgbClr val="94A3B8"/>
                </a:solidFill>
                <a:latin typeface="Consolas" pitchFamily="34" charset="0"/>
                <a:ea typeface="Consolas" pitchFamily="34" charset="-122"/>
                <a:cs typeface="Consolas" pitchFamily="34" charset="-120"/>
              </a:rPr>
              <a:t>Fine-tuning code (PyTorch + HuggingFace)</a:t>
            </a:r>
            <a:endParaRPr lang="en-US" sz="1333" dirty="0"/>
          </a:p>
        </p:txBody>
      </p:sp>
      <p:sp>
        <p:nvSpPr>
          <p:cNvPr id="31" name="Text 28"/>
          <p:cNvSpPr/>
          <p:nvPr/>
        </p:nvSpPr>
        <p:spPr>
          <a:xfrm>
            <a:off x="670560" y="3877056"/>
            <a:ext cx="5120640" cy="243840"/>
          </a:xfrm>
          <a:prstGeom prst="rect">
            <a:avLst/>
          </a:prstGeom>
          <a:noFill/>
          <a:ln/>
        </p:spPr>
        <p:txBody>
          <a:bodyPr wrap="square" lIns="0" tIns="0" rIns="0" bIns="0" rtlCol="0" anchor="ctr"/>
          <a:lstStyle/>
          <a:p>
            <a:r>
              <a:rPr lang="en-US" sz="1200" dirty="0">
                <a:solidFill>
                  <a:srgbClr val="9CDCFE"/>
                </a:solidFill>
                <a:latin typeface="Consolas" pitchFamily="34" charset="0"/>
                <a:ea typeface="Consolas" pitchFamily="34" charset="-122"/>
                <a:cs typeface="Consolas" pitchFamily="34" charset="-120"/>
              </a:rPr>
              <a:t>model = BertForSequenceClassification</a:t>
            </a:r>
            <a:endParaRPr lang="en-US" sz="1200" dirty="0"/>
          </a:p>
        </p:txBody>
      </p:sp>
      <p:sp>
        <p:nvSpPr>
          <p:cNvPr id="32" name="Text 29"/>
          <p:cNvSpPr/>
          <p:nvPr/>
        </p:nvSpPr>
        <p:spPr>
          <a:xfrm>
            <a:off x="670560" y="4108704"/>
            <a:ext cx="5120640" cy="243840"/>
          </a:xfrm>
          <a:prstGeom prst="rect">
            <a:avLst/>
          </a:prstGeom>
          <a:noFill/>
          <a:ln/>
        </p:spPr>
        <p:txBody>
          <a:bodyPr wrap="square" lIns="0" tIns="0" rIns="0" bIns="0" rtlCol="0" anchor="ctr"/>
          <a:lstStyle/>
          <a:p>
            <a:r>
              <a:rPr lang="en-US" sz="1200" dirty="0">
                <a:solidFill>
                  <a:srgbClr val="CE9178"/>
                </a:solidFill>
                <a:latin typeface="Consolas" pitchFamily="34" charset="0"/>
                <a:ea typeface="Consolas" pitchFamily="34" charset="-122"/>
                <a:cs typeface="Consolas" pitchFamily="34" charset="-120"/>
              </a:rPr>
              <a:t>  .from_pretrained('bert-base-uncased',</a:t>
            </a:r>
            <a:endParaRPr lang="en-US" sz="1200" dirty="0"/>
          </a:p>
        </p:txBody>
      </p:sp>
      <p:sp>
        <p:nvSpPr>
          <p:cNvPr id="33" name="Text 30"/>
          <p:cNvSpPr/>
          <p:nvPr/>
        </p:nvSpPr>
        <p:spPr>
          <a:xfrm>
            <a:off x="670560" y="4340352"/>
            <a:ext cx="5120640" cy="243840"/>
          </a:xfrm>
          <a:prstGeom prst="rect">
            <a:avLst/>
          </a:prstGeom>
          <a:noFill/>
          <a:ln/>
        </p:spPr>
        <p:txBody>
          <a:bodyPr wrap="square" lIns="0" tIns="0" rIns="0" bIns="0" rtlCol="0" anchor="ctr"/>
          <a:lstStyle/>
          <a:p>
            <a:r>
              <a:rPr lang="en-US" sz="1200" dirty="0">
                <a:solidFill>
                  <a:srgbClr val="CE9178"/>
                </a:solidFill>
                <a:latin typeface="Consolas" pitchFamily="34" charset="0"/>
                <a:ea typeface="Consolas" pitchFamily="34" charset="-122"/>
                <a:cs typeface="Consolas" pitchFamily="34" charset="-120"/>
              </a:rPr>
              <a:t>   num_labels=2)</a:t>
            </a:r>
            <a:endParaRPr lang="en-US" sz="1200" dirty="0"/>
          </a:p>
        </p:txBody>
      </p:sp>
      <p:sp>
        <p:nvSpPr>
          <p:cNvPr id="34" name="Text 31"/>
          <p:cNvSpPr/>
          <p:nvPr/>
        </p:nvSpPr>
        <p:spPr>
          <a:xfrm>
            <a:off x="670560" y="4572000"/>
            <a:ext cx="5120640" cy="243840"/>
          </a:xfrm>
          <a:prstGeom prst="rect">
            <a:avLst/>
          </a:prstGeom>
          <a:noFill/>
          <a:ln/>
        </p:spPr>
        <p:txBody>
          <a:bodyPr wrap="square" lIns="0" tIns="0" rIns="0" bIns="0" rtlCol="0" anchor="ctr"/>
          <a:lstStyle/>
          <a:p>
            <a:endParaRPr lang="en-US" sz="1200" dirty="0"/>
          </a:p>
        </p:txBody>
      </p:sp>
      <p:sp>
        <p:nvSpPr>
          <p:cNvPr id="35" name="Text 32"/>
          <p:cNvSpPr/>
          <p:nvPr/>
        </p:nvSpPr>
        <p:spPr>
          <a:xfrm>
            <a:off x="670560" y="4803648"/>
            <a:ext cx="5120640" cy="243840"/>
          </a:xfrm>
          <a:prstGeom prst="rect">
            <a:avLst/>
          </a:prstGeom>
          <a:noFill/>
          <a:ln/>
        </p:spPr>
        <p:txBody>
          <a:bodyPr wrap="square" lIns="0" tIns="0" rIns="0" bIns="0" rtlCol="0" anchor="ctr"/>
          <a:lstStyle/>
          <a:p>
            <a:r>
              <a:rPr lang="en-US" sz="1200" dirty="0">
                <a:solidFill>
                  <a:srgbClr val="9CDCFE"/>
                </a:solidFill>
                <a:latin typeface="Consolas" pitchFamily="34" charset="0"/>
                <a:ea typeface="Consolas" pitchFamily="34" charset="-122"/>
                <a:cs typeface="Consolas" pitchFamily="34" charset="-120"/>
              </a:rPr>
              <a:t>optimizer = AdamW(model.parameters(),</a:t>
            </a:r>
            <a:endParaRPr lang="en-US" sz="1200" dirty="0"/>
          </a:p>
        </p:txBody>
      </p:sp>
      <p:sp>
        <p:nvSpPr>
          <p:cNvPr id="36" name="Text 33"/>
          <p:cNvSpPr/>
          <p:nvPr/>
        </p:nvSpPr>
        <p:spPr>
          <a:xfrm>
            <a:off x="670560" y="5035296"/>
            <a:ext cx="5120640" cy="243840"/>
          </a:xfrm>
          <a:prstGeom prst="rect">
            <a:avLst/>
          </a:prstGeom>
          <a:noFill/>
          <a:ln/>
        </p:spPr>
        <p:txBody>
          <a:bodyPr wrap="square" lIns="0" tIns="0" rIns="0" bIns="0" rtlCol="0" anchor="ctr"/>
          <a:lstStyle/>
          <a:p>
            <a:r>
              <a:rPr lang="en-US" sz="1200" dirty="0">
                <a:solidFill>
                  <a:srgbClr val="CE9178"/>
                </a:solidFill>
                <a:latin typeface="Consolas" pitchFamily="34" charset="0"/>
                <a:ea typeface="Consolas" pitchFamily="34" charset="-122"/>
                <a:cs typeface="Consolas" pitchFamily="34" charset="-120"/>
              </a:rPr>
              <a:t>  lr=2e-5)  # small lr — nudge BERT</a:t>
            </a:r>
            <a:endParaRPr lang="en-US" sz="1200" dirty="0"/>
          </a:p>
        </p:txBody>
      </p:sp>
      <p:sp>
        <p:nvSpPr>
          <p:cNvPr id="37" name="Text 34"/>
          <p:cNvSpPr/>
          <p:nvPr/>
        </p:nvSpPr>
        <p:spPr>
          <a:xfrm>
            <a:off x="670560" y="5266944"/>
            <a:ext cx="5120640" cy="243840"/>
          </a:xfrm>
          <a:prstGeom prst="rect">
            <a:avLst/>
          </a:prstGeom>
          <a:noFill/>
          <a:ln/>
        </p:spPr>
        <p:txBody>
          <a:bodyPr wrap="square" lIns="0" tIns="0" rIns="0" bIns="0" rtlCol="0" anchor="ctr"/>
          <a:lstStyle/>
          <a:p>
            <a:endParaRPr lang="en-US" sz="1200" dirty="0"/>
          </a:p>
        </p:txBody>
      </p:sp>
      <p:sp>
        <p:nvSpPr>
          <p:cNvPr id="38" name="Text 35"/>
          <p:cNvSpPr/>
          <p:nvPr/>
        </p:nvSpPr>
        <p:spPr>
          <a:xfrm>
            <a:off x="670560" y="5498592"/>
            <a:ext cx="5120640" cy="243840"/>
          </a:xfrm>
          <a:prstGeom prst="rect">
            <a:avLst/>
          </a:prstGeom>
          <a:noFill/>
          <a:ln/>
        </p:spPr>
        <p:txBody>
          <a:bodyPr wrap="square" lIns="0" tIns="0" rIns="0" bIns="0" rtlCol="0" anchor="ctr"/>
          <a:lstStyle/>
          <a:p>
            <a:r>
              <a:rPr lang="en-US" sz="1200" dirty="0">
                <a:solidFill>
                  <a:srgbClr val="9CDCFE"/>
                </a:solidFill>
                <a:latin typeface="Consolas" pitchFamily="34" charset="0"/>
                <a:ea typeface="Consolas" pitchFamily="34" charset="-122"/>
                <a:cs typeface="Consolas" pitchFamily="34" charset="-120"/>
              </a:rPr>
              <a:t>outputs = model(**inputs, labels=label)</a:t>
            </a:r>
            <a:endParaRPr lang="en-US" sz="1200" dirty="0"/>
          </a:p>
        </p:txBody>
      </p:sp>
      <p:sp>
        <p:nvSpPr>
          <p:cNvPr id="39" name="Text 36"/>
          <p:cNvSpPr/>
          <p:nvPr/>
        </p:nvSpPr>
        <p:spPr>
          <a:xfrm>
            <a:off x="670560" y="5730240"/>
            <a:ext cx="5120640" cy="243840"/>
          </a:xfrm>
          <a:prstGeom prst="rect">
            <a:avLst/>
          </a:prstGeom>
          <a:noFill/>
          <a:ln/>
        </p:spPr>
        <p:txBody>
          <a:bodyPr wrap="square" lIns="0" tIns="0" rIns="0" bIns="0" rtlCol="0" anchor="ctr"/>
          <a:lstStyle/>
          <a:p>
            <a:r>
              <a:rPr lang="en-US" sz="1200" dirty="0">
                <a:solidFill>
                  <a:srgbClr val="9CDCFE"/>
                </a:solidFill>
                <a:latin typeface="Consolas" pitchFamily="34" charset="0"/>
                <a:ea typeface="Consolas" pitchFamily="34" charset="-122"/>
                <a:cs typeface="Consolas" pitchFamily="34" charset="-120"/>
              </a:rPr>
              <a:t>loss = outputs.loss</a:t>
            </a:r>
            <a:endParaRPr lang="en-US" sz="1200" dirty="0"/>
          </a:p>
        </p:txBody>
      </p:sp>
      <p:sp>
        <p:nvSpPr>
          <p:cNvPr id="40" name="Text 37"/>
          <p:cNvSpPr/>
          <p:nvPr/>
        </p:nvSpPr>
        <p:spPr>
          <a:xfrm>
            <a:off x="670560" y="5961888"/>
            <a:ext cx="5120640" cy="243840"/>
          </a:xfrm>
          <a:prstGeom prst="rect">
            <a:avLst/>
          </a:prstGeom>
          <a:noFill/>
          <a:ln/>
        </p:spPr>
        <p:txBody>
          <a:bodyPr wrap="square" lIns="0" tIns="0" rIns="0" bIns="0" rtlCol="0" anchor="ctr"/>
          <a:lstStyle/>
          <a:p>
            <a:r>
              <a:rPr lang="en-US" sz="1200" dirty="0">
                <a:solidFill>
                  <a:srgbClr val="9CDCFE"/>
                </a:solidFill>
                <a:latin typeface="Consolas" pitchFamily="34" charset="0"/>
                <a:ea typeface="Consolas" pitchFamily="34" charset="-122"/>
                <a:cs typeface="Consolas" pitchFamily="34" charset="-120"/>
              </a:rPr>
              <a:t>loss.backward()</a:t>
            </a:r>
            <a:endParaRPr lang="en-US" sz="1200" dirty="0"/>
          </a:p>
        </p:txBody>
      </p:sp>
      <p:sp>
        <p:nvSpPr>
          <p:cNvPr id="41" name="Text 38"/>
          <p:cNvSpPr/>
          <p:nvPr/>
        </p:nvSpPr>
        <p:spPr>
          <a:xfrm>
            <a:off x="670560" y="6193536"/>
            <a:ext cx="5120640" cy="243840"/>
          </a:xfrm>
          <a:prstGeom prst="rect">
            <a:avLst/>
          </a:prstGeom>
          <a:noFill/>
          <a:ln/>
        </p:spPr>
        <p:txBody>
          <a:bodyPr wrap="square" lIns="0" tIns="0" rIns="0" bIns="0" rtlCol="0" anchor="ctr"/>
          <a:lstStyle/>
          <a:p>
            <a:r>
              <a:rPr lang="en-US" sz="1200" dirty="0">
                <a:solidFill>
                  <a:srgbClr val="9CDCFE"/>
                </a:solidFill>
                <a:latin typeface="Consolas" pitchFamily="34" charset="0"/>
                <a:ea typeface="Consolas" pitchFamily="34" charset="-122"/>
                <a:cs typeface="Consolas" pitchFamily="34" charset="-120"/>
              </a:rPr>
              <a:t>optimizer.step()</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E1307-1A45-8A5C-B17D-2E5C14149F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3829D5-AA5D-D807-73A9-02ACA071B8D0}"/>
              </a:ext>
            </a:extLst>
          </p:cNvPr>
          <p:cNvSpPr>
            <a:spLocks noGrp="1"/>
          </p:cNvSpPr>
          <p:nvPr>
            <p:ph type="title"/>
          </p:nvPr>
        </p:nvSpPr>
        <p:spPr/>
        <p:txBody>
          <a:bodyPr/>
          <a:lstStyle/>
          <a:p>
            <a:r>
              <a:rPr lang="en-IN" dirty="0"/>
              <a:t>Fine-tuning — adapting BERT to specific tasks</a:t>
            </a:r>
          </a:p>
        </p:txBody>
      </p:sp>
      <p:sp>
        <p:nvSpPr>
          <p:cNvPr id="3" name="Content Placeholder 2">
            <a:extLst>
              <a:ext uri="{FF2B5EF4-FFF2-40B4-BE49-F238E27FC236}">
                <a16:creationId xmlns:a16="http://schemas.microsoft.com/office/drawing/2014/main" id="{A3866104-3509-85E3-E25A-EF62A35AD45B}"/>
              </a:ext>
            </a:extLst>
          </p:cNvPr>
          <p:cNvSpPr>
            <a:spLocks noGrp="1"/>
          </p:cNvSpPr>
          <p:nvPr>
            <p:ph idx="1"/>
          </p:nvPr>
        </p:nvSpPr>
        <p:spPr/>
        <p:txBody>
          <a:bodyPr/>
          <a:lstStyle/>
          <a:p>
            <a:r>
              <a:rPr lang="en-IN" dirty="0"/>
              <a:t>Initialize a new model from BERT's pretrained weights.</a:t>
            </a:r>
          </a:p>
          <a:p>
            <a:r>
              <a:rPr lang="en-IN" dirty="0"/>
              <a:t> Add a small output layer (a linear projection or a two-layer MLP) on top. </a:t>
            </a:r>
          </a:p>
          <a:p>
            <a:r>
              <a:rPr lang="en-IN" dirty="0"/>
              <a:t>Run standard supervised training on labelled dataset.</a:t>
            </a:r>
          </a:p>
          <a:p>
            <a:r>
              <a:rPr lang="en-IN" dirty="0"/>
              <a:t> The entire model — all 110M parameters of BERT plus the new head — gets updated via backpropagation, but because BERT already knows language deeply, the fine-tuning converges quickly with very little labelled data (often just a few thousand examples).</a:t>
            </a:r>
          </a:p>
        </p:txBody>
      </p:sp>
    </p:spTree>
    <p:extLst>
      <p:ext uri="{BB962C8B-B14F-4D97-AF65-F5344CB8AC3E}">
        <p14:creationId xmlns:p14="http://schemas.microsoft.com/office/powerpoint/2010/main" val="1133382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0E7FE-A084-FA4F-DC21-BC770AB01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37A41-7EC2-0FBE-E521-69E1027DB7CF}"/>
              </a:ext>
            </a:extLst>
          </p:cNvPr>
          <p:cNvSpPr>
            <a:spLocks noGrp="1"/>
          </p:cNvSpPr>
          <p:nvPr>
            <p:ph type="title"/>
          </p:nvPr>
        </p:nvSpPr>
        <p:spPr/>
        <p:txBody>
          <a:bodyPr/>
          <a:lstStyle/>
          <a:p>
            <a:r>
              <a:rPr lang="en-IN" dirty="0"/>
              <a:t>Fine-tuning: teaching BERT what spam means</a:t>
            </a:r>
          </a:p>
        </p:txBody>
      </p:sp>
      <p:sp>
        <p:nvSpPr>
          <p:cNvPr id="3" name="Content Placeholder 2">
            <a:extLst>
              <a:ext uri="{FF2B5EF4-FFF2-40B4-BE49-F238E27FC236}">
                <a16:creationId xmlns:a16="http://schemas.microsoft.com/office/drawing/2014/main" id="{01E025E4-7C59-A745-EE32-6B665DF6CBFC}"/>
              </a:ext>
            </a:extLst>
          </p:cNvPr>
          <p:cNvSpPr>
            <a:spLocks noGrp="1"/>
          </p:cNvSpPr>
          <p:nvPr>
            <p:ph idx="1"/>
          </p:nvPr>
        </p:nvSpPr>
        <p:spPr/>
        <p:txBody>
          <a:bodyPr/>
          <a:lstStyle/>
          <a:p>
            <a:r>
              <a:rPr lang="en-IN" dirty="0"/>
              <a:t>Take pretrained BERT and show it 1,000 </a:t>
            </a:r>
            <a:r>
              <a:rPr lang="en-IN" dirty="0" err="1"/>
              <a:t>labeled</a:t>
            </a:r>
            <a:r>
              <a:rPr lang="en-IN" dirty="0"/>
              <a:t> emails — 500 spam, 500 legitimate.</a:t>
            </a:r>
          </a:p>
          <a:p>
            <a:r>
              <a:rPr lang="en-IN" dirty="0"/>
              <a:t> You add a single linear layer on top that outputs two numbers (spam / not spam). </a:t>
            </a:r>
          </a:p>
          <a:p>
            <a:r>
              <a:rPr lang="en-IN" dirty="0"/>
              <a:t>The entire model — all 110M weights — gets updated slightly to specialise for this task.</a:t>
            </a:r>
          </a:p>
        </p:txBody>
      </p:sp>
    </p:spTree>
    <p:extLst>
      <p:ext uri="{BB962C8B-B14F-4D97-AF65-F5344CB8AC3E}">
        <p14:creationId xmlns:p14="http://schemas.microsoft.com/office/powerpoint/2010/main" val="38134047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6E33E-0C1B-D33F-DFA9-F4AFA8B5D7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4421CE9-0603-7DFE-23DF-F648CD65FAC4}"/>
              </a:ext>
            </a:extLst>
          </p:cNvPr>
          <p:cNvPicPr>
            <a:picLocks noChangeAspect="1"/>
          </p:cNvPicPr>
          <p:nvPr/>
        </p:nvPicPr>
        <p:blipFill>
          <a:blip r:embed="rId2"/>
          <a:stretch>
            <a:fillRect/>
          </a:stretch>
        </p:blipFill>
        <p:spPr>
          <a:xfrm>
            <a:off x="1052071" y="576198"/>
            <a:ext cx="10158724" cy="5745686"/>
          </a:xfrm>
          <a:prstGeom prst="rect">
            <a:avLst/>
          </a:prstGeom>
        </p:spPr>
      </p:pic>
    </p:spTree>
    <p:extLst>
      <p:ext uri="{BB962C8B-B14F-4D97-AF65-F5344CB8AC3E}">
        <p14:creationId xmlns:p14="http://schemas.microsoft.com/office/powerpoint/2010/main" val="2700376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18CE1-A07E-C759-EBA9-E4908E64F7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92597-48DB-3089-0896-41FF81ECB7B6}"/>
              </a:ext>
            </a:extLst>
          </p:cNvPr>
          <p:cNvSpPr>
            <a:spLocks noGrp="1"/>
          </p:cNvSpPr>
          <p:nvPr>
            <p:ph type="title"/>
          </p:nvPr>
        </p:nvSpPr>
        <p:spPr/>
        <p:txBody>
          <a:bodyPr/>
          <a:lstStyle/>
          <a:p>
            <a:r>
              <a:rPr lang="en-IN" dirty="0" err="1"/>
              <a:t>FineTuning</a:t>
            </a:r>
            <a:r>
              <a:rPr lang="en-IN" dirty="0"/>
              <a:t> BERT</a:t>
            </a:r>
          </a:p>
        </p:txBody>
      </p:sp>
      <p:sp>
        <p:nvSpPr>
          <p:cNvPr id="3" name="Content Placeholder 2">
            <a:extLst>
              <a:ext uri="{FF2B5EF4-FFF2-40B4-BE49-F238E27FC236}">
                <a16:creationId xmlns:a16="http://schemas.microsoft.com/office/drawing/2014/main" id="{0221CDB8-B287-E40D-81F2-019A2EC8E3B3}"/>
              </a:ext>
            </a:extLst>
          </p:cNvPr>
          <p:cNvSpPr>
            <a:spLocks noGrp="1"/>
          </p:cNvSpPr>
          <p:nvPr>
            <p:ph idx="1"/>
          </p:nvPr>
        </p:nvSpPr>
        <p:spPr/>
        <p:txBody>
          <a:bodyPr/>
          <a:lstStyle/>
          <a:p>
            <a:r>
              <a:rPr lang="en-IN" dirty="0"/>
              <a:t>On the first pass, BERT predicted "not spam" with 69% confidence — wrong. </a:t>
            </a:r>
          </a:p>
          <a:p>
            <a:r>
              <a:rPr lang="en-IN" dirty="0"/>
              <a:t>The loss is high. Gradients flow backwards through the linear head and all 12 BERT layers.</a:t>
            </a:r>
          </a:p>
          <a:p>
            <a:r>
              <a:rPr lang="en-IN" dirty="0"/>
              <a:t> Every weight shifts slightly.</a:t>
            </a:r>
          </a:p>
          <a:p>
            <a:r>
              <a:rPr lang="en-IN" dirty="0"/>
              <a:t> After seeing all 1,000 </a:t>
            </a:r>
            <a:r>
              <a:rPr lang="en-IN" dirty="0" err="1"/>
              <a:t>labeled</a:t>
            </a:r>
            <a:r>
              <a:rPr lang="en-IN" dirty="0"/>
              <a:t> emails over 3 epochs, BERT has learned that patterns like "Congratulations", "claim", "prize", "immediately" together = spam.</a:t>
            </a:r>
          </a:p>
          <a:p>
            <a:r>
              <a:rPr lang="en-IN" dirty="0"/>
              <a:t>Fine-tuning doesn't erase pretraining. It nudges the weights.</a:t>
            </a:r>
          </a:p>
        </p:txBody>
      </p:sp>
    </p:spTree>
    <p:extLst>
      <p:ext uri="{BB962C8B-B14F-4D97-AF65-F5344CB8AC3E}">
        <p14:creationId xmlns:p14="http://schemas.microsoft.com/office/powerpoint/2010/main" val="262798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3553E-4F32-BB9C-45D1-52D131213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93C4B-8B46-6838-8576-586BEB04AAE8}"/>
              </a:ext>
            </a:extLst>
          </p:cNvPr>
          <p:cNvSpPr>
            <a:spLocks noGrp="1"/>
          </p:cNvSpPr>
          <p:nvPr>
            <p:ph type="title"/>
          </p:nvPr>
        </p:nvSpPr>
        <p:spPr/>
        <p:txBody>
          <a:bodyPr/>
          <a:lstStyle/>
          <a:p>
            <a:r>
              <a:rPr lang="en-IN" dirty="0"/>
              <a:t>Why does pretraining help fine-tuning so much?</a:t>
            </a:r>
          </a:p>
        </p:txBody>
      </p:sp>
      <p:sp>
        <p:nvSpPr>
          <p:cNvPr id="3" name="Content Placeholder 2">
            <a:extLst>
              <a:ext uri="{FF2B5EF4-FFF2-40B4-BE49-F238E27FC236}">
                <a16:creationId xmlns:a16="http://schemas.microsoft.com/office/drawing/2014/main" id="{16038391-0A12-4516-0346-5D06E800F507}"/>
              </a:ext>
            </a:extLst>
          </p:cNvPr>
          <p:cNvSpPr>
            <a:spLocks noGrp="1"/>
          </p:cNvSpPr>
          <p:nvPr>
            <p:ph idx="1"/>
          </p:nvPr>
        </p:nvSpPr>
        <p:spPr/>
        <p:txBody>
          <a:bodyPr/>
          <a:lstStyle/>
          <a:p>
            <a:r>
              <a:rPr lang="en-IN" dirty="0"/>
              <a:t>Without pretraining, </a:t>
            </a:r>
          </a:p>
          <a:p>
            <a:pPr lvl="1"/>
            <a:r>
              <a:rPr lang="en-IN" dirty="0"/>
              <a:t> spam classifier has to learn English from scratch using only 1,000 emails. </a:t>
            </a:r>
          </a:p>
          <a:p>
            <a:pPr lvl="1"/>
            <a:r>
              <a:rPr lang="en-IN" dirty="0"/>
              <a:t>It would overfit, generalise poorly, and fail on anything phrased differently from the training examples.</a:t>
            </a:r>
          </a:p>
          <a:p>
            <a:pPr lvl="1"/>
            <a:endParaRPr lang="en-IN" sz="2800" dirty="0"/>
          </a:p>
          <a:p>
            <a:pPr lvl="1"/>
            <a:r>
              <a:rPr lang="en-IN" sz="2800" dirty="0"/>
              <a:t>With pretraining, BERT already knows</a:t>
            </a:r>
            <a:r>
              <a:rPr lang="en-IN" dirty="0"/>
              <a:t>:</a:t>
            </a:r>
          </a:p>
          <a:p>
            <a:pPr marL="457200" lvl="1" indent="0">
              <a:buNone/>
            </a:pPr>
            <a:r>
              <a:rPr lang="en-IN" dirty="0"/>
              <a:t>"claim your prize" and "win a reward" are semantically similar (so it recognises both as suspicious) "immediately", "urgent", "expires today" signal time pressure (it knows this from millions of news articles and ads) Broken grammar and unusual capitalisation are meaningful signals</a:t>
            </a:r>
          </a:p>
        </p:txBody>
      </p:sp>
    </p:spTree>
    <p:extLst>
      <p:ext uri="{BB962C8B-B14F-4D97-AF65-F5344CB8AC3E}">
        <p14:creationId xmlns:p14="http://schemas.microsoft.com/office/powerpoint/2010/main" val="40956011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4E2D50-EFEA-BA1D-E9A8-9BB830D9554A}"/>
              </a:ext>
            </a:extLst>
          </p:cNvPr>
          <p:cNvPicPr>
            <a:picLocks noChangeAspect="1"/>
          </p:cNvPicPr>
          <p:nvPr/>
        </p:nvPicPr>
        <p:blipFill>
          <a:blip r:embed="rId2"/>
          <a:stretch>
            <a:fillRect/>
          </a:stretch>
        </p:blipFill>
        <p:spPr>
          <a:xfrm>
            <a:off x="1153553" y="864296"/>
            <a:ext cx="9556200" cy="4958843"/>
          </a:xfrm>
          <a:prstGeom prst="rect">
            <a:avLst/>
          </a:prstGeom>
        </p:spPr>
      </p:pic>
    </p:spTree>
    <p:extLst>
      <p:ext uri="{BB962C8B-B14F-4D97-AF65-F5344CB8AC3E}">
        <p14:creationId xmlns:p14="http://schemas.microsoft.com/office/powerpoint/2010/main" val="28880964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91B9B-16DD-4619-482C-6C5E326AA966}"/>
              </a:ext>
            </a:extLst>
          </p:cNvPr>
          <p:cNvSpPr>
            <a:spLocks noGrp="1"/>
          </p:cNvSpPr>
          <p:nvPr>
            <p:ph type="title"/>
          </p:nvPr>
        </p:nvSpPr>
        <p:spPr/>
        <p:txBody>
          <a:bodyPr/>
          <a:lstStyle/>
          <a:p>
            <a:r>
              <a:rPr lang="en-IN" b="1" dirty="0"/>
              <a:t>Complete BERT Cycle</a:t>
            </a:r>
          </a:p>
        </p:txBody>
      </p:sp>
      <p:pic>
        <p:nvPicPr>
          <p:cNvPr id="5" name="Content Placeholder 4">
            <a:extLst>
              <a:ext uri="{FF2B5EF4-FFF2-40B4-BE49-F238E27FC236}">
                <a16:creationId xmlns:a16="http://schemas.microsoft.com/office/drawing/2014/main" id="{1DE6DD03-28AC-AAF7-E980-C3B93E46372B}"/>
              </a:ext>
            </a:extLst>
          </p:cNvPr>
          <p:cNvPicPr>
            <a:picLocks noGrp="1" noChangeAspect="1"/>
          </p:cNvPicPr>
          <p:nvPr>
            <p:ph idx="1"/>
          </p:nvPr>
        </p:nvPicPr>
        <p:blipFill>
          <a:blip r:embed="rId2"/>
          <a:stretch>
            <a:fillRect/>
          </a:stretch>
        </p:blipFill>
        <p:spPr>
          <a:xfrm>
            <a:off x="2739099" y="3117297"/>
            <a:ext cx="6713802" cy="1767993"/>
          </a:xfrm>
          <a:prstGeom prst="rect">
            <a:avLst/>
          </a:prstGeom>
        </p:spPr>
      </p:pic>
    </p:spTree>
    <p:extLst>
      <p:ext uri="{BB962C8B-B14F-4D97-AF65-F5344CB8AC3E}">
        <p14:creationId xmlns:p14="http://schemas.microsoft.com/office/powerpoint/2010/main" val="34480136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1AFB8-E014-517D-8884-4FA9A669CBB1}"/>
              </a:ext>
            </a:extLst>
          </p:cNvPr>
          <p:cNvSpPr>
            <a:spLocks noGrp="1"/>
          </p:cNvSpPr>
          <p:nvPr>
            <p:ph type="title"/>
          </p:nvPr>
        </p:nvSpPr>
        <p:spPr/>
        <p:txBody>
          <a:bodyPr/>
          <a:lstStyle/>
          <a:p>
            <a:r>
              <a:rPr lang="en-IN" dirty="0"/>
              <a:t>Summary</a:t>
            </a:r>
          </a:p>
        </p:txBody>
      </p:sp>
      <p:sp>
        <p:nvSpPr>
          <p:cNvPr id="3" name="Content Placeholder 2">
            <a:extLst>
              <a:ext uri="{FF2B5EF4-FFF2-40B4-BE49-F238E27FC236}">
                <a16:creationId xmlns:a16="http://schemas.microsoft.com/office/drawing/2014/main" id="{ECC4C839-82C6-A34D-A13F-94AA0E989E4B}"/>
              </a:ext>
            </a:extLst>
          </p:cNvPr>
          <p:cNvSpPr>
            <a:spLocks noGrp="1"/>
          </p:cNvSpPr>
          <p:nvPr>
            <p:ph idx="1"/>
          </p:nvPr>
        </p:nvSpPr>
        <p:spPr/>
        <p:txBody>
          <a:bodyPr>
            <a:normAutofit fontScale="92500"/>
          </a:bodyPr>
          <a:lstStyle/>
          <a:p>
            <a:r>
              <a:rPr lang="en-IN" b="1" dirty="0"/>
              <a:t>Pretraining</a:t>
            </a:r>
            <a:r>
              <a:rPr lang="en-IN" dirty="0"/>
              <a:t> is BERT reading billions of words with no labels</a:t>
            </a:r>
          </a:p>
          <a:p>
            <a:r>
              <a:rPr lang="en-IN" dirty="0"/>
              <a:t> learning the deep structure of language by predicting masked words — building a general understanding of English that captures grammar, meaning, context, and world knowledge, stored in 110 million weights.</a:t>
            </a:r>
          </a:p>
          <a:p>
            <a:r>
              <a:rPr lang="en-IN" b="1" dirty="0"/>
              <a:t>Fine-tuning</a:t>
            </a:r>
            <a:r>
              <a:rPr lang="en-IN" dirty="0"/>
              <a:t> is taking those 110 million weights as a starting point</a:t>
            </a:r>
          </a:p>
          <a:p>
            <a:r>
              <a:rPr lang="en-IN" dirty="0"/>
              <a:t>Adjusting them slightly on a small </a:t>
            </a:r>
            <a:r>
              <a:rPr lang="en-IN" dirty="0" err="1"/>
              <a:t>labeled</a:t>
            </a:r>
            <a:r>
              <a:rPr lang="en-IN" dirty="0"/>
              <a:t> dataset for your specific task  </a:t>
            </a:r>
          </a:p>
          <a:p>
            <a:r>
              <a:rPr lang="en-IN" dirty="0"/>
              <a:t>So instead of learning language from scratch, your model only needs to learn </a:t>
            </a:r>
            <a:r>
              <a:rPr lang="en-IN" i="1" dirty="0"/>
              <a:t>"what does spam look like given everything I already know about language"</a:t>
            </a:r>
            <a:r>
              <a:rPr lang="en-IN" dirty="0"/>
              <a:t>.</a:t>
            </a:r>
          </a:p>
        </p:txBody>
      </p:sp>
    </p:spTree>
    <p:extLst>
      <p:ext uri="{BB962C8B-B14F-4D97-AF65-F5344CB8AC3E}">
        <p14:creationId xmlns:p14="http://schemas.microsoft.com/office/powerpoint/2010/main" val="516923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7C060-2477-6E76-60CF-E67115EF8E15}"/>
              </a:ext>
            </a:extLst>
          </p:cNvPr>
          <p:cNvSpPr>
            <a:spLocks noGrp="1"/>
          </p:cNvSpPr>
          <p:nvPr>
            <p:ph type="title"/>
          </p:nvPr>
        </p:nvSpPr>
        <p:spPr/>
        <p:txBody>
          <a:bodyPr/>
          <a:lstStyle/>
          <a:p>
            <a:r>
              <a:rPr lang="en-IN" dirty="0"/>
              <a:t>PIPELINE Step1:Tokenization</a:t>
            </a:r>
          </a:p>
        </p:txBody>
      </p:sp>
      <p:pic>
        <p:nvPicPr>
          <p:cNvPr id="5" name="Content Placeholder 4">
            <a:extLst>
              <a:ext uri="{FF2B5EF4-FFF2-40B4-BE49-F238E27FC236}">
                <a16:creationId xmlns:a16="http://schemas.microsoft.com/office/drawing/2014/main" id="{6184DA8C-2F01-A0A6-18BC-7D199E026385}"/>
              </a:ext>
            </a:extLst>
          </p:cNvPr>
          <p:cNvPicPr>
            <a:picLocks noGrp="1" noChangeAspect="1"/>
          </p:cNvPicPr>
          <p:nvPr>
            <p:ph idx="1"/>
          </p:nvPr>
        </p:nvPicPr>
        <p:blipFill>
          <a:blip r:embed="rId2"/>
          <a:stretch>
            <a:fillRect/>
          </a:stretch>
        </p:blipFill>
        <p:spPr>
          <a:xfrm>
            <a:off x="838200" y="1878904"/>
            <a:ext cx="10140899" cy="3291636"/>
          </a:xfrm>
          <a:prstGeom prst="rect">
            <a:avLst/>
          </a:prstGeom>
        </p:spPr>
      </p:pic>
    </p:spTree>
    <p:extLst>
      <p:ext uri="{BB962C8B-B14F-4D97-AF65-F5344CB8AC3E}">
        <p14:creationId xmlns:p14="http://schemas.microsoft.com/office/powerpoint/2010/main" val="5179673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AD55A-8E5C-4EE5-28F8-F03A3F8F3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0240D-99C7-0E67-8A45-97678AF0F7AB}"/>
              </a:ext>
            </a:extLst>
          </p:cNvPr>
          <p:cNvSpPr>
            <a:spLocks noGrp="1"/>
          </p:cNvSpPr>
          <p:nvPr>
            <p:ph type="title"/>
          </p:nvPr>
        </p:nvSpPr>
        <p:spPr/>
        <p:txBody>
          <a:bodyPr/>
          <a:lstStyle/>
          <a:p>
            <a:r>
              <a:rPr lang="en-IN" dirty="0"/>
              <a:t>PIPELINE Step2:Embedding</a:t>
            </a:r>
          </a:p>
        </p:txBody>
      </p:sp>
      <p:pic>
        <p:nvPicPr>
          <p:cNvPr id="7" name="Picture 6">
            <a:extLst>
              <a:ext uri="{FF2B5EF4-FFF2-40B4-BE49-F238E27FC236}">
                <a16:creationId xmlns:a16="http://schemas.microsoft.com/office/drawing/2014/main" id="{342B68E7-5A26-55F6-F7D2-E82114791C1B}"/>
              </a:ext>
            </a:extLst>
          </p:cNvPr>
          <p:cNvPicPr>
            <a:picLocks noChangeAspect="1"/>
          </p:cNvPicPr>
          <p:nvPr/>
        </p:nvPicPr>
        <p:blipFill>
          <a:blip r:embed="rId2"/>
          <a:stretch>
            <a:fillRect/>
          </a:stretch>
        </p:blipFill>
        <p:spPr>
          <a:xfrm>
            <a:off x="2601927" y="2247797"/>
            <a:ext cx="6988146" cy="2362405"/>
          </a:xfrm>
          <a:prstGeom prst="rect">
            <a:avLst/>
          </a:prstGeom>
        </p:spPr>
      </p:pic>
    </p:spTree>
    <p:extLst>
      <p:ext uri="{BB962C8B-B14F-4D97-AF65-F5344CB8AC3E}">
        <p14:creationId xmlns:p14="http://schemas.microsoft.com/office/powerpoint/2010/main" val="40018032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86143-1CF5-315F-B3AF-F4063DC9F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955FF-5FD1-8A7F-13C5-66C0EE7D12C8}"/>
              </a:ext>
            </a:extLst>
          </p:cNvPr>
          <p:cNvSpPr>
            <a:spLocks noGrp="1"/>
          </p:cNvSpPr>
          <p:nvPr>
            <p:ph type="title"/>
          </p:nvPr>
        </p:nvSpPr>
        <p:spPr/>
        <p:txBody>
          <a:bodyPr/>
          <a:lstStyle/>
          <a:p>
            <a:r>
              <a:rPr lang="en-IN" dirty="0"/>
              <a:t>PIPELINE Step3:BERT Encoding</a:t>
            </a:r>
          </a:p>
        </p:txBody>
      </p:sp>
      <p:pic>
        <p:nvPicPr>
          <p:cNvPr id="4" name="Picture 3">
            <a:extLst>
              <a:ext uri="{FF2B5EF4-FFF2-40B4-BE49-F238E27FC236}">
                <a16:creationId xmlns:a16="http://schemas.microsoft.com/office/drawing/2014/main" id="{022F1C2A-3B7D-345E-4711-02EB17720904}"/>
              </a:ext>
            </a:extLst>
          </p:cNvPr>
          <p:cNvPicPr>
            <a:picLocks noChangeAspect="1"/>
          </p:cNvPicPr>
          <p:nvPr/>
        </p:nvPicPr>
        <p:blipFill>
          <a:blip r:embed="rId2"/>
          <a:stretch>
            <a:fillRect/>
          </a:stretch>
        </p:blipFill>
        <p:spPr>
          <a:xfrm>
            <a:off x="2640030" y="2247797"/>
            <a:ext cx="6911939" cy="2362405"/>
          </a:xfrm>
          <a:prstGeom prst="rect">
            <a:avLst/>
          </a:prstGeom>
        </p:spPr>
      </p:pic>
    </p:spTree>
    <p:extLst>
      <p:ext uri="{BB962C8B-B14F-4D97-AF65-F5344CB8AC3E}">
        <p14:creationId xmlns:p14="http://schemas.microsoft.com/office/powerpoint/2010/main" val="30730753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F683A-83F3-7179-DE96-E1D0EC8F1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2817F7-EE01-A142-A595-6E1A355149EA}"/>
              </a:ext>
            </a:extLst>
          </p:cNvPr>
          <p:cNvSpPr>
            <a:spLocks noGrp="1"/>
          </p:cNvSpPr>
          <p:nvPr>
            <p:ph type="title"/>
          </p:nvPr>
        </p:nvSpPr>
        <p:spPr/>
        <p:txBody>
          <a:bodyPr/>
          <a:lstStyle/>
          <a:p>
            <a:r>
              <a:rPr lang="en-IN" dirty="0"/>
              <a:t>PIPELINE Step4:Classification Head</a:t>
            </a:r>
          </a:p>
        </p:txBody>
      </p:sp>
      <p:pic>
        <p:nvPicPr>
          <p:cNvPr id="5" name="Picture 4">
            <a:extLst>
              <a:ext uri="{FF2B5EF4-FFF2-40B4-BE49-F238E27FC236}">
                <a16:creationId xmlns:a16="http://schemas.microsoft.com/office/drawing/2014/main" id="{3BF7556C-B0C2-03A2-1791-081B0D6B9CD0}"/>
              </a:ext>
            </a:extLst>
          </p:cNvPr>
          <p:cNvPicPr>
            <a:picLocks noChangeAspect="1"/>
          </p:cNvPicPr>
          <p:nvPr/>
        </p:nvPicPr>
        <p:blipFill>
          <a:blip r:embed="rId2"/>
          <a:stretch>
            <a:fillRect/>
          </a:stretch>
        </p:blipFill>
        <p:spPr>
          <a:xfrm>
            <a:off x="2647651" y="2209694"/>
            <a:ext cx="6896698" cy="2438611"/>
          </a:xfrm>
          <a:prstGeom prst="rect">
            <a:avLst/>
          </a:prstGeom>
        </p:spPr>
      </p:pic>
    </p:spTree>
    <p:extLst>
      <p:ext uri="{BB962C8B-B14F-4D97-AF65-F5344CB8AC3E}">
        <p14:creationId xmlns:p14="http://schemas.microsoft.com/office/powerpoint/2010/main" val="20362660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CF0C0-EB4F-51CC-0994-50453DE2E9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7CD56-466C-6C85-2683-D9BEACDE74C1}"/>
              </a:ext>
            </a:extLst>
          </p:cNvPr>
          <p:cNvSpPr>
            <a:spLocks noGrp="1"/>
          </p:cNvSpPr>
          <p:nvPr>
            <p:ph type="title"/>
          </p:nvPr>
        </p:nvSpPr>
        <p:spPr/>
        <p:txBody>
          <a:bodyPr/>
          <a:lstStyle/>
          <a:p>
            <a:r>
              <a:rPr lang="en-IN" dirty="0"/>
              <a:t>PIPELINE Step5: </a:t>
            </a:r>
            <a:r>
              <a:rPr lang="en-IN" dirty="0" err="1"/>
              <a:t>Softmax</a:t>
            </a:r>
            <a:r>
              <a:rPr lang="en-IN" dirty="0"/>
              <a:t> and Loss</a:t>
            </a:r>
          </a:p>
        </p:txBody>
      </p:sp>
      <p:pic>
        <p:nvPicPr>
          <p:cNvPr id="4" name="Picture 3">
            <a:extLst>
              <a:ext uri="{FF2B5EF4-FFF2-40B4-BE49-F238E27FC236}">
                <a16:creationId xmlns:a16="http://schemas.microsoft.com/office/drawing/2014/main" id="{782075EE-DCCA-8E33-7589-08A4B168C104}"/>
              </a:ext>
            </a:extLst>
          </p:cNvPr>
          <p:cNvPicPr>
            <a:picLocks noChangeAspect="1"/>
          </p:cNvPicPr>
          <p:nvPr/>
        </p:nvPicPr>
        <p:blipFill>
          <a:blip r:embed="rId2"/>
          <a:stretch>
            <a:fillRect/>
          </a:stretch>
        </p:blipFill>
        <p:spPr>
          <a:xfrm>
            <a:off x="2739099" y="2285901"/>
            <a:ext cx="6713802" cy="2286198"/>
          </a:xfrm>
          <a:prstGeom prst="rect">
            <a:avLst/>
          </a:prstGeom>
        </p:spPr>
      </p:pic>
    </p:spTree>
    <p:extLst>
      <p:ext uri="{BB962C8B-B14F-4D97-AF65-F5344CB8AC3E}">
        <p14:creationId xmlns:p14="http://schemas.microsoft.com/office/powerpoint/2010/main" val="20640221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3C42B5-9199-68AF-111B-B9F4FF53BE1F}"/>
              </a:ext>
            </a:extLst>
          </p:cNvPr>
          <p:cNvSpPr txBox="1"/>
          <p:nvPr/>
        </p:nvSpPr>
        <p:spPr>
          <a:xfrm>
            <a:off x="2087069" y="378381"/>
            <a:ext cx="6094378" cy="3693319"/>
          </a:xfrm>
          <a:prstGeom prst="rect">
            <a:avLst/>
          </a:prstGeom>
          <a:noFill/>
        </p:spPr>
        <p:txBody>
          <a:bodyPr wrap="square">
            <a:spAutoFit/>
          </a:bodyPr>
          <a:lstStyle/>
          <a:p>
            <a:r>
              <a:rPr lang="en-US" b="1" dirty="0"/>
              <a:t>Impact of BERT on NLP</a:t>
            </a:r>
          </a:p>
          <a:p>
            <a:pPr>
              <a:buFont typeface="Arial" panose="020B0604020202020204" pitchFamily="34" charset="0"/>
              <a:buChar char="•"/>
            </a:pPr>
            <a:r>
              <a:rPr lang="en-US" b="1" dirty="0"/>
              <a:t>Revolutionizing NLP Tasks:</a:t>
            </a:r>
            <a:endParaRPr lang="en-US" dirty="0"/>
          </a:p>
          <a:p>
            <a:pPr marL="742950" lvl="1" indent="-285750">
              <a:buFont typeface="Arial" panose="020B0604020202020204" pitchFamily="34" charset="0"/>
              <a:buChar char="•"/>
            </a:pPr>
            <a:r>
              <a:rPr lang="en-US" dirty="0"/>
              <a:t>BERT set new benchmarks on a wide range of NLP tasks, including:</a:t>
            </a:r>
          </a:p>
          <a:p>
            <a:pPr marL="1143000" lvl="2" indent="-228600">
              <a:buFont typeface="Arial" panose="020B0604020202020204" pitchFamily="34" charset="0"/>
              <a:buChar char="•"/>
            </a:pPr>
            <a:r>
              <a:rPr lang="en-US" dirty="0"/>
              <a:t>Named Entity Recognition (NER)</a:t>
            </a:r>
          </a:p>
          <a:p>
            <a:pPr marL="1143000" lvl="2" indent="-228600">
              <a:buFont typeface="Arial" panose="020B0604020202020204" pitchFamily="34" charset="0"/>
              <a:buChar char="•"/>
            </a:pPr>
            <a:r>
              <a:rPr lang="en-US" dirty="0"/>
              <a:t>Part-of-Speech Tagging</a:t>
            </a:r>
          </a:p>
          <a:p>
            <a:pPr marL="1143000" lvl="2" indent="-228600">
              <a:buFont typeface="Arial" panose="020B0604020202020204" pitchFamily="34" charset="0"/>
              <a:buChar char="•"/>
            </a:pPr>
            <a:r>
              <a:rPr lang="en-US" dirty="0"/>
              <a:t>Question Answering</a:t>
            </a:r>
          </a:p>
          <a:p>
            <a:pPr marL="1143000" lvl="2" indent="-228600">
              <a:buFont typeface="Arial" panose="020B0604020202020204" pitchFamily="34" charset="0"/>
              <a:buChar char="•"/>
            </a:pPr>
            <a:r>
              <a:rPr lang="en-US" dirty="0"/>
              <a:t>Sentiment Analysis</a:t>
            </a:r>
          </a:p>
          <a:p>
            <a:pPr>
              <a:buFont typeface="Arial" panose="020B0604020202020204" pitchFamily="34" charset="0"/>
              <a:buChar char="•"/>
            </a:pPr>
            <a:r>
              <a:rPr lang="en-US" b="1" dirty="0"/>
              <a:t>Transfer Learning in NLP:</a:t>
            </a:r>
            <a:endParaRPr lang="en-US" dirty="0"/>
          </a:p>
          <a:p>
            <a:pPr marL="742950" lvl="1" indent="-285750">
              <a:buFont typeface="Arial" panose="020B0604020202020204" pitchFamily="34" charset="0"/>
              <a:buChar char="•"/>
            </a:pPr>
            <a:r>
              <a:rPr lang="en-US" dirty="0"/>
              <a:t>The success of BERT demonstrated the power of transfer learning in NLP, where pre-trained models can be fine-tuned for specific tasks with minimal additional data.</a:t>
            </a:r>
          </a:p>
        </p:txBody>
      </p:sp>
    </p:spTree>
    <p:extLst>
      <p:ext uri="{BB962C8B-B14F-4D97-AF65-F5344CB8AC3E}">
        <p14:creationId xmlns:p14="http://schemas.microsoft.com/office/powerpoint/2010/main" val="8204205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4C4E4-5B36-A58B-CB44-5CF979BAF8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9C7499B-69B4-21F5-5FE3-CE1FABBA441C}"/>
              </a:ext>
            </a:extLst>
          </p:cNvPr>
          <p:cNvSpPr txBox="1"/>
          <p:nvPr/>
        </p:nvSpPr>
        <p:spPr>
          <a:xfrm>
            <a:off x="1797509" y="309015"/>
            <a:ext cx="6094378" cy="4801314"/>
          </a:xfrm>
          <a:prstGeom prst="rect">
            <a:avLst/>
          </a:prstGeom>
          <a:noFill/>
        </p:spPr>
        <p:txBody>
          <a:bodyPr wrap="square">
            <a:spAutoFit/>
          </a:bodyPr>
          <a:lstStyle/>
          <a:p>
            <a:r>
              <a:rPr lang="en-US" b="1" dirty="0"/>
              <a:t>Fine-tuning BERT for NLP Applications</a:t>
            </a:r>
          </a:p>
          <a:p>
            <a:pPr>
              <a:buFont typeface="Arial" panose="020B0604020202020204" pitchFamily="34" charset="0"/>
              <a:buChar char="•"/>
            </a:pPr>
            <a:r>
              <a:rPr lang="en-US" b="1" dirty="0"/>
              <a:t>Fine-tuning:</a:t>
            </a:r>
            <a:endParaRPr lang="en-US" dirty="0"/>
          </a:p>
          <a:p>
            <a:pPr marL="742950" lvl="1" indent="-285750">
              <a:buFont typeface="Arial" panose="020B0604020202020204" pitchFamily="34" charset="0"/>
              <a:buChar char="•"/>
            </a:pPr>
            <a:r>
              <a:rPr lang="en-US" dirty="0"/>
              <a:t>Fine-tuning involves training a pre-trained model (like BERT) on a smaller, task-specific dataset to adjust the model for a particular NLP task.</a:t>
            </a:r>
          </a:p>
          <a:p>
            <a:pPr>
              <a:buFont typeface="Arial" panose="020B0604020202020204" pitchFamily="34" charset="0"/>
              <a:buChar char="•"/>
            </a:pPr>
            <a:r>
              <a:rPr lang="en-US" b="1" dirty="0"/>
              <a:t>Fine-tuning for Sentiment Analysis:</a:t>
            </a:r>
            <a:endParaRPr lang="en-US" dirty="0"/>
          </a:p>
          <a:p>
            <a:pPr marL="742950" lvl="1" indent="-285750">
              <a:buFont typeface="Arial" panose="020B0604020202020204" pitchFamily="34" charset="0"/>
              <a:buChar char="•"/>
            </a:pPr>
            <a:r>
              <a:rPr lang="en-US" dirty="0"/>
              <a:t>Task: Classifying whether a text is positive, neutral, or negative.</a:t>
            </a:r>
          </a:p>
          <a:p>
            <a:pPr marL="742950" lvl="1" indent="-285750">
              <a:buFont typeface="Arial" panose="020B0604020202020204" pitchFamily="34" charset="0"/>
              <a:buChar char="•"/>
            </a:pPr>
            <a:r>
              <a:rPr lang="en-US" dirty="0"/>
              <a:t>Fine-tuning BERT for sentiment analysis requires training on a labeled dataset of sentiment-labeled sentences (e.g., movie reviews).</a:t>
            </a:r>
          </a:p>
          <a:p>
            <a:pPr>
              <a:buFont typeface="Arial" panose="020B0604020202020204" pitchFamily="34" charset="0"/>
              <a:buChar char="•"/>
            </a:pPr>
            <a:r>
              <a:rPr lang="en-US" b="1" dirty="0"/>
              <a:t>Fine-tuning for Question Answering:</a:t>
            </a:r>
            <a:endParaRPr lang="en-US" dirty="0"/>
          </a:p>
          <a:p>
            <a:pPr marL="742950" lvl="1" indent="-285750">
              <a:buFont typeface="Arial" panose="020B0604020202020204" pitchFamily="34" charset="0"/>
              <a:buChar char="•"/>
            </a:pPr>
            <a:r>
              <a:rPr lang="en-US" dirty="0"/>
              <a:t>Task: Answering a question based on a given passage of text.</a:t>
            </a:r>
          </a:p>
          <a:p>
            <a:pPr marL="742950" lvl="1" indent="-285750">
              <a:buFont typeface="Arial" panose="020B0604020202020204" pitchFamily="34" charset="0"/>
              <a:buChar char="•"/>
            </a:pPr>
            <a:r>
              <a:rPr lang="en-US" dirty="0"/>
              <a:t>Fine-tuning BERT for question answering (e.g., </a:t>
            </a:r>
            <a:r>
              <a:rPr lang="en-US" dirty="0" err="1"/>
              <a:t>SQuAD</a:t>
            </a:r>
            <a:r>
              <a:rPr lang="en-US" dirty="0"/>
              <a:t> dataset) allows the model to extract answers from context-based text passages.</a:t>
            </a:r>
          </a:p>
        </p:txBody>
      </p:sp>
    </p:spTree>
    <p:extLst>
      <p:ext uri="{BB962C8B-B14F-4D97-AF65-F5344CB8AC3E}">
        <p14:creationId xmlns:p14="http://schemas.microsoft.com/office/powerpoint/2010/main" val="17454944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C709-9104-0D3E-F5AC-5D7F78A8C5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886593-2D4B-DFFF-9A38-CDAF7980FA60}"/>
              </a:ext>
            </a:extLst>
          </p:cNvPr>
          <p:cNvSpPr txBox="1"/>
          <p:nvPr/>
        </p:nvSpPr>
        <p:spPr>
          <a:xfrm>
            <a:off x="2109929" y="459522"/>
            <a:ext cx="6094378" cy="4247317"/>
          </a:xfrm>
          <a:prstGeom prst="rect">
            <a:avLst/>
          </a:prstGeom>
          <a:noFill/>
        </p:spPr>
        <p:txBody>
          <a:bodyPr wrap="square">
            <a:spAutoFit/>
          </a:bodyPr>
          <a:lstStyle/>
          <a:p>
            <a:r>
              <a:rPr lang="en-US" b="1" dirty="0"/>
              <a:t>Examples of Fine-Tuning Applications</a:t>
            </a:r>
          </a:p>
          <a:p>
            <a:pPr>
              <a:buFont typeface="Arial" panose="020B0604020202020204" pitchFamily="34" charset="0"/>
              <a:buChar char="•"/>
            </a:pPr>
            <a:r>
              <a:rPr lang="en-US" b="1" dirty="0"/>
              <a:t>Sentiment Analysis Example:</a:t>
            </a:r>
            <a:endParaRPr lang="en-US" dirty="0"/>
          </a:p>
          <a:p>
            <a:pPr marL="742950" lvl="1" indent="-285750">
              <a:buFont typeface="Arial" panose="020B0604020202020204" pitchFamily="34" charset="0"/>
              <a:buChar char="•"/>
            </a:pPr>
            <a:r>
              <a:rPr lang="en-US" dirty="0"/>
              <a:t>Given a movie review, fine-tuned BERT can classify it as "positive" or "negative."</a:t>
            </a:r>
          </a:p>
          <a:p>
            <a:pPr marL="742950" lvl="1" indent="-285750">
              <a:buFont typeface="Arial" panose="020B0604020202020204" pitchFamily="34" charset="0"/>
              <a:buChar char="•"/>
            </a:pPr>
            <a:r>
              <a:rPr lang="en-US" dirty="0"/>
              <a:t>Example input: “The movie was thrilling and had great performances.”</a:t>
            </a:r>
          </a:p>
          <a:p>
            <a:pPr marL="742950" lvl="1" indent="-285750">
              <a:buFont typeface="Arial" panose="020B0604020202020204" pitchFamily="34" charset="0"/>
              <a:buChar char="•"/>
            </a:pPr>
            <a:r>
              <a:rPr lang="en-US" dirty="0"/>
              <a:t>BERT output: "Positive"</a:t>
            </a:r>
          </a:p>
          <a:p>
            <a:pPr>
              <a:buFont typeface="Arial" panose="020B0604020202020204" pitchFamily="34" charset="0"/>
              <a:buChar char="•"/>
            </a:pPr>
            <a:r>
              <a:rPr lang="en-US" b="1" dirty="0"/>
              <a:t>Question Answering Example:</a:t>
            </a:r>
            <a:endParaRPr lang="en-US" dirty="0"/>
          </a:p>
          <a:p>
            <a:pPr marL="742950" lvl="1" indent="-285750">
              <a:buFont typeface="Arial" panose="020B0604020202020204" pitchFamily="34" charset="0"/>
              <a:buChar char="•"/>
            </a:pPr>
            <a:r>
              <a:rPr lang="en-US" dirty="0"/>
              <a:t>Given a passage and a question, BERT can return an answer by extracting the relevant part of the passage.</a:t>
            </a:r>
          </a:p>
          <a:p>
            <a:pPr marL="742950" lvl="1" indent="-285750">
              <a:buFont typeface="Arial" panose="020B0604020202020204" pitchFamily="34" charset="0"/>
              <a:buChar char="•"/>
            </a:pPr>
            <a:r>
              <a:rPr lang="en-US" dirty="0"/>
              <a:t>Example input:</a:t>
            </a:r>
          </a:p>
          <a:p>
            <a:pPr marL="1143000" lvl="2" indent="-228600">
              <a:buFont typeface="Arial" panose="020B0604020202020204" pitchFamily="34" charset="0"/>
              <a:buChar char="•"/>
            </a:pPr>
            <a:r>
              <a:rPr lang="en-US" dirty="0"/>
              <a:t>Passage: “Albert Einstein was born in 1879 in Ulm, Germany.”</a:t>
            </a:r>
          </a:p>
          <a:p>
            <a:pPr marL="1143000" lvl="2" indent="-228600">
              <a:buFont typeface="Arial" panose="020B0604020202020204" pitchFamily="34" charset="0"/>
              <a:buChar char="•"/>
            </a:pPr>
            <a:r>
              <a:rPr lang="en-US" dirty="0"/>
              <a:t>Question: “When was Albert Einstein born?”</a:t>
            </a:r>
          </a:p>
          <a:p>
            <a:pPr marL="1143000" lvl="2" indent="-228600">
              <a:buFont typeface="Arial" panose="020B0604020202020204" pitchFamily="34" charset="0"/>
              <a:buChar char="•"/>
            </a:pPr>
            <a:r>
              <a:rPr lang="en-US" dirty="0"/>
              <a:t>BERT output: “1879”</a:t>
            </a:r>
          </a:p>
        </p:txBody>
      </p:sp>
    </p:spTree>
    <p:extLst>
      <p:ext uri="{BB962C8B-B14F-4D97-AF65-F5344CB8AC3E}">
        <p14:creationId xmlns:p14="http://schemas.microsoft.com/office/powerpoint/2010/main" val="30487029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41F1C-FAB0-06BB-F394-FB9CDD843B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812BC0-E4A8-4767-82BA-EAE14896BC8E}"/>
              </a:ext>
            </a:extLst>
          </p:cNvPr>
          <p:cNvSpPr txBox="1"/>
          <p:nvPr/>
        </p:nvSpPr>
        <p:spPr>
          <a:xfrm>
            <a:off x="1657301" y="798636"/>
            <a:ext cx="6094378" cy="4524315"/>
          </a:xfrm>
          <a:prstGeom prst="rect">
            <a:avLst/>
          </a:prstGeom>
          <a:noFill/>
        </p:spPr>
        <p:txBody>
          <a:bodyPr wrap="square">
            <a:spAutoFit/>
          </a:bodyPr>
          <a:lstStyle/>
          <a:p>
            <a:r>
              <a:rPr lang="en-US" b="1" dirty="0"/>
              <a:t>	Challenges and Limitations of BERT</a:t>
            </a:r>
          </a:p>
          <a:p>
            <a:endParaRPr lang="en-US" b="1" dirty="0"/>
          </a:p>
          <a:p>
            <a:pPr>
              <a:buFont typeface="Arial" panose="020B0604020202020204" pitchFamily="34" charset="0"/>
              <a:buChar char="•"/>
            </a:pPr>
            <a:r>
              <a:rPr lang="en-US" b="1" dirty="0"/>
              <a:t>Limitations:</a:t>
            </a:r>
          </a:p>
          <a:p>
            <a:pPr>
              <a:buFont typeface="Arial" panose="020B0604020202020204" pitchFamily="34" charset="0"/>
              <a:buChar char="•"/>
            </a:pPr>
            <a:endParaRPr lang="en-US" dirty="0"/>
          </a:p>
          <a:p>
            <a:pPr marL="742950" lvl="1" indent="-285750">
              <a:buFont typeface="Arial" panose="020B0604020202020204" pitchFamily="34" charset="0"/>
              <a:buChar char="•"/>
            </a:pPr>
            <a:r>
              <a:rPr lang="en-US" b="1" dirty="0"/>
              <a:t>Size and Computation:</a:t>
            </a:r>
            <a:endParaRPr lang="en-US" dirty="0"/>
          </a:p>
          <a:p>
            <a:pPr marL="1143000" lvl="2" indent="-228600">
              <a:buFont typeface="Arial" panose="020B0604020202020204" pitchFamily="34" charset="0"/>
              <a:buChar char="•"/>
            </a:pPr>
            <a:r>
              <a:rPr lang="en-US" dirty="0"/>
              <a:t>BERT requires significant computational resources, especially in its larger versions (e.g., BERT-large).</a:t>
            </a:r>
          </a:p>
          <a:p>
            <a:pPr lvl="2"/>
            <a:endParaRPr lang="en-US" dirty="0"/>
          </a:p>
          <a:p>
            <a:pPr marL="742950" lvl="1" indent="-285750">
              <a:buFont typeface="Arial" panose="020B0604020202020204" pitchFamily="34" charset="0"/>
              <a:buChar char="•"/>
            </a:pPr>
            <a:r>
              <a:rPr lang="en-US" b="1" dirty="0"/>
              <a:t>Bias in Pretraining:</a:t>
            </a:r>
            <a:endParaRPr lang="en-US" dirty="0"/>
          </a:p>
          <a:p>
            <a:pPr marL="1143000" lvl="2" indent="-228600">
              <a:buFont typeface="Arial" panose="020B0604020202020204" pitchFamily="34" charset="0"/>
              <a:buChar char="•"/>
            </a:pPr>
            <a:r>
              <a:rPr lang="en-US" dirty="0"/>
              <a:t>Pretraining on large corpora can result in biases being learned and propagated by the model.</a:t>
            </a:r>
          </a:p>
          <a:p>
            <a:pPr lvl="2"/>
            <a:endParaRPr lang="en-US" dirty="0"/>
          </a:p>
          <a:p>
            <a:pPr>
              <a:buFont typeface="Arial" panose="020B0604020202020204" pitchFamily="34" charset="0"/>
              <a:buChar char="•"/>
            </a:pPr>
            <a:r>
              <a:rPr lang="en-US" b="1" dirty="0"/>
              <a:t>Fine-tuning Challenges:</a:t>
            </a:r>
            <a:endParaRPr lang="en-US" dirty="0"/>
          </a:p>
          <a:p>
            <a:pPr marL="742950" lvl="1" indent="-285750">
              <a:buFont typeface="Arial" panose="020B0604020202020204" pitchFamily="34" charset="0"/>
              <a:buChar char="•"/>
            </a:pPr>
            <a:r>
              <a:rPr lang="en-US" dirty="0"/>
              <a:t>Fine-tuning requires large amounts of labeled data for specific tasks, which may not always be available.</a:t>
            </a: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23267657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1439</TotalTime>
  <Words>2870</Words>
  <Application>Microsoft Office PowerPoint</Application>
  <PresentationFormat>Widescreen</PresentationFormat>
  <Paragraphs>372</Paragraphs>
  <Slides>48</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Calibri Light</vt:lpstr>
      <vt:lpstr>Consolas</vt:lpstr>
      <vt:lpstr>Helvetica</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Self-Attention: BERT's Core Mechanism</vt:lpstr>
      <vt:lpstr> Feed Forward network</vt:lpstr>
      <vt:lpstr>PowerPoint Presentation</vt:lpstr>
      <vt:lpstr>PowerPoint Presentation</vt:lpstr>
      <vt:lpstr>Two Phase Learning System</vt:lpstr>
      <vt:lpstr>PowerPoint Presentation</vt:lpstr>
      <vt:lpstr>Pretraining</vt:lpstr>
      <vt:lpstr>Pretraining</vt:lpstr>
      <vt:lpstr>PowerPoint Presentation</vt:lpstr>
      <vt:lpstr>PowerPoint Presentation</vt:lpstr>
      <vt:lpstr>Masked Language Modelling (MLM)</vt:lpstr>
      <vt:lpstr>PowerPoint Presentation</vt:lpstr>
      <vt:lpstr>PowerPoint Presentation</vt:lpstr>
      <vt:lpstr>PowerPoint Presentation</vt:lpstr>
      <vt:lpstr>Spam email detection(Pretraining)</vt:lpstr>
      <vt:lpstr>Learned Weights</vt:lpstr>
      <vt:lpstr>Fine-tuning — adapting BERT to specific tasks</vt:lpstr>
      <vt:lpstr>PowerPoint Presentation</vt:lpstr>
      <vt:lpstr>Fine-tuning — adapting BERT to specific tasks</vt:lpstr>
      <vt:lpstr>Fine-tuning: teaching BERT what spam means</vt:lpstr>
      <vt:lpstr>PowerPoint Presentation</vt:lpstr>
      <vt:lpstr>FineTuning BERT</vt:lpstr>
      <vt:lpstr>Why does pretraining help fine-tuning so much?</vt:lpstr>
      <vt:lpstr>PowerPoint Presentation</vt:lpstr>
      <vt:lpstr>Complete BERT Cycle</vt:lpstr>
      <vt:lpstr>Summary</vt:lpstr>
      <vt:lpstr>PIPELINE Step1:Tokenization</vt:lpstr>
      <vt:lpstr>PIPELINE Step2:Embedding</vt:lpstr>
      <vt:lpstr>PIPELINE Step3:BERT Encoding</vt:lpstr>
      <vt:lpstr>PIPELINE Step4:Classification Head</vt:lpstr>
      <vt:lpstr>PIPELINE Step5: Softmax and Loss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Ruchika Bhargava</dc:creator>
  <cp:lastModifiedBy>Ruchika Bhargava</cp:lastModifiedBy>
  <cp:revision>11</cp:revision>
  <dcterms:created xsi:type="dcterms:W3CDTF">2026-06-08T18:08:37Z</dcterms:created>
  <dcterms:modified xsi:type="dcterms:W3CDTF">2026-06-26T06:05:15Z</dcterms:modified>
</cp:coreProperties>
</file>